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9485"/>
    <a:srgbClr val="79397B"/>
    <a:srgbClr val="222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Over Population</c:v>
                </c:pt>
                <c:pt idx="1">
                  <c:v>Rapid urbanization</c:v>
                </c:pt>
                <c:pt idx="2">
                  <c:v>Migrated urban dwellers</c:v>
                </c:pt>
                <c:pt idx="3">
                  <c:v>Sewage</c:v>
                </c:pt>
                <c:pt idx="4">
                  <c:v>Waste dumping</c:v>
                </c:pt>
                <c:pt idx="5">
                  <c:v>Oil pollution</c:v>
                </c:pt>
                <c:pt idx="6">
                  <c:v>River dumping </c:v>
                </c:pt>
                <c:pt idx="7">
                  <c:v>Marine dumping 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15.4</c:v>
                </c:pt>
                <c:pt idx="1">
                  <c:v>10.8</c:v>
                </c:pt>
                <c:pt idx="2">
                  <c:v>1.5</c:v>
                </c:pt>
                <c:pt idx="3">
                  <c:v>23.6</c:v>
                </c:pt>
                <c:pt idx="4">
                  <c:v>37.9</c:v>
                </c:pt>
                <c:pt idx="5">
                  <c:v>0.5</c:v>
                </c:pt>
                <c:pt idx="6">
                  <c:v>8.6999999999999993</c:v>
                </c:pt>
                <c:pt idx="7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F7-4EC0-A913-76F85132B4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23446079"/>
        <c:axId val="79951183"/>
      </c:lineChart>
      <c:catAx>
        <c:axId val="32344607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cap="all" baseline="0">
                    <a:solidFill>
                      <a:schemeClr val="bg1">
                        <a:lumMod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dirty="0">
                    <a:solidFill>
                      <a:schemeClr val="bg1">
                        <a:lumMod val="95000"/>
                      </a:schemeClr>
                    </a:solidFill>
                  </a:rPr>
                  <a:t>SOURCES OF WATER POLLUTION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1" i="0" u="none" strike="noStrike" kern="1200" cap="all" baseline="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951183"/>
        <c:crosses val="autoZero"/>
        <c:auto val="1"/>
        <c:lblAlgn val="ctr"/>
        <c:lblOffset val="100"/>
        <c:noMultiLvlLbl val="0"/>
      </c:catAx>
      <c:valAx>
        <c:axId val="79951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cap="all" baseline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sz="1400" dirty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PERCENTAGE</a:t>
                </a:r>
                <a:r>
                  <a:rPr lang="en-US" sz="1400" baseline="0" dirty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WATER POLLUTIUN</a:t>
                </a:r>
                <a:endParaRPr lang="en-US" sz="1400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5.8148594536260381E-3"/>
              <c:y val="0.1113205303106005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cap="all" baseline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34460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B1384-147D-4D37-B1D8-BB5A1A716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C6815-1319-486B-A1EA-51B472C76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B65A0-4C17-4F8F-98FD-1B122B2D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E795F-A4D0-4C6E-842D-A80C90742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8109A-B5EE-4700-AA56-64FF2BD3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6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8902-FF97-4ADA-8CEC-DD576E041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5CEE2-A1AF-40A3-887F-ECE985B40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44A55-E0DA-45E1-8D35-E34FBC018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F7B1B-0DB6-4317-B703-85EDAA916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46288-6046-4148-A073-B75909757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06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54E65-A783-4457-9794-37BBA2D3F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854A3-49A0-4C1C-9662-E2E68B511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29F94-C9DA-4D18-A84B-CE94955AE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082EA-2832-4228-9F41-608856454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25E80-FFD8-4AD6-9CB8-7B0F247D9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884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6A9BE-E5EF-40CF-8898-E3354842B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B32A4-C4DC-41CB-972E-A9B703D11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AC096-6629-4BD4-AC2A-E8FA00CB9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C368B-108C-443A-80F9-144C6EA90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19D14-87B2-4216-9021-4A181B5F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BA49F-9520-49FC-A308-0A12945D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01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5CEEB-26C6-4376-9C39-FBD4EECC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EF83C-5150-4B5F-94BA-DC602EAD9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72EFF-23D1-447A-B4DF-B8759096C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47DB2E-1355-449F-B602-C03522A99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A9E7C9-C5A1-4361-B8BF-29F7306FC8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605261-BC0A-4E52-8E68-4C54E76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5CD79-74CA-4C1B-9F83-83CE078A1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213721-1187-4BD6-B386-AFA17B619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58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D3503-DD88-4F62-B5BB-684924B2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B59B6B-7368-48A1-9B11-F96D0526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CE5714-6CD9-4B0E-90BD-CEAC1BF1B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B4219-B372-4869-82F1-0BF94090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96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3E649B-A012-49B7-8505-814D5DC5F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424E02-4D32-4EC4-BF2C-019370E49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45151-C21E-4997-9DC6-4B80D87B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96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80346-1033-4D09-B0FD-B51F0B8F6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BF462-EA00-42C7-9B34-2DE932D3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CF4E32-05AE-4B06-BDA2-F129F7816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16368-2618-4ABE-9FE3-7721E640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B0EB0-F246-4392-822C-B4195994C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A6312-4009-46B7-822A-CF4BCD23A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11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B78E0-25AF-49BF-8E6B-1313DE77D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5177E4-E2EB-44BD-ADBF-A9FD2E9E3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8307B-FC6D-4B0D-831C-FFE89FB4A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34D26-A4E6-4E2B-8EB1-C27B9F335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252E5-0128-478C-B011-C57730F61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DFF1D-0A8A-493A-8010-9DC549D0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08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A625C-18E8-49B7-87CA-649E77D85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A2E8B-D477-46DE-8B69-6AD381D9B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14DB5-1BBD-41F0-A191-0F13294BE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44C7E-5393-465A-BCBA-712A22A9F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B475F-C08E-4704-B9F7-B8BDCA3E3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4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89E925-10F0-494C-9B2F-D545539FE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7F669-60DB-452D-B278-188923155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5823C-0801-4474-A44D-32CBFE12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8E200-9E8A-406D-A8EC-98F0B372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7ABE9-1B7B-4D74-B7B0-694C32CA3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55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D3B9EC-B3B8-4C6F-8588-86C4C70D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70C9E-D903-4A38-B445-48D375968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882A1-5290-4EE1-84CC-59917674DD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1AAE2-81D2-4651-BF08-9AEE14EB0B7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98002-AFBE-4AFE-9639-80556C889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0C3D2-C55A-4296-92A1-6764091C7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61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D6830B1-5C79-4176-98C6-A7B79AFF2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"/>
            <a:ext cx="10280323" cy="68489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7F2FF39-0AD5-40BC-ADDC-8F9A60270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99" y="3419919"/>
            <a:ext cx="5715001" cy="3429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77FE272-A762-4FE8-BADB-5744705F9E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99" y="0"/>
            <a:ext cx="5715001" cy="3429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425A2CC-30D8-4F8D-A761-8A28D5DD088D}"/>
              </a:ext>
            </a:extLst>
          </p:cNvPr>
          <p:cNvSpPr/>
          <p:nvPr/>
        </p:nvSpPr>
        <p:spPr>
          <a:xfrm>
            <a:off x="1655617" y="2967335"/>
            <a:ext cx="799407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WATER POLLUTION</a:t>
            </a:r>
          </a:p>
        </p:txBody>
      </p:sp>
    </p:spTree>
    <p:extLst>
      <p:ext uri="{BB962C8B-B14F-4D97-AF65-F5344CB8AC3E}">
        <p14:creationId xmlns:p14="http://schemas.microsoft.com/office/powerpoint/2010/main" val="84533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3000"/>
              </a:schemeClr>
            </a:gs>
            <a:gs pos="84000">
              <a:schemeClr val="accent1">
                <a:lumMod val="45000"/>
                <a:lumOff val="55000"/>
              </a:schemeClr>
            </a:gs>
            <a:gs pos="24000">
              <a:schemeClr val="accent1">
                <a:lumMod val="45000"/>
                <a:lumOff val="55000"/>
              </a:schemeClr>
            </a:gs>
            <a:gs pos="100000">
              <a:schemeClr val="bg1">
                <a:lumMod val="65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6CD888-C2CB-4484-993E-AD65A4635277}"/>
              </a:ext>
            </a:extLst>
          </p:cNvPr>
          <p:cNvSpPr txBox="1"/>
          <p:nvPr/>
        </p:nvSpPr>
        <p:spPr>
          <a:xfrm>
            <a:off x="512619" y="1437572"/>
            <a:ext cx="5860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sources of water pollution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7BDEC4-AB2C-4BB8-B03D-D399E207FD90}"/>
              </a:ext>
            </a:extLst>
          </p:cNvPr>
          <p:cNvSpPr txBox="1"/>
          <p:nvPr/>
        </p:nvSpPr>
        <p:spPr>
          <a:xfrm>
            <a:off x="803562" y="1942051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F93D18-81D0-4222-8921-30C27E44FE65}"/>
              </a:ext>
            </a:extLst>
          </p:cNvPr>
          <p:cNvSpPr txBox="1"/>
          <p:nvPr/>
        </p:nvSpPr>
        <p:spPr>
          <a:xfrm>
            <a:off x="803562" y="2009136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9E8D37-EC83-40D9-BCA1-26B11A11AE50}"/>
              </a:ext>
            </a:extLst>
          </p:cNvPr>
          <p:cNvSpPr txBox="1"/>
          <p:nvPr/>
        </p:nvSpPr>
        <p:spPr>
          <a:xfrm>
            <a:off x="803562" y="2076221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7909FA-138F-4588-9142-307BAFD95508}"/>
              </a:ext>
            </a:extLst>
          </p:cNvPr>
          <p:cNvSpPr txBox="1"/>
          <p:nvPr/>
        </p:nvSpPr>
        <p:spPr>
          <a:xfrm>
            <a:off x="706580" y="2045279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waste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22EEFC-219C-46FB-8603-8DDE2FD24E0C}"/>
              </a:ext>
            </a:extLst>
          </p:cNvPr>
          <p:cNvSpPr txBox="1"/>
          <p:nvPr/>
        </p:nvSpPr>
        <p:spPr>
          <a:xfrm>
            <a:off x="706580" y="2557378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Domestic waste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7094C6-D023-4A2D-88A8-280E65A3C9B0}"/>
              </a:ext>
            </a:extLst>
          </p:cNvPr>
          <p:cNvSpPr txBox="1"/>
          <p:nvPr/>
        </p:nvSpPr>
        <p:spPr>
          <a:xfrm>
            <a:off x="706580" y="3069477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runoff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C9F3A6-1BC8-461A-A0BC-A0C0B6B61A1E}"/>
              </a:ext>
            </a:extLst>
          </p:cNvPr>
          <p:cNvSpPr txBox="1"/>
          <p:nvPr/>
        </p:nvSpPr>
        <p:spPr>
          <a:xfrm>
            <a:off x="706580" y="3581576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Arsenic contamination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7BA9C9-1C83-492C-80A6-C9E3AEE560EA}"/>
              </a:ext>
            </a:extLst>
          </p:cNvPr>
          <p:cNvSpPr txBox="1"/>
          <p:nvPr/>
        </p:nvSpPr>
        <p:spPr>
          <a:xfrm>
            <a:off x="706580" y="4093674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 impacts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816882-240C-4F93-ADA7-AAFB6C416C43}"/>
              </a:ext>
            </a:extLst>
          </p:cNvPr>
          <p:cNvSpPr/>
          <p:nvPr/>
        </p:nvSpPr>
        <p:spPr>
          <a:xfrm>
            <a:off x="2431989" y="224135"/>
            <a:ext cx="6552178" cy="92333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rgbClr val="222A35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1003">
            <a:schemeClr val="dk2"/>
          </a:fillRef>
          <a:effectRef idx="0">
            <a:scrgbClr r="0" g="0" b="0"/>
          </a:effectRef>
          <a:fontRef idx="major"/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cap="none" spc="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WATER POLLUTION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F3F9E7C6-B398-47B6-991F-F19F5B5B42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1721709"/>
              </p:ext>
            </p:extLst>
          </p:nvPr>
        </p:nvGraphicFramePr>
        <p:xfrm>
          <a:off x="4627416" y="2311383"/>
          <a:ext cx="7204368" cy="4168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DAB3DFD9-21B9-4411-A596-D431FAC5C04C}"/>
              </a:ext>
            </a:extLst>
          </p:cNvPr>
          <p:cNvSpPr txBox="1"/>
          <p:nvPr/>
        </p:nvSpPr>
        <p:spPr>
          <a:xfrm>
            <a:off x="706580" y="4605773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Sewage Discharge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84D7E5-4D1D-4CE1-B4C8-8ED45911AE86}"/>
              </a:ext>
            </a:extLst>
          </p:cNvPr>
          <p:cNvSpPr txBox="1"/>
          <p:nvPr/>
        </p:nvSpPr>
        <p:spPr>
          <a:xfrm>
            <a:off x="706580" y="5117872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Dumping (Solid Waste)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980599-DC62-483B-A8CF-0BF297E84444}"/>
              </a:ext>
            </a:extLst>
          </p:cNvPr>
          <p:cNvSpPr txBox="1"/>
          <p:nvPr/>
        </p:nvSpPr>
        <p:spPr>
          <a:xfrm>
            <a:off x="706580" y="5629971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River Dumping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571F81-4593-47B4-99E2-F6FFB793CA1D}"/>
              </a:ext>
            </a:extLst>
          </p:cNvPr>
          <p:cNvSpPr txBox="1"/>
          <p:nvPr/>
        </p:nvSpPr>
        <p:spPr>
          <a:xfrm>
            <a:off x="706580" y="6142067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Oil Pollution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79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3214">
        <p:fade/>
      </p:transition>
    </mc:Choice>
    <mc:Fallback xmlns="">
      <p:transition spd="med" advTm="1321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/>
      <p:bldP spid="13" grpId="0"/>
      <p:bldP spid="14" grpId="0"/>
      <p:bldP spid="15" grpId="0"/>
      <p:bldP spid="4" grpId="0" animBg="1"/>
      <p:bldGraphic spid="21" grpId="0">
        <p:bldAsOne/>
      </p:bldGraphic>
      <p:bldP spid="22" grpId="0"/>
      <p:bldP spid="23" grpId="0"/>
      <p:bldP spid="24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DD0022-5EEB-442C-A83C-79777C2A3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145" y="1848705"/>
            <a:ext cx="8198428" cy="4041641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A6DCE0F9-0F2E-4BC4-9F7D-422FC0BB2E27}"/>
              </a:ext>
            </a:extLst>
          </p:cNvPr>
          <p:cNvSpPr/>
          <p:nvPr/>
        </p:nvSpPr>
        <p:spPr>
          <a:xfrm>
            <a:off x="1758462" y="1561514"/>
            <a:ext cx="2008056" cy="771887"/>
          </a:xfrm>
          <a:prstGeom prst="wedgeRoundRectCallout">
            <a:avLst>
              <a:gd name="adj1" fmla="val 48407"/>
              <a:gd name="adj2" fmla="val 109769"/>
              <a:gd name="adj3" fmla="val 16667"/>
            </a:avLst>
          </a:prstGeom>
          <a:solidFill>
            <a:schemeClr val="bg1"/>
          </a:solidFill>
          <a:ln w="28575" cap="flat">
            <a:solidFill>
              <a:schemeClr val="tx1">
                <a:lumMod val="95000"/>
                <a:lumOff val="5000"/>
              </a:schemeClr>
            </a:solidFill>
            <a:prstDash val="sys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60,000 m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 toxic waste everyday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764746EB-B4AD-4D15-8E06-18A7D65A71D5}"/>
              </a:ext>
            </a:extLst>
          </p:cNvPr>
          <p:cNvSpPr/>
          <p:nvPr/>
        </p:nvSpPr>
        <p:spPr>
          <a:xfrm>
            <a:off x="1491173" y="4138656"/>
            <a:ext cx="2248168" cy="672495"/>
          </a:xfrm>
          <a:prstGeom prst="wedgeRoundRectCallout">
            <a:avLst>
              <a:gd name="adj1" fmla="val 70669"/>
              <a:gd name="adj2" fmla="val 419"/>
              <a:gd name="adj3" fmla="val 16667"/>
            </a:avLst>
          </a:prstGeom>
          <a:solidFill>
            <a:schemeClr val="bg1"/>
          </a:solidFill>
          <a:ln w="28575" cap="flat">
            <a:solidFill>
              <a:schemeClr val="tx1">
                <a:lumMod val="95000"/>
                <a:lumOff val="5000"/>
              </a:schemeClr>
            </a:solidFill>
            <a:prstDash val="sys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7.7 million L liquid waste from tanneries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5FE3036C-523B-41EF-B602-6B480D72FFB8}"/>
              </a:ext>
            </a:extLst>
          </p:cNvPr>
          <p:cNvSpPr/>
          <p:nvPr/>
        </p:nvSpPr>
        <p:spPr>
          <a:xfrm>
            <a:off x="3020131" y="5485866"/>
            <a:ext cx="5178456" cy="808959"/>
          </a:xfrm>
          <a:prstGeom prst="wedgeRoundRectCallout">
            <a:avLst>
              <a:gd name="adj1" fmla="val 1465"/>
              <a:gd name="adj2" fmla="val -101865"/>
              <a:gd name="adj3" fmla="val 16667"/>
            </a:avLst>
          </a:prstGeom>
          <a:solidFill>
            <a:schemeClr val="bg1"/>
          </a:solidFill>
          <a:ln w="28575" cap="flat">
            <a:solidFill>
              <a:schemeClr val="tx1">
                <a:lumMod val="95000"/>
                <a:lumOff val="5000"/>
              </a:schemeClr>
            </a:solidFill>
            <a:prstDash val="sys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Textile industries annually discharge as much as 56 million tons of waste and .5 million tons of sludge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9190886C-C375-4BA6-AD22-E37832F4898F}"/>
              </a:ext>
            </a:extLst>
          </p:cNvPr>
          <p:cNvSpPr/>
          <p:nvPr/>
        </p:nvSpPr>
        <p:spPr>
          <a:xfrm>
            <a:off x="8452661" y="4432700"/>
            <a:ext cx="2002554" cy="1226228"/>
          </a:xfrm>
          <a:prstGeom prst="wedgeRoundRectCallout">
            <a:avLst>
              <a:gd name="adj1" fmla="val -66367"/>
              <a:gd name="adj2" fmla="val -49281"/>
              <a:gd name="adj3" fmla="val 16667"/>
            </a:avLst>
          </a:prstGeom>
          <a:solidFill>
            <a:schemeClr val="bg1"/>
          </a:solidFill>
          <a:ln w="28575" cap="flat">
            <a:solidFill>
              <a:schemeClr val="tx1">
                <a:lumMod val="95000"/>
                <a:lumOff val="5000"/>
              </a:schemeClr>
            </a:solidFill>
            <a:prstDash val="sys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88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88 million tons of solid waste from waste tanneries</a:t>
            </a:r>
            <a:endParaRPr lang="en-US" dirty="0"/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797532DC-B4CF-4C5D-8BD7-4045E97BCAB4}"/>
              </a:ext>
            </a:extLst>
          </p:cNvPr>
          <p:cNvSpPr/>
          <p:nvPr/>
        </p:nvSpPr>
        <p:spPr>
          <a:xfrm>
            <a:off x="8163325" y="1444226"/>
            <a:ext cx="1830078" cy="770970"/>
          </a:xfrm>
          <a:prstGeom prst="wedgeRoundRectCallout">
            <a:avLst>
              <a:gd name="adj1" fmla="val -57833"/>
              <a:gd name="adj2" fmla="val 189992"/>
              <a:gd name="adj3" fmla="val 16667"/>
            </a:avLst>
          </a:prstGeom>
          <a:solidFill>
            <a:schemeClr val="bg1"/>
          </a:solidFill>
          <a:ln w="28575" cap="flat">
            <a:solidFill>
              <a:schemeClr val="tx1">
                <a:lumMod val="95000"/>
                <a:lumOff val="5000"/>
              </a:schemeClr>
            </a:solidFill>
            <a:prstDash val="sys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7000 tons everyday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44E234-689F-49CB-9CB7-D3FEDC183A89}"/>
              </a:ext>
            </a:extLst>
          </p:cNvPr>
          <p:cNvSpPr txBox="1"/>
          <p:nvPr/>
        </p:nvSpPr>
        <p:spPr>
          <a:xfrm>
            <a:off x="2443538" y="197222"/>
            <a:ext cx="7010400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POLLUTION</a:t>
            </a:r>
          </a:p>
        </p:txBody>
      </p:sp>
    </p:spTree>
    <p:extLst>
      <p:ext uri="{BB962C8B-B14F-4D97-AF65-F5344CB8AC3E}">
        <p14:creationId xmlns:p14="http://schemas.microsoft.com/office/powerpoint/2010/main" val="306228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3000"/>
              </a:schemeClr>
            </a:gs>
            <a:gs pos="84000">
              <a:schemeClr val="accent1">
                <a:lumMod val="45000"/>
                <a:lumOff val="55000"/>
              </a:schemeClr>
            </a:gs>
            <a:gs pos="24000">
              <a:schemeClr val="accent1">
                <a:lumMod val="45000"/>
                <a:lumOff val="55000"/>
              </a:schemeClr>
            </a:gs>
            <a:gs pos="100000">
              <a:schemeClr val="bg1">
                <a:lumMod val="65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635C1B-336E-4584-BA4C-F8811A39605F}"/>
              </a:ext>
            </a:extLst>
          </p:cNvPr>
          <p:cNvSpPr txBox="1"/>
          <p:nvPr/>
        </p:nvSpPr>
        <p:spPr>
          <a:xfrm>
            <a:off x="3034147" y="297872"/>
            <a:ext cx="5694218" cy="92333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5400" dirty="0"/>
              <a:t>WATER POLLUTION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BFD5F-3F1C-4853-B0CE-BF586174DEC9}"/>
              </a:ext>
            </a:extLst>
          </p:cNvPr>
          <p:cNvSpPr txBox="1"/>
          <p:nvPr/>
        </p:nvSpPr>
        <p:spPr>
          <a:xfrm>
            <a:off x="734291" y="1884218"/>
            <a:ext cx="4461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Consequences of water pollution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D938C-D837-44AB-8623-8CAB58C6BAF1}"/>
              </a:ext>
            </a:extLst>
          </p:cNvPr>
          <p:cNvSpPr txBox="1"/>
          <p:nvPr/>
        </p:nvSpPr>
        <p:spPr>
          <a:xfrm>
            <a:off x="1011382" y="2355272"/>
            <a:ext cx="446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Serious health risks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932E5-4ED6-4E37-82D6-F8F4C4522CD6}"/>
              </a:ext>
            </a:extLst>
          </p:cNvPr>
          <p:cNvSpPr txBox="1"/>
          <p:nvPr/>
        </p:nvSpPr>
        <p:spPr>
          <a:xfrm>
            <a:off x="1011382" y="2790920"/>
            <a:ext cx="446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 rivers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655504-AD22-485E-BAF0-1E2AB82203E0}"/>
              </a:ext>
            </a:extLst>
          </p:cNvPr>
          <p:cNvSpPr txBox="1"/>
          <p:nvPr/>
        </p:nvSpPr>
        <p:spPr>
          <a:xfrm>
            <a:off x="1011382" y="3226568"/>
            <a:ext cx="446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biodiversity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0D22D9-B604-4BC1-A32E-0F148A29521E}"/>
              </a:ext>
            </a:extLst>
          </p:cNvPr>
          <p:cNvSpPr txBox="1"/>
          <p:nvPr/>
        </p:nvSpPr>
        <p:spPr>
          <a:xfrm>
            <a:off x="1011382" y="3662216"/>
            <a:ext cx="446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Unsafe drinking water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D760A2-0ACF-44AF-A1B1-18BDE0B5062D}"/>
              </a:ext>
            </a:extLst>
          </p:cNvPr>
          <p:cNvSpPr txBox="1"/>
          <p:nvPr/>
        </p:nvSpPr>
        <p:spPr>
          <a:xfrm>
            <a:off x="1011382" y="4097864"/>
            <a:ext cx="446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Groundwater depletion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44DB27-1EB8-4FF7-AD29-12272C606B59}"/>
              </a:ext>
            </a:extLst>
          </p:cNvPr>
          <p:cNvSpPr txBox="1"/>
          <p:nvPr/>
        </p:nvSpPr>
        <p:spPr>
          <a:xfrm>
            <a:off x="1011382" y="4533512"/>
            <a:ext cx="446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damage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6457FE-F6E5-48E8-9B76-466F7D56C567}"/>
              </a:ext>
            </a:extLst>
          </p:cNvPr>
          <p:cNvSpPr txBox="1"/>
          <p:nvPr/>
        </p:nvSpPr>
        <p:spPr>
          <a:xfrm>
            <a:off x="1011382" y="4969160"/>
            <a:ext cx="446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poor living conditions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C30BE2-9B4B-4CD6-AA60-7BAD7D3D82B2}"/>
              </a:ext>
            </a:extLst>
          </p:cNvPr>
          <p:cNvSpPr txBox="1"/>
          <p:nvPr/>
        </p:nvSpPr>
        <p:spPr>
          <a:xfrm>
            <a:off x="1011382" y="5404808"/>
            <a:ext cx="446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 of waterborne diseases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81B76-E7D0-43E8-B2FD-C6B6FC72735D}"/>
              </a:ext>
            </a:extLst>
          </p:cNvPr>
          <p:cNvSpPr txBox="1"/>
          <p:nvPr/>
        </p:nvSpPr>
        <p:spPr>
          <a:xfrm>
            <a:off x="1011382" y="5840456"/>
            <a:ext cx="446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 to agriculture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DB693F-4825-4C86-A6DF-57190DEC6C29}"/>
              </a:ext>
            </a:extLst>
          </p:cNvPr>
          <p:cNvSpPr txBox="1"/>
          <p:nvPr/>
        </p:nvSpPr>
        <p:spPr>
          <a:xfrm>
            <a:off x="1011382" y="6276104"/>
            <a:ext cx="446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to future generations</a:t>
            </a:r>
          </a:p>
        </p:txBody>
      </p:sp>
    </p:spTree>
    <p:extLst>
      <p:ext uri="{BB962C8B-B14F-4D97-AF65-F5344CB8AC3E}">
        <p14:creationId xmlns:p14="http://schemas.microsoft.com/office/powerpoint/2010/main" val="419323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0.6|1.8|0.9|1.2|0.4|0.2|0.3|0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695</TotalTime>
  <Words>123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MAJOR  ENVIRONMENTAL PROBLEMS IN DHAKA CITY</dc:title>
  <dc:creator>Mohammed Bin Asif</dc:creator>
  <cp:lastModifiedBy>MD. HASIBUL HASAN HASIB</cp:lastModifiedBy>
  <cp:revision>59</cp:revision>
  <dcterms:created xsi:type="dcterms:W3CDTF">2025-11-23T16:17:39Z</dcterms:created>
  <dcterms:modified xsi:type="dcterms:W3CDTF">2025-11-26T13:43:46Z</dcterms:modified>
</cp:coreProperties>
</file>