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Century Gothic"/>
      <p:regular r:id="rId30"/>
      <p:bold r:id="rId31"/>
      <p:italic r:id="rId32"/>
      <p:boldItalic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hROK90dZYyutVF+w96AWOAcio2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40E747-C94E-44D6-945E-66A1B8F2A0AE}">
  <a:tblStyle styleId="{0C40E747-C94E-44D6-945E-66A1B8F2A0AE}"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2E7E6"/>
          </a:solidFill>
        </a:fill>
      </a:tcStyle>
    </a:wholeTbl>
    <a:band1H>
      <a:tcTxStyle/>
      <a:tcStyle>
        <a:fill>
          <a:solidFill>
            <a:srgbClr val="E3CACA"/>
          </a:solidFill>
        </a:fill>
      </a:tcStyle>
    </a:band1H>
    <a:band2H>
      <a:tcTxStyle/>
    </a:band2H>
    <a:band1V>
      <a:tcTxStyle/>
      <a:tcStyle>
        <a:fill>
          <a:solidFill>
            <a:srgbClr val="E3CA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bold.fntdata"/><Relationship Id="rId30" Type="http://schemas.openxmlformats.org/officeDocument/2006/relationships/font" Target="fonts/CenturyGothic-regular.fntdata"/><Relationship Id="rId11" Type="http://schemas.openxmlformats.org/officeDocument/2006/relationships/slide" Target="slides/slide5.xml"/><Relationship Id="rId33" Type="http://schemas.openxmlformats.org/officeDocument/2006/relationships/font" Target="fonts/CenturyGothic-boldItalic.fntdata"/><Relationship Id="rId10" Type="http://schemas.openxmlformats.org/officeDocument/2006/relationships/slide" Target="slides/slide4.xml"/><Relationship Id="rId32" Type="http://schemas.openxmlformats.org/officeDocument/2006/relationships/font" Target="fonts/CenturyGothic-italic.fntdata"/><Relationship Id="rId13" Type="http://schemas.openxmlformats.org/officeDocument/2006/relationships/slide" Target="slides/slide7.xml"/><Relationship Id="rId35" Type="http://schemas.openxmlformats.org/officeDocument/2006/relationships/font" Target="fonts/OpenSans-bold.fntdata"/><Relationship Id="rId12" Type="http://schemas.openxmlformats.org/officeDocument/2006/relationships/slide" Target="slides/slide6.xml"/><Relationship Id="rId34" Type="http://schemas.openxmlformats.org/officeDocument/2006/relationships/font" Target="fonts/OpenSans-regular.fntdata"/><Relationship Id="rId15" Type="http://schemas.openxmlformats.org/officeDocument/2006/relationships/slide" Target="slides/slide9.xml"/><Relationship Id="rId37" Type="http://schemas.openxmlformats.org/officeDocument/2006/relationships/font" Target="fonts/OpenSans-boldItalic.fntdata"/><Relationship Id="rId14" Type="http://schemas.openxmlformats.org/officeDocument/2006/relationships/slide" Target="slides/slide8.xml"/><Relationship Id="rId36" Type="http://schemas.openxmlformats.org/officeDocument/2006/relationships/font" Target="fonts/Open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5"/>
          <p:cNvSpPr txBox="1"/>
          <p:nvPr>
            <p:ph type="ctrTitle"/>
          </p:nvPr>
        </p:nvSpPr>
        <p:spPr>
          <a:xfrm>
            <a:off x="866442" y="1447801"/>
            <a:ext cx="662096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5"/>
          <p:cNvSpPr txBox="1"/>
          <p:nvPr>
            <p:ph idx="1" type="subTitle"/>
          </p:nvPr>
        </p:nvSpPr>
        <p:spPr>
          <a:xfrm>
            <a:off x="866442" y="4777380"/>
            <a:ext cx="662096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4" name="Google Shape;24;p2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6"/>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6"/>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0" name="Google Shape;30;p2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7"/>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 type="body"/>
          </p:nvPr>
        </p:nvSpPr>
        <p:spPr>
          <a:xfrm>
            <a:off x="827700" y="2060576"/>
            <a:ext cx="3298113"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6" name="Google Shape;36;p27"/>
          <p:cNvSpPr txBox="1"/>
          <p:nvPr>
            <p:ph idx="2" type="body"/>
          </p:nvPr>
        </p:nvSpPr>
        <p:spPr>
          <a:xfrm>
            <a:off x="4241975" y="2056093"/>
            <a:ext cx="3298115"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7" name="Google Shape;37;p2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28"/>
          <p:cNvSpPr txBox="1"/>
          <p:nvPr>
            <p:ph type="title"/>
          </p:nvPr>
        </p:nvSpPr>
        <p:spPr>
          <a:xfrm>
            <a:off x="866443" y="2861734"/>
            <a:ext cx="662096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8"/>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43" name="Google Shape;43;p2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9"/>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 type="body"/>
          </p:nvPr>
        </p:nvSpPr>
        <p:spPr>
          <a:xfrm>
            <a:off x="827700" y="1905000"/>
            <a:ext cx="32981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9" name="Google Shape;49;p29"/>
          <p:cNvSpPr txBox="1"/>
          <p:nvPr>
            <p:ph idx="2" type="body"/>
          </p:nvPr>
        </p:nvSpPr>
        <p:spPr>
          <a:xfrm>
            <a:off x="827700"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0" name="Google Shape;50;p29"/>
          <p:cNvSpPr txBox="1"/>
          <p:nvPr>
            <p:ph idx="3" type="body"/>
          </p:nvPr>
        </p:nvSpPr>
        <p:spPr>
          <a:xfrm>
            <a:off x="4241976" y="1905000"/>
            <a:ext cx="3298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51" name="Google Shape;51;p29"/>
          <p:cNvSpPr txBox="1"/>
          <p:nvPr>
            <p:ph idx="4" type="body"/>
          </p:nvPr>
        </p:nvSpPr>
        <p:spPr>
          <a:xfrm>
            <a:off x="4241976" y="2514600"/>
            <a:ext cx="3298113"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52" name="Google Shape;52;p2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2"/>
          <p:cNvSpPr txBox="1"/>
          <p:nvPr>
            <p:ph type="title"/>
          </p:nvPr>
        </p:nvSpPr>
        <p:spPr>
          <a:xfrm>
            <a:off x="866441" y="1447800"/>
            <a:ext cx="2551462"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 type="body"/>
          </p:nvPr>
        </p:nvSpPr>
        <p:spPr>
          <a:xfrm>
            <a:off x="3589397" y="1447800"/>
            <a:ext cx="3898013"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7" name="Google Shape;67;p32"/>
          <p:cNvSpPr txBox="1"/>
          <p:nvPr>
            <p:ph idx="2" type="body"/>
          </p:nvPr>
        </p:nvSpPr>
        <p:spPr>
          <a:xfrm>
            <a:off x="866441" y="3129281"/>
            <a:ext cx="2551462"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8" name="Google Shape;68;p32"/>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2"/>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3"/>
          <p:cNvSpPr txBox="1"/>
          <p:nvPr>
            <p:ph type="title"/>
          </p:nvPr>
        </p:nvSpPr>
        <p:spPr>
          <a:xfrm>
            <a:off x="865656" y="1854192"/>
            <a:ext cx="3820674"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p:nvPr>
            <p:ph idx="2" type="pic"/>
          </p:nvPr>
        </p:nvSpPr>
        <p:spPr>
          <a:xfrm>
            <a:off x="5213517" y="1143000"/>
            <a:ext cx="2400925"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4" name="Google Shape;74;p33"/>
          <p:cNvSpPr txBox="1"/>
          <p:nvPr>
            <p:ph idx="1" type="body"/>
          </p:nvPr>
        </p:nvSpPr>
        <p:spPr>
          <a:xfrm>
            <a:off x="866441" y="3657600"/>
            <a:ext cx="3814728"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5" name="Google Shape;75;p33"/>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3"/>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sp>
        <p:nvSpPr>
          <p:cNvPr id="79" name="Google Shape;79;p34"/>
          <p:cNvSpPr txBox="1"/>
          <p:nvPr>
            <p:ph type="title"/>
          </p:nvPr>
        </p:nvSpPr>
        <p:spPr>
          <a:xfrm>
            <a:off x="866443" y="4800587"/>
            <a:ext cx="66209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4"/>
          <p:cNvSpPr/>
          <p:nvPr>
            <p:ph idx="2" type="pic"/>
          </p:nvPr>
        </p:nvSpPr>
        <p:spPr>
          <a:xfrm>
            <a:off x="866442" y="685800"/>
            <a:ext cx="662096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81" name="Google Shape;81;p34"/>
          <p:cNvSpPr txBox="1"/>
          <p:nvPr>
            <p:ph idx="1" type="body"/>
          </p:nvPr>
        </p:nvSpPr>
        <p:spPr>
          <a:xfrm>
            <a:off x="866443" y="5367325"/>
            <a:ext cx="662096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2" name="Google Shape;82;p3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5" name="Shape 85"/>
        <p:cNvGrpSpPr/>
        <p:nvPr/>
      </p:nvGrpSpPr>
      <p:grpSpPr>
        <a:xfrm>
          <a:off x="0" y="0"/>
          <a:ext cx="0" cy="0"/>
          <a:chOff x="0" y="0"/>
          <a:chExt cx="0" cy="0"/>
        </a:xfrm>
      </p:grpSpPr>
      <p:sp>
        <p:nvSpPr>
          <p:cNvPr id="86" name="Google Shape;86;p35"/>
          <p:cNvSpPr txBox="1"/>
          <p:nvPr>
            <p:ph type="title"/>
          </p:nvPr>
        </p:nvSpPr>
        <p:spPr>
          <a:xfrm>
            <a:off x="866442" y="1447800"/>
            <a:ext cx="6620968"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5"/>
          <p:cNvSpPr txBox="1"/>
          <p:nvPr>
            <p:ph idx="1" type="body"/>
          </p:nvPr>
        </p:nvSpPr>
        <p:spPr>
          <a:xfrm>
            <a:off x="866442" y="3657600"/>
            <a:ext cx="6620968"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8" name="Google Shape;88;p35"/>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5"/>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5"/>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sp>
        <p:nvSpPr>
          <p:cNvPr id="92" name="Google Shape;92;p36"/>
          <p:cNvSpPr txBox="1"/>
          <p:nvPr>
            <p:ph type="title"/>
          </p:nvPr>
        </p:nvSpPr>
        <p:spPr>
          <a:xfrm>
            <a:off x="1181409" y="1447800"/>
            <a:ext cx="6001049"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6"/>
          <p:cNvSpPr txBox="1"/>
          <p:nvPr>
            <p:ph idx="1" type="body"/>
          </p:nvPr>
        </p:nvSpPr>
        <p:spPr>
          <a:xfrm>
            <a:off x="1448177" y="3771174"/>
            <a:ext cx="546115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4" name="Google Shape;94;p36"/>
          <p:cNvSpPr txBox="1"/>
          <p:nvPr>
            <p:ph idx="2" type="body"/>
          </p:nvPr>
        </p:nvSpPr>
        <p:spPr>
          <a:xfrm>
            <a:off x="866442" y="4350657"/>
            <a:ext cx="6620968"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5" name="Google Shape;95;p36"/>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6"/>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6"/>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8" name="Google Shape;98;p36"/>
          <p:cNvSpPr txBox="1"/>
          <p:nvPr/>
        </p:nvSpPr>
        <p:spPr>
          <a:xfrm>
            <a:off x="673897" y="971253"/>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
        <p:nvSpPr>
          <p:cNvPr id="99" name="Google Shape;99;p36"/>
          <p:cNvSpPr txBox="1"/>
          <p:nvPr/>
        </p:nvSpPr>
        <p:spPr>
          <a:xfrm>
            <a:off x="6999690" y="2613787"/>
            <a:ext cx="601591"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0" name="Shape 100"/>
        <p:cNvGrpSpPr/>
        <p:nvPr/>
      </p:nvGrpSpPr>
      <p:grpSpPr>
        <a:xfrm>
          <a:off x="0" y="0"/>
          <a:ext cx="0" cy="0"/>
          <a:chOff x="0" y="0"/>
          <a:chExt cx="0" cy="0"/>
        </a:xfrm>
      </p:grpSpPr>
      <p:sp>
        <p:nvSpPr>
          <p:cNvPr id="101" name="Google Shape;101;p37"/>
          <p:cNvSpPr txBox="1"/>
          <p:nvPr>
            <p:ph type="title"/>
          </p:nvPr>
        </p:nvSpPr>
        <p:spPr>
          <a:xfrm>
            <a:off x="866441" y="3124201"/>
            <a:ext cx="6620969"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7"/>
          <p:cNvSpPr txBox="1"/>
          <p:nvPr>
            <p:ph idx="1" type="body"/>
          </p:nvPr>
        </p:nvSpPr>
        <p:spPr>
          <a:xfrm>
            <a:off x="866442" y="4777381"/>
            <a:ext cx="66209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103" name="Google Shape;103;p37"/>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37"/>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7"/>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8"/>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8"/>
          <p:cNvSpPr txBox="1"/>
          <p:nvPr>
            <p:ph idx="1" type="body"/>
          </p:nvPr>
        </p:nvSpPr>
        <p:spPr>
          <a:xfrm>
            <a:off x="474834" y="1981200"/>
            <a:ext cx="22107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38"/>
          <p:cNvSpPr txBox="1"/>
          <p:nvPr>
            <p:ph idx="2" type="body"/>
          </p:nvPr>
        </p:nvSpPr>
        <p:spPr>
          <a:xfrm>
            <a:off x="489475" y="2667000"/>
            <a:ext cx="219608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0" name="Google Shape;110;p38"/>
          <p:cNvSpPr txBox="1"/>
          <p:nvPr>
            <p:ph idx="3" type="body"/>
          </p:nvPr>
        </p:nvSpPr>
        <p:spPr>
          <a:xfrm>
            <a:off x="2913504" y="1981200"/>
            <a:ext cx="2202754"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1" name="Google Shape;111;p38"/>
          <p:cNvSpPr txBox="1"/>
          <p:nvPr>
            <p:ph idx="4" type="body"/>
          </p:nvPr>
        </p:nvSpPr>
        <p:spPr>
          <a:xfrm>
            <a:off x="2905586" y="2667000"/>
            <a:ext cx="2210671"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2" name="Google Shape;112;p38"/>
          <p:cNvSpPr txBox="1"/>
          <p:nvPr>
            <p:ph idx="5" type="body"/>
          </p:nvPr>
        </p:nvSpPr>
        <p:spPr>
          <a:xfrm>
            <a:off x="5344917" y="1981200"/>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3" name="Google Shape;113;p38"/>
          <p:cNvSpPr txBox="1"/>
          <p:nvPr>
            <p:ph idx="6" type="body"/>
          </p:nvPr>
        </p:nvSpPr>
        <p:spPr>
          <a:xfrm>
            <a:off x="5344917" y="2667000"/>
            <a:ext cx="2199658"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4" name="Google Shape;114;p38"/>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5" name="Google Shape;115;p38"/>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6" name="Google Shape;116;p38"/>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8"/>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38"/>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9" name="Shape 119"/>
        <p:cNvGrpSpPr/>
        <p:nvPr/>
      </p:nvGrpSpPr>
      <p:grpSpPr>
        <a:xfrm>
          <a:off x="0" y="0"/>
          <a:ext cx="0" cy="0"/>
          <a:chOff x="0" y="0"/>
          <a:chExt cx="0" cy="0"/>
        </a:xfrm>
      </p:grpSpPr>
      <p:sp>
        <p:nvSpPr>
          <p:cNvPr id="120" name="Google Shape;120;p39"/>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9"/>
          <p:cNvSpPr txBox="1"/>
          <p:nvPr>
            <p:ph idx="1" type="body"/>
          </p:nvPr>
        </p:nvSpPr>
        <p:spPr>
          <a:xfrm>
            <a:off x="489475" y="4250949"/>
            <a:ext cx="220561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2" name="Google Shape;122;p39"/>
          <p:cNvSpPr/>
          <p:nvPr>
            <p:ph idx="2" type="pic"/>
          </p:nvPr>
        </p:nvSpPr>
        <p:spPr>
          <a:xfrm>
            <a:off x="489475" y="2209800"/>
            <a:ext cx="2205612"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3" name="Google Shape;123;p39"/>
          <p:cNvSpPr txBox="1"/>
          <p:nvPr>
            <p:ph idx="3" type="body"/>
          </p:nvPr>
        </p:nvSpPr>
        <p:spPr>
          <a:xfrm>
            <a:off x="489475" y="4827212"/>
            <a:ext cx="2205612"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4" name="Google Shape;124;p39"/>
          <p:cNvSpPr txBox="1"/>
          <p:nvPr>
            <p:ph idx="4" type="body"/>
          </p:nvPr>
        </p:nvSpPr>
        <p:spPr>
          <a:xfrm>
            <a:off x="2917792" y="4250949"/>
            <a:ext cx="21984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5" name="Google Shape;125;p39"/>
          <p:cNvSpPr/>
          <p:nvPr>
            <p:ph idx="5" type="pic"/>
          </p:nvPr>
        </p:nvSpPr>
        <p:spPr>
          <a:xfrm>
            <a:off x="2917791" y="2209800"/>
            <a:ext cx="2198466"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6" name="Google Shape;126;p39"/>
          <p:cNvSpPr txBox="1"/>
          <p:nvPr>
            <p:ph idx="6" type="body"/>
          </p:nvPr>
        </p:nvSpPr>
        <p:spPr>
          <a:xfrm>
            <a:off x="2916776" y="4827211"/>
            <a:ext cx="2201378"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7" name="Google Shape;127;p39"/>
          <p:cNvSpPr txBox="1"/>
          <p:nvPr>
            <p:ph idx="7" type="body"/>
          </p:nvPr>
        </p:nvSpPr>
        <p:spPr>
          <a:xfrm>
            <a:off x="5344917" y="4250949"/>
            <a:ext cx="219965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8" name="Google Shape;128;p39"/>
          <p:cNvSpPr/>
          <p:nvPr>
            <p:ph idx="8" type="pic"/>
          </p:nvPr>
        </p:nvSpPr>
        <p:spPr>
          <a:xfrm>
            <a:off x="5344916" y="2209800"/>
            <a:ext cx="2199658"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9" name="Google Shape;129;p39"/>
          <p:cNvSpPr txBox="1"/>
          <p:nvPr>
            <p:ph idx="9" type="body"/>
          </p:nvPr>
        </p:nvSpPr>
        <p:spPr>
          <a:xfrm>
            <a:off x="5344824" y="4827209"/>
            <a:ext cx="2202571"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30" name="Google Shape;130;p39"/>
          <p:cNvCxnSpPr/>
          <p:nvPr/>
        </p:nvCxnSpPr>
        <p:spPr>
          <a:xfrm>
            <a:off x="2795334"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31" name="Google Shape;131;p39"/>
          <p:cNvCxnSpPr/>
          <p:nvPr/>
        </p:nvCxnSpPr>
        <p:spPr>
          <a:xfrm>
            <a:off x="5223030"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32" name="Google Shape;132;p39"/>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9"/>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9"/>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40"/>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40"/>
          <p:cNvSpPr txBox="1"/>
          <p:nvPr>
            <p:ph idx="1" type="body"/>
          </p:nvPr>
        </p:nvSpPr>
        <p:spPr>
          <a:xfrm rot="5400000">
            <a:off x="2085787" y="794839"/>
            <a:ext cx="4195481" cy="6711654"/>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8" name="Google Shape;138;p40"/>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0"/>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40"/>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41"/>
          <p:cNvSpPr txBox="1"/>
          <p:nvPr>
            <p:ph type="title"/>
          </p:nvPr>
        </p:nvSpPr>
        <p:spPr>
          <a:xfrm rot="5400000">
            <a:off x="3974116" y="2685880"/>
            <a:ext cx="5826125" cy="131479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41"/>
          <p:cNvSpPr txBox="1"/>
          <p:nvPr>
            <p:ph idx="1" type="body"/>
          </p:nvPr>
        </p:nvSpPr>
        <p:spPr>
          <a:xfrm rot="5400000">
            <a:off x="532314" y="730366"/>
            <a:ext cx="5483134" cy="556881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4" name="Google Shape;144;p41"/>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41"/>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41"/>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4"/>
          <p:cNvSpPr/>
          <p:nvPr/>
        </p:nvSpPr>
        <p:spPr>
          <a:xfrm>
            <a:off x="629943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4"/>
          <p:cNvSpPr/>
          <p:nvPr/>
        </p:nvSpPr>
        <p:spPr>
          <a:xfrm>
            <a:off x="5689832" y="-457200"/>
            <a:ext cx="1600200" cy="1600200"/>
          </a:xfrm>
          <a:prstGeom prst="ellipse">
            <a:avLst/>
          </a:prstGeom>
          <a:gradFill>
            <a:gsLst>
              <a:gs pos="0">
                <a:srgbClr val="4CB9C3">
                  <a:alpha val="13725"/>
                </a:srgbClr>
              </a:gs>
              <a:gs pos="36000">
                <a:srgbClr val="4CB9C3">
                  <a:alpha val="6666"/>
                </a:srgbClr>
              </a:gs>
              <a:gs pos="73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4"/>
          <p:cNvSpPr/>
          <p:nvPr/>
        </p:nvSpPr>
        <p:spPr>
          <a:xfrm>
            <a:off x="6299432" y="6096000"/>
            <a:ext cx="990600" cy="990600"/>
          </a:xfrm>
          <a:prstGeom prst="ellipse">
            <a:avLst/>
          </a:prstGeom>
          <a:gradFill>
            <a:gsLst>
              <a:gs pos="0">
                <a:srgbClr val="4CB9C3">
                  <a:alpha val="8627"/>
                </a:srgbClr>
              </a:gs>
              <a:gs pos="36000">
                <a:srgbClr val="4CB9C3">
                  <a:alpha val="4705"/>
                </a:srgbClr>
              </a:gs>
              <a:gs pos="66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4"/>
          <p:cNvSpPr/>
          <p:nvPr/>
        </p:nvSpPr>
        <p:spPr>
          <a:xfrm>
            <a:off x="-153988" y="2667000"/>
            <a:ext cx="4191000" cy="4191000"/>
          </a:xfrm>
          <a:prstGeom prst="ellipse">
            <a:avLst/>
          </a:prstGeom>
          <a:gradFill>
            <a:gsLst>
              <a:gs pos="0">
                <a:srgbClr val="4CB9C3">
                  <a:alpha val="10980"/>
                </a:srgbClr>
              </a:gs>
              <a:gs pos="36000">
                <a:srgbClr val="4CB9C3">
                  <a:alpha val="9803"/>
                </a:srgbClr>
              </a:gs>
              <a:gs pos="75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4"/>
          <p:cNvSpPr/>
          <p:nvPr/>
        </p:nvSpPr>
        <p:spPr>
          <a:xfrm>
            <a:off x="-839788" y="2895600"/>
            <a:ext cx="2362200" cy="2362200"/>
          </a:xfrm>
          <a:prstGeom prst="ellipse">
            <a:avLst/>
          </a:prstGeom>
          <a:gradFill>
            <a:gsLst>
              <a:gs pos="0">
                <a:srgbClr val="4CB9C3">
                  <a:alpha val="7843"/>
                </a:srgbClr>
              </a:gs>
              <a:gs pos="36000">
                <a:srgbClr val="4CB9C3">
                  <a:alpha val="7843"/>
                </a:srgbClr>
              </a:gs>
              <a:gs pos="72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4"/>
          <p:cNvSpPr/>
          <p:nvPr/>
        </p:nvSpPr>
        <p:spPr>
          <a:xfrm>
            <a:off x="7745644" y="0"/>
            <a:ext cx="685800" cy="1099458"/>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4"/>
          <p:cNvSpPr txBox="1"/>
          <p:nvPr>
            <p:ph type="title"/>
          </p:nvPr>
        </p:nvSpPr>
        <p:spPr>
          <a:xfrm>
            <a:off x="484710" y="452718"/>
            <a:ext cx="7055380"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7" name="Google Shape;17;p24"/>
          <p:cNvSpPr txBox="1"/>
          <p:nvPr>
            <p:ph idx="1" type="body"/>
          </p:nvPr>
        </p:nvSpPr>
        <p:spPr>
          <a:xfrm>
            <a:off x="827700" y="2052925"/>
            <a:ext cx="6711654"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8" name="Google Shape;18;p24"/>
          <p:cNvSpPr txBox="1"/>
          <p:nvPr>
            <p:ph idx="10" type="dt"/>
          </p:nvPr>
        </p:nvSpPr>
        <p:spPr>
          <a:xfrm rot="5400000">
            <a:off x="7494989" y="1828771"/>
            <a:ext cx="990599" cy="22865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9" name="Google Shape;19;p24"/>
          <p:cNvSpPr txBox="1"/>
          <p:nvPr>
            <p:ph idx="11" type="ftr"/>
          </p:nvPr>
        </p:nvSpPr>
        <p:spPr>
          <a:xfrm rot="5400000">
            <a:off x="6233335" y="3263371"/>
            <a:ext cx="3859795" cy="2286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20" name="Google Shape;20;p24"/>
          <p:cNvSpPr txBox="1"/>
          <p:nvPr>
            <p:ph idx="12" type="sldNum"/>
          </p:nvPr>
        </p:nvSpPr>
        <p:spPr>
          <a:xfrm>
            <a:off x="7766431" y="295736"/>
            <a:ext cx="628813"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1"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1"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1"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1"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1"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1"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1"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1"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116541" y="533400"/>
            <a:ext cx="7216588" cy="1143000"/>
          </a:xfrm>
          <a:prstGeom prst="rect">
            <a:avLst/>
          </a:prstGeom>
          <a:solidFill>
            <a:schemeClr val="accent1"/>
          </a:solidFill>
          <a:ln>
            <a:noFill/>
          </a:ln>
        </p:spPr>
        <p:txBody>
          <a:bodyPr anchorCtr="0" anchor="b" bIns="45700" lIns="91425" spcFirstLastPara="1" rIns="91425" wrap="square" tIns="45700">
            <a:noAutofit/>
          </a:bodyPr>
          <a:lstStyle/>
          <a:p>
            <a:pPr indent="0" lvl="0" marL="0" rtl="0" algn="ctr">
              <a:spcBef>
                <a:spcPts val="0"/>
              </a:spcBef>
              <a:spcAft>
                <a:spcPts val="0"/>
              </a:spcAft>
              <a:buClr>
                <a:schemeClr val="lt2"/>
              </a:buClr>
              <a:buSzPts val="4000"/>
              <a:buFont typeface="Times New Roman"/>
              <a:buNone/>
            </a:pPr>
            <a:r>
              <a:rPr b="1" lang="en-US" sz="4000">
                <a:latin typeface="Times New Roman"/>
                <a:ea typeface="Times New Roman"/>
                <a:cs typeface="Times New Roman"/>
                <a:sym typeface="Times New Roman"/>
              </a:rPr>
              <a:t>Constitution of Bangladesh</a:t>
            </a:r>
            <a:endParaRPr b="1" sz="4000">
              <a:latin typeface="Times New Roman"/>
              <a:ea typeface="Times New Roman"/>
              <a:cs typeface="Times New Roman"/>
              <a:sym typeface="Times New Roman"/>
            </a:endParaRPr>
          </a:p>
        </p:txBody>
      </p:sp>
      <p:sp>
        <p:nvSpPr>
          <p:cNvPr id="152" name="Google Shape;152;p1"/>
          <p:cNvSpPr txBox="1"/>
          <p:nvPr>
            <p:ph idx="1" type="subTitle"/>
          </p:nvPr>
        </p:nvSpPr>
        <p:spPr>
          <a:xfrm>
            <a:off x="342900" y="3262282"/>
            <a:ext cx="8458200" cy="278441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6880"/>
              <a:buNone/>
            </a:pPr>
            <a:r>
              <a:t/>
            </a:r>
            <a:endParaRPr b="1" sz="8600">
              <a:solidFill>
                <a:schemeClr val="lt1"/>
              </a:solidFill>
            </a:endParaRPr>
          </a:p>
          <a:p>
            <a:pPr indent="0" lvl="0" marL="0" rtl="0" algn="l">
              <a:spcBef>
                <a:spcPts val="1000"/>
              </a:spcBef>
              <a:spcAft>
                <a:spcPts val="0"/>
              </a:spcAft>
              <a:buSzPts val="5760"/>
              <a:buNone/>
            </a:pPr>
            <a:r>
              <a:t/>
            </a:r>
            <a:endParaRPr b="1" sz="7200">
              <a:solidFill>
                <a:schemeClr val="lt1"/>
              </a:solidFill>
            </a:endParaRPr>
          </a:p>
        </p:txBody>
      </p:sp>
      <p:sp>
        <p:nvSpPr>
          <p:cNvPr id="153" name="Google Shape;153;p1"/>
          <p:cNvSpPr/>
          <p:nvPr/>
        </p:nvSpPr>
        <p:spPr>
          <a:xfrm>
            <a:off x="2286000" y="4846365"/>
            <a:ext cx="4572000" cy="1200329"/>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Dr. Ehteshamul Haque</a:t>
            </a:r>
            <a:endParaRPr b="0" i="0" sz="1800" u="none" cap="none" strike="noStrike">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Senior Lecturer, Bangladesh Studies</a:t>
            </a:r>
            <a:endParaRPr/>
          </a:p>
          <a:p>
            <a:pPr indent="0" lvl="0" marL="0" marR="0" rtl="0" algn="ctr">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Software Engineering (SWE)</a:t>
            </a:r>
            <a:endParaRPr/>
          </a:p>
          <a:p>
            <a:pPr indent="0" lvl="0" marL="0" marR="0" rtl="0" algn="ctr">
              <a:spcBef>
                <a:spcPts val="0"/>
              </a:spcBef>
              <a:spcAft>
                <a:spcPts val="0"/>
              </a:spcAft>
              <a:buNone/>
            </a:pPr>
            <a:r>
              <a:rPr b="0" i="0" lang="en-US" sz="1800" u="none" cap="none" strike="noStrike">
                <a:solidFill>
                  <a:schemeClr val="lt1"/>
                </a:solidFill>
                <a:latin typeface="Times New Roman"/>
                <a:ea typeface="Times New Roman"/>
                <a:cs typeface="Times New Roman"/>
                <a:sym typeface="Times New Roman"/>
              </a:rPr>
              <a:t>Daffodil International University</a:t>
            </a:r>
            <a:endParaRPr/>
          </a:p>
        </p:txBody>
      </p:sp>
      <p:pic>
        <p:nvPicPr>
          <p:cNvPr id="154" name="Google Shape;154;p1"/>
          <p:cNvPicPr preferRelativeResize="0"/>
          <p:nvPr/>
        </p:nvPicPr>
        <p:blipFill rotWithShape="1">
          <a:blip r:embed="rId3">
            <a:alphaModFix/>
          </a:blip>
          <a:srcRect b="0" l="0" r="0" t="0"/>
          <a:stretch/>
        </p:blipFill>
        <p:spPr>
          <a:xfrm>
            <a:off x="2294628" y="1945488"/>
            <a:ext cx="4594748" cy="2629990"/>
          </a:xfrm>
          <a:prstGeom prst="rect">
            <a:avLst/>
          </a:prstGeom>
          <a:noFill/>
          <a:ln>
            <a:noFill/>
          </a:ln>
        </p:spPr>
      </p:pic>
    </p:spTree>
  </p:cSld>
  <p:clrMapOvr>
    <a:masterClrMapping/>
  </p:clrMapOvr>
  <p:transition>
    <p:plus/>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
          <p:cNvSpPr txBox="1"/>
          <p:nvPr>
            <p:ph type="title"/>
          </p:nvPr>
        </p:nvSpPr>
        <p:spPr>
          <a:xfrm>
            <a:off x="457200" y="274638"/>
            <a:ext cx="8229600" cy="7921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3200"/>
              <a:buFont typeface="Open Sans"/>
              <a:buNone/>
            </a:pPr>
            <a:r>
              <a:rPr b="1" lang="en-US" sz="3200">
                <a:solidFill>
                  <a:srgbClr val="C00000"/>
                </a:solidFill>
                <a:latin typeface="Open Sans"/>
                <a:ea typeface="Open Sans"/>
                <a:cs typeface="Open Sans"/>
                <a:sym typeface="Open Sans"/>
              </a:rPr>
              <a:t>Objectives of this Class</a:t>
            </a:r>
            <a:endParaRPr sz="3200">
              <a:solidFill>
                <a:srgbClr val="C00000"/>
              </a:solidFill>
              <a:latin typeface="Open Sans"/>
              <a:ea typeface="Open Sans"/>
              <a:cs typeface="Open Sans"/>
              <a:sym typeface="Open Sans"/>
            </a:endParaRPr>
          </a:p>
        </p:txBody>
      </p:sp>
      <p:sp>
        <p:nvSpPr>
          <p:cNvPr id="160" name="Google Shape;160;p2"/>
          <p:cNvSpPr txBox="1"/>
          <p:nvPr>
            <p:ph idx="1" type="body"/>
          </p:nvPr>
        </p:nvSpPr>
        <p:spPr>
          <a:xfrm>
            <a:off x="457200" y="1219200"/>
            <a:ext cx="8229600" cy="5181600"/>
          </a:xfrm>
          <a:prstGeom prst="rect">
            <a:avLst/>
          </a:prstGeom>
          <a:noFill/>
          <a:ln>
            <a:noFill/>
          </a:ln>
        </p:spPr>
        <p:txBody>
          <a:bodyPr anchorCtr="0" anchor="t" bIns="45700" lIns="91425" spcFirstLastPara="1" rIns="91425" wrap="square" tIns="45700">
            <a:noAutofit/>
          </a:bodyPr>
          <a:lstStyle/>
          <a:p>
            <a:pPr indent="-342906" lvl="0" marL="342906" rtl="0" algn="l">
              <a:spcBef>
                <a:spcPts val="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Conceptual analysis of  constitution</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Introduction of various types of Constitution</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Essentials for making a good constitution</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Explore the historical background  </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Identify some common features of the constitution of Bangladesh</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Examine some problems in the study of Constitution of Bangladesh</a:t>
            </a:r>
            <a:endParaRPr/>
          </a:p>
          <a:p>
            <a:pPr indent="-342906" lvl="0" marL="342906" rtl="0" algn="l">
              <a:spcBef>
                <a:spcPts val="1000"/>
              </a:spcBef>
              <a:spcAft>
                <a:spcPts val="0"/>
              </a:spcAft>
              <a:buClr>
                <a:srgbClr val="00B0F0"/>
              </a:buClr>
              <a:buSzPts val="2240"/>
              <a:buFont typeface="Noto Sans Symbols"/>
              <a:buChar char="❑"/>
            </a:pPr>
            <a:r>
              <a:rPr lang="en-US" sz="2800">
                <a:latin typeface="Times New Roman"/>
                <a:ea typeface="Times New Roman"/>
                <a:cs typeface="Times New Roman"/>
                <a:sym typeface="Times New Roman"/>
              </a:rPr>
              <a:t>Investigate the key amendments of Bangladesh constitution. </a:t>
            </a:r>
            <a:endParaRPr/>
          </a:p>
        </p:txBody>
      </p:sp>
    </p:spTree>
  </p:cSld>
  <p:clrMapOvr>
    <a:masterClrMapping/>
  </p:clrMapOvr>
  <p:transition>
    <p:newsfla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txBox="1"/>
          <p:nvPr>
            <p:ph type="title"/>
          </p:nvPr>
        </p:nvSpPr>
        <p:spPr>
          <a:xfrm>
            <a:off x="152400" y="228600"/>
            <a:ext cx="7543800" cy="609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3200"/>
              <a:buFont typeface="Open Sans"/>
              <a:buNone/>
            </a:pPr>
            <a:r>
              <a:rPr b="1" lang="en-US" sz="3200">
                <a:solidFill>
                  <a:srgbClr val="C00000"/>
                </a:solidFill>
                <a:latin typeface="Open Sans"/>
                <a:ea typeface="Open Sans"/>
                <a:cs typeface="Open Sans"/>
                <a:sym typeface="Open Sans"/>
              </a:rPr>
              <a:t>Constitution: Concept</a:t>
            </a:r>
            <a:endParaRPr b="1" sz="3200">
              <a:solidFill>
                <a:srgbClr val="C00000"/>
              </a:solidFill>
              <a:latin typeface="Open Sans"/>
              <a:ea typeface="Open Sans"/>
              <a:cs typeface="Open Sans"/>
              <a:sym typeface="Open Sans"/>
            </a:endParaRPr>
          </a:p>
        </p:txBody>
      </p:sp>
      <p:sp>
        <p:nvSpPr>
          <p:cNvPr id="166" name="Google Shape;166;p3"/>
          <p:cNvSpPr txBox="1"/>
          <p:nvPr>
            <p:ph idx="1" type="body"/>
          </p:nvPr>
        </p:nvSpPr>
        <p:spPr>
          <a:xfrm>
            <a:off x="228600" y="1066800"/>
            <a:ext cx="8264236" cy="5334000"/>
          </a:xfrm>
          <a:prstGeom prst="rect">
            <a:avLst/>
          </a:prstGeom>
          <a:noFill/>
          <a:ln>
            <a:noFill/>
          </a:ln>
        </p:spPr>
        <p:txBody>
          <a:bodyPr anchorCtr="0" anchor="t" bIns="45700" lIns="91425" spcFirstLastPara="1" rIns="91425" wrap="square" tIns="45700">
            <a:normAutofit/>
          </a:bodyPr>
          <a:lstStyle/>
          <a:p>
            <a:pPr indent="-342906" lvl="0" marL="342906" rtl="0" algn="just">
              <a:lnSpc>
                <a:spcPct val="120000"/>
              </a:lnSpc>
              <a:spcBef>
                <a:spcPts val="0"/>
              </a:spcBef>
              <a:spcAft>
                <a:spcPts val="0"/>
              </a:spcAft>
              <a:buSzPts val="1920"/>
              <a:buFont typeface="Noto Sans Symbols"/>
              <a:buChar char="❑"/>
            </a:pPr>
            <a:r>
              <a:rPr lang="en-US" sz="2400">
                <a:latin typeface="Times New Roman"/>
                <a:ea typeface="Times New Roman"/>
                <a:cs typeface="Times New Roman"/>
                <a:sym typeface="Times New Roman"/>
              </a:rPr>
              <a:t>In the modern world, constitution is the sine-qua-non for any country to operate its all sort of functions properly. It lays down rules regarding the organization, powers and functions of government. It also defines the basic features of the State and the relation between the citizens and the State.</a:t>
            </a:r>
            <a:endParaRPr/>
          </a:p>
          <a:p>
            <a:pPr indent="-342906" lvl="0" marL="342906" rtl="0" algn="just">
              <a:lnSpc>
                <a:spcPct val="120000"/>
              </a:lnSpc>
              <a:spcBef>
                <a:spcPts val="1000"/>
              </a:spcBef>
              <a:spcAft>
                <a:spcPts val="0"/>
              </a:spcAft>
              <a:buSzPts val="1920"/>
              <a:buFont typeface="Noto Sans Symbols"/>
              <a:buChar char="❑"/>
            </a:pPr>
            <a:r>
              <a:rPr lang="en-US" sz="2400">
                <a:latin typeface="Times New Roman"/>
                <a:ea typeface="Times New Roman"/>
                <a:cs typeface="Times New Roman"/>
                <a:sym typeface="Times New Roman"/>
              </a:rPr>
              <a:t>“Constitution is the collection of principles according to which the power of the government, the rights of the governed and the relation between the two adjusted.” - Woolsey</a:t>
            </a:r>
            <a:endParaRPr/>
          </a:p>
          <a:p>
            <a:pPr indent="-342906" lvl="0" marL="342906" rtl="0" algn="just">
              <a:lnSpc>
                <a:spcPct val="120000"/>
              </a:lnSpc>
              <a:spcBef>
                <a:spcPts val="1000"/>
              </a:spcBef>
              <a:spcAft>
                <a:spcPts val="0"/>
              </a:spcAft>
              <a:buSzPts val="1920"/>
              <a:buFont typeface="Noto Sans Symbols"/>
              <a:buChar char="❑"/>
            </a:pPr>
            <a:r>
              <a:rPr lang="en-US" sz="2400">
                <a:latin typeface="Times New Roman"/>
                <a:ea typeface="Times New Roman"/>
                <a:cs typeface="Times New Roman"/>
                <a:sym typeface="Times New Roman"/>
              </a:rPr>
              <a:t>“Constitution is a set of established rules embodying and enacting the practice of government”. –Lord Bryce</a:t>
            </a:r>
            <a:endParaRPr/>
          </a:p>
          <a:p>
            <a:pPr indent="-241306" lvl="0" marL="342906" rtl="0" algn="l">
              <a:spcBef>
                <a:spcPts val="1000"/>
              </a:spcBef>
              <a:spcAft>
                <a:spcPts val="0"/>
              </a:spcAft>
              <a:buSzPts val="1600"/>
              <a:buNone/>
            </a:pPr>
            <a:r>
              <a:t/>
            </a:r>
            <a:endParaRPr sz="2000">
              <a:solidFill>
                <a:srgbClr val="FEFEFE"/>
              </a:solidFill>
            </a:endParaRPr>
          </a:p>
          <a:p>
            <a:pPr indent="-220986" lvl="0" marL="342906" rtl="0" algn="l">
              <a:spcBef>
                <a:spcPts val="1000"/>
              </a:spcBef>
              <a:spcAft>
                <a:spcPts val="0"/>
              </a:spcAft>
              <a:buSzPts val="1920"/>
              <a:buNone/>
            </a:pPr>
            <a:r>
              <a:t/>
            </a:r>
            <a:endParaRPr sz="2400">
              <a:solidFill>
                <a:srgbClr val="FEFEFE"/>
              </a:solidFill>
            </a:endParaRPr>
          </a:p>
          <a:p>
            <a:pPr indent="-220986" lvl="0" marL="342906" rtl="0" algn="l">
              <a:spcBef>
                <a:spcPts val="1000"/>
              </a:spcBef>
              <a:spcAft>
                <a:spcPts val="0"/>
              </a:spcAft>
              <a:buSzPts val="1920"/>
              <a:buNone/>
            </a:pPr>
            <a:r>
              <a:t/>
            </a:r>
            <a:endParaRPr sz="2400">
              <a:solidFill>
                <a:srgbClr val="FEFEF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
          <p:cNvSpPr txBox="1"/>
          <p:nvPr>
            <p:ph type="title"/>
          </p:nvPr>
        </p:nvSpPr>
        <p:spPr>
          <a:xfrm>
            <a:off x="228600" y="228600"/>
            <a:ext cx="7467600" cy="60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00000"/>
              </a:buClr>
              <a:buSzPts val="4000"/>
              <a:buFont typeface="Times New Roman"/>
              <a:buNone/>
            </a:pPr>
            <a:r>
              <a:rPr lang="en-US" sz="4000">
                <a:solidFill>
                  <a:srgbClr val="C00000"/>
                </a:solidFill>
                <a:latin typeface="Times New Roman"/>
                <a:ea typeface="Times New Roman"/>
                <a:cs typeface="Times New Roman"/>
                <a:sym typeface="Times New Roman"/>
              </a:rPr>
              <a:t>Cont….</a:t>
            </a:r>
            <a:endParaRPr sz="4000">
              <a:solidFill>
                <a:srgbClr val="C00000"/>
              </a:solidFill>
              <a:latin typeface="Times New Roman"/>
              <a:ea typeface="Times New Roman"/>
              <a:cs typeface="Times New Roman"/>
              <a:sym typeface="Times New Roman"/>
            </a:endParaRPr>
          </a:p>
        </p:txBody>
      </p:sp>
      <p:sp>
        <p:nvSpPr>
          <p:cNvPr id="172" name="Google Shape;172;p4"/>
          <p:cNvSpPr txBox="1"/>
          <p:nvPr>
            <p:ph idx="1" type="body"/>
          </p:nvPr>
        </p:nvSpPr>
        <p:spPr>
          <a:xfrm>
            <a:off x="228600" y="1066800"/>
            <a:ext cx="8763000" cy="5562600"/>
          </a:xfrm>
          <a:prstGeom prst="rect">
            <a:avLst/>
          </a:prstGeom>
          <a:noFill/>
          <a:ln>
            <a:noFill/>
          </a:ln>
        </p:spPr>
        <p:txBody>
          <a:bodyPr anchorCtr="0" anchor="t" bIns="45700" lIns="91425" spcFirstLastPara="1" rIns="91425" wrap="square" tIns="45700">
            <a:normAutofit/>
          </a:bodyPr>
          <a:lstStyle/>
          <a:p>
            <a:pPr indent="-342906" lvl="0" marL="342906" rtl="0" algn="just">
              <a:spcBef>
                <a:spcPts val="0"/>
              </a:spcBef>
              <a:spcAft>
                <a:spcPts val="0"/>
              </a:spcAft>
              <a:buSzPts val="1760"/>
              <a:buFont typeface="Noto Sans Symbols"/>
              <a:buChar char="❑"/>
            </a:pPr>
            <a:r>
              <a:rPr lang="en-US" sz="2200">
                <a:latin typeface="Times New Roman"/>
                <a:ea typeface="Times New Roman"/>
                <a:cs typeface="Times New Roman"/>
                <a:sym typeface="Times New Roman"/>
              </a:rPr>
              <a:t>" Constitution of a state is that body of rules or laws, written or unwritten which determine the organization of government, the distribution of powers to the various organs of government and the general principles on which these powers are to be exercised." –Gilchrist</a:t>
            </a:r>
            <a:endParaRPr b="1" sz="2200">
              <a:latin typeface="Times New Roman"/>
              <a:ea typeface="Times New Roman"/>
              <a:cs typeface="Times New Roman"/>
              <a:sym typeface="Times New Roman"/>
            </a:endParaRPr>
          </a:p>
          <a:p>
            <a:pPr indent="0" lvl="0" marL="0" rtl="0" algn="l">
              <a:lnSpc>
                <a:spcPct val="120000"/>
              </a:lnSpc>
              <a:spcBef>
                <a:spcPts val="1000"/>
              </a:spcBef>
              <a:spcAft>
                <a:spcPts val="0"/>
              </a:spcAft>
              <a:buSzPts val="1920"/>
              <a:buNone/>
            </a:pPr>
            <a:r>
              <a:t/>
            </a:r>
            <a:endParaRPr b="1" sz="2400">
              <a:solidFill>
                <a:srgbClr val="FEFEFE"/>
              </a:solidFill>
              <a:latin typeface="Open Sans"/>
              <a:ea typeface="Open Sans"/>
              <a:cs typeface="Open Sans"/>
              <a:sym typeface="Open Sans"/>
            </a:endParaRPr>
          </a:p>
          <a:p>
            <a:pPr indent="-241306" lvl="0" marL="342906" rtl="0" algn="l">
              <a:spcBef>
                <a:spcPts val="1000"/>
              </a:spcBef>
              <a:spcAft>
                <a:spcPts val="0"/>
              </a:spcAft>
              <a:buSzPts val="1600"/>
              <a:buFont typeface="Noto Sans Symbols"/>
              <a:buNone/>
            </a:pPr>
            <a:r>
              <a:t/>
            </a:r>
            <a:endParaRPr sz="2000">
              <a:solidFill>
                <a:srgbClr val="FEFEFE"/>
              </a:solidFill>
            </a:endParaRPr>
          </a:p>
          <a:p>
            <a:pPr indent="-220986" lvl="0" marL="342906" rtl="0" algn="l">
              <a:spcBef>
                <a:spcPts val="1000"/>
              </a:spcBef>
              <a:spcAft>
                <a:spcPts val="0"/>
              </a:spcAft>
              <a:buSzPts val="1920"/>
              <a:buFont typeface="Noto Sans Symbols"/>
              <a:buNone/>
            </a:pPr>
            <a:r>
              <a:t/>
            </a:r>
            <a:endParaRPr sz="2400">
              <a:solidFill>
                <a:srgbClr val="FEFEFE"/>
              </a:solidFill>
            </a:endParaRPr>
          </a:p>
          <a:p>
            <a:pPr indent="-220986" lvl="0" marL="342906" rtl="0" algn="l">
              <a:spcBef>
                <a:spcPts val="1000"/>
              </a:spcBef>
              <a:spcAft>
                <a:spcPts val="0"/>
              </a:spcAft>
              <a:buSzPts val="1920"/>
              <a:buFont typeface="Noto Sans Symbols"/>
              <a:buNone/>
            </a:pPr>
            <a:r>
              <a:t/>
            </a:r>
            <a:endParaRPr sz="2400">
              <a:solidFill>
                <a:srgbClr val="FEFEF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5"/>
          <p:cNvSpPr txBox="1"/>
          <p:nvPr>
            <p:ph type="title"/>
          </p:nvPr>
        </p:nvSpPr>
        <p:spPr>
          <a:xfrm>
            <a:off x="228600" y="274638"/>
            <a:ext cx="8458200" cy="9445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Types of Constitution</a:t>
            </a:r>
            <a:endParaRPr b="1" sz="3200">
              <a:solidFill>
                <a:srgbClr val="C00000"/>
              </a:solidFill>
              <a:latin typeface="Times New Roman"/>
              <a:ea typeface="Times New Roman"/>
              <a:cs typeface="Times New Roman"/>
              <a:sym typeface="Times New Roman"/>
            </a:endParaRPr>
          </a:p>
        </p:txBody>
      </p:sp>
      <p:sp>
        <p:nvSpPr>
          <p:cNvPr id="178" name="Google Shape;178;p5"/>
          <p:cNvSpPr txBox="1"/>
          <p:nvPr>
            <p:ph idx="1" type="body"/>
          </p:nvPr>
        </p:nvSpPr>
        <p:spPr>
          <a:xfrm>
            <a:off x="210671" y="1201271"/>
            <a:ext cx="8686800" cy="5123329"/>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920"/>
              <a:buFont typeface="Noto Sans Symbols"/>
              <a:buChar char="❑"/>
            </a:pPr>
            <a:r>
              <a:rPr lang="en-US" sz="2400">
                <a:solidFill>
                  <a:srgbClr val="00B050"/>
                </a:solidFill>
                <a:latin typeface="Times New Roman"/>
                <a:ea typeface="Times New Roman"/>
                <a:cs typeface="Times New Roman"/>
                <a:sym typeface="Times New Roman"/>
              </a:rPr>
              <a:t>Written Constitution:  </a:t>
            </a:r>
            <a:r>
              <a:rPr lang="en-US" sz="2400">
                <a:latin typeface="Times New Roman"/>
                <a:ea typeface="Times New Roman"/>
                <a:cs typeface="Times New Roman"/>
                <a:sym typeface="Times New Roman"/>
              </a:rPr>
              <a:t>which means a constitution written in the form of a book or a series of documents combined in the form of a book.</a:t>
            </a:r>
            <a:endParaRPr/>
          </a:p>
          <a:p>
            <a:pPr indent="-342906" lvl="0" marL="342906" rtl="0" algn="l">
              <a:spcBef>
                <a:spcPts val="1000"/>
              </a:spcBef>
              <a:spcAft>
                <a:spcPts val="0"/>
              </a:spcAft>
              <a:buSzPts val="1920"/>
              <a:buFont typeface="Noto Sans Symbols"/>
              <a:buChar char="❑"/>
            </a:pPr>
            <a:r>
              <a:rPr lang="en-US" sz="2400">
                <a:solidFill>
                  <a:srgbClr val="00B050"/>
                </a:solidFill>
                <a:latin typeface="Times New Roman"/>
                <a:ea typeface="Times New Roman"/>
                <a:cs typeface="Times New Roman"/>
                <a:sym typeface="Times New Roman"/>
              </a:rPr>
              <a:t>Non-Written Constitution:</a:t>
            </a:r>
            <a:r>
              <a:rPr lang="en-US" sz="2400">
                <a:latin typeface="Times New Roman"/>
                <a:ea typeface="Times New Roman"/>
                <a:cs typeface="Times New Roman"/>
                <a:sym typeface="Times New Roman"/>
              </a:rPr>
              <a:t>  which is neither drafted nor enacted by a Constituent Assembly and nor even written in the form of a book.</a:t>
            </a:r>
            <a:endParaRPr/>
          </a:p>
          <a:p>
            <a:pPr indent="-342906" lvl="0" marL="342906" rtl="0" algn="l">
              <a:spcBef>
                <a:spcPts val="1000"/>
              </a:spcBef>
              <a:spcAft>
                <a:spcPts val="0"/>
              </a:spcAft>
              <a:buSzPts val="1920"/>
              <a:buFont typeface="Noto Sans Symbols"/>
              <a:buChar char="❑"/>
            </a:pPr>
            <a:r>
              <a:rPr lang="en-US" sz="2400">
                <a:solidFill>
                  <a:srgbClr val="00B050"/>
                </a:solidFill>
                <a:latin typeface="Times New Roman"/>
                <a:ea typeface="Times New Roman"/>
                <a:cs typeface="Times New Roman"/>
                <a:sym typeface="Times New Roman"/>
              </a:rPr>
              <a:t>Flexible Constitution: </a:t>
            </a:r>
            <a:r>
              <a:rPr lang="en-US" sz="2400">
                <a:latin typeface="Times New Roman"/>
                <a:ea typeface="Times New Roman"/>
                <a:cs typeface="Times New Roman"/>
                <a:sym typeface="Times New Roman"/>
              </a:rPr>
              <a:t>which can be easily amended without any terms of condition.</a:t>
            </a:r>
            <a:endParaRPr/>
          </a:p>
          <a:p>
            <a:pPr indent="-342906" lvl="0" marL="342906" rtl="0" algn="l">
              <a:spcBef>
                <a:spcPts val="1000"/>
              </a:spcBef>
              <a:spcAft>
                <a:spcPts val="0"/>
              </a:spcAft>
              <a:buSzPts val="1920"/>
              <a:buFont typeface="Noto Sans Symbols"/>
              <a:buChar char="❑"/>
            </a:pPr>
            <a:r>
              <a:rPr lang="en-US" sz="2400">
                <a:solidFill>
                  <a:srgbClr val="00B050"/>
                </a:solidFill>
                <a:latin typeface="Times New Roman"/>
                <a:ea typeface="Times New Roman"/>
                <a:cs typeface="Times New Roman"/>
                <a:sym typeface="Times New Roman"/>
              </a:rPr>
              <a:t>Non-Flexible or Rigid Constitution: </a:t>
            </a:r>
            <a:r>
              <a:rPr lang="en-US" sz="2400">
                <a:latin typeface="Times New Roman"/>
                <a:ea typeface="Times New Roman"/>
                <a:cs typeface="Times New Roman"/>
                <a:sym typeface="Times New Roman"/>
              </a:rPr>
              <a:t>which cannot be easily amended. For amending it, the legislature has to pass an amendment bill by a specific, usually big, majority of 2/3rd or 3/4th. </a:t>
            </a:r>
            <a:endParaRPr/>
          </a:p>
          <a:p>
            <a:pPr indent="-241306" lvl="0" marL="342906" rtl="0" algn="l">
              <a:spcBef>
                <a:spcPts val="1000"/>
              </a:spcBef>
              <a:spcAft>
                <a:spcPts val="0"/>
              </a:spcAft>
              <a:buSzPts val="1600"/>
              <a:buFont typeface="Noto Sans Symbols"/>
              <a:buNone/>
            </a:pPr>
            <a:r>
              <a:t/>
            </a:r>
            <a:endParaRPr sz="2000">
              <a:latin typeface="Open Sans"/>
              <a:ea typeface="Open Sans"/>
              <a:cs typeface="Open Sans"/>
              <a:sym typeface="Open Sans"/>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ph type="title"/>
          </p:nvPr>
        </p:nvSpPr>
        <p:spPr>
          <a:xfrm>
            <a:off x="304800" y="228600"/>
            <a:ext cx="7974330" cy="685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Types of Constitution…</a:t>
            </a:r>
            <a:endParaRPr b="1" sz="3200">
              <a:solidFill>
                <a:srgbClr val="C00000"/>
              </a:solidFill>
              <a:latin typeface="Times New Roman"/>
              <a:ea typeface="Times New Roman"/>
              <a:cs typeface="Times New Roman"/>
              <a:sym typeface="Times New Roman"/>
            </a:endParaRPr>
          </a:p>
        </p:txBody>
      </p:sp>
      <p:sp>
        <p:nvSpPr>
          <p:cNvPr id="184" name="Google Shape;184;p6"/>
          <p:cNvSpPr txBox="1"/>
          <p:nvPr/>
        </p:nvSpPr>
        <p:spPr>
          <a:xfrm>
            <a:off x="304800" y="1143005"/>
            <a:ext cx="8534400" cy="4862835"/>
          </a:xfrm>
          <a:prstGeom prst="rect">
            <a:avLst/>
          </a:prstGeom>
          <a:noFill/>
          <a:ln>
            <a:noFill/>
          </a:ln>
        </p:spPr>
        <p:txBody>
          <a:bodyPr anchorCtr="0" anchor="t" bIns="45700" lIns="91400" spcFirstLastPara="1" rIns="91400" wrap="square" tIns="45700">
            <a:spAutoFit/>
          </a:bodyPr>
          <a:lstStyle/>
          <a:p>
            <a:pPr indent="-152400" lvl="0" marL="0" marR="0" rtl="0" algn="just">
              <a:spcBef>
                <a:spcPts val="0"/>
              </a:spcBef>
              <a:spcAft>
                <a:spcPts val="0"/>
              </a:spcAft>
              <a:buClr>
                <a:srgbClr val="00B050"/>
              </a:buClr>
              <a:buSzPts val="2400"/>
              <a:buFont typeface="Noto Sans Symbols"/>
              <a:buChar char="❑"/>
            </a:pPr>
            <a:r>
              <a:rPr b="0" i="0" lang="en-US" sz="2400" u="none" cap="none" strike="noStrike">
                <a:solidFill>
                  <a:srgbClr val="00B050"/>
                </a:solidFill>
                <a:latin typeface="Times New Roman"/>
                <a:ea typeface="Times New Roman"/>
                <a:cs typeface="Times New Roman"/>
                <a:sym typeface="Times New Roman"/>
              </a:rPr>
              <a:t> Evolved Constitution: </a:t>
            </a:r>
            <a:r>
              <a:rPr b="0" i="0" lang="en-US" sz="2400" u="none" cap="none" strike="noStrike">
                <a:solidFill>
                  <a:schemeClr val="lt1"/>
                </a:solidFill>
                <a:latin typeface="Times New Roman"/>
                <a:ea typeface="Times New Roman"/>
                <a:cs typeface="Times New Roman"/>
                <a:sym typeface="Times New Roman"/>
              </a:rPr>
              <a:t>which is not made at any time by any assembly of persons or an institution but the result of slow and gradual process of evolution. Its rules and principles draw binding force from the fact of their being recognized as ancient, historical, time-tested and respected customs and conventions.</a:t>
            </a:r>
            <a:endParaRPr/>
          </a:p>
          <a:p>
            <a:pPr indent="0" lvl="0" marL="0" marR="0" rtl="0" algn="l">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152400" lvl="0" marL="0" marR="0" rtl="0" algn="just">
              <a:spcBef>
                <a:spcPts val="0"/>
              </a:spcBef>
              <a:spcAft>
                <a:spcPts val="0"/>
              </a:spcAft>
              <a:buClr>
                <a:srgbClr val="00B050"/>
              </a:buClr>
              <a:buSzPts val="2400"/>
              <a:buFont typeface="Noto Sans Symbols"/>
              <a:buChar char="❑"/>
            </a:pPr>
            <a:r>
              <a:rPr b="1" lang="en-US" sz="2400">
                <a:solidFill>
                  <a:srgbClr val="00B050"/>
                </a:solidFill>
                <a:latin typeface="Times New Roman"/>
                <a:ea typeface="Times New Roman"/>
                <a:cs typeface="Times New Roman"/>
                <a:sym typeface="Times New Roman"/>
              </a:rPr>
              <a:t> Enacted Constitution: </a:t>
            </a:r>
            <a:r>
              <a:rPr lang="en-US" sz="2400">
                <a:solidFill>
                  <a:schemeClr val="lt1"/>
                </a:solidFill>
                <a:latin typeface="Times New Roman"/>
                <a:ea typeface="Times New Roman"/>
                <a:cs typeface="Times New Roman"/>
                <a:sym typeface="Times New Roman"/>
              </a:rPr>
              <a:t>which is a man-made constitution. It is made, enacted and adopted by an assembly or council called a Constituent Assembly or Constitutional Council.  It is written in the form of a book or as a series of documents and in a systematic and formal manner. The Constitutions of India the USA, Japan, China and most of other states are enacted constitutions.</a:t>
            </a:r>
            <a:endParaRPr/>
          </a:p>
          <a:p>
            <a:pPr indent="0" lvl="0" marL="0" marR="0" rtl="0" algn="just">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p:comb/>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304800" y="381000"/>
            <a:ext cx="7848600"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00000"/>
              </a:buClr>
              <a:buSzPts val="3200"/>
              <a:buFont typeface="Times New Roman"/>
              <a:buNone/>
            </a:pPr>
            <a:r>
              <a:rPr b="1" lang="en-US" sz="3200">
                <a:solidFill>
                  <a:srgbClr val="C00000"/>
                </a:solidFill>
                <a:latin typeface="Times New Roman"/>
                <a:ea typeface="Times New Roman"/>
                <a:cs typeface="Times New Roman"/>
                <a:sym typeface="Times New Roman"/>
              </a:rPr>
              <a:t>Qualification for an Ideal Constitution</a:t>
            </a:r>
            <a:endParaRPr b="1" sz="3200">
              <a:solidFill>
                <a:srgbClr val="C00000"/>
              </a:solidFill>
              <a:latin typeface="Times New Roman"/>
              <a:ea typeface="Times New Roman"/>
              <a:cs typeface="Times New Roman"/>
              <a:sym typeface="Times New Roman"/>
            </a:endParaRPr>
          </a:p>
        </p:txBody>
      </p:sp>
      <p:sp>
        <p:nvSpPr>
          <p:cNvPr id="190" name="Google Shape;190;p7"/>
          <p:cNvSpPr/>
          <p:nvPr/>
        </p:nvSpPr>
        <p:spPr>
          <a:xfrm>
            <a:off x="152400" y="1295400"/>
            <a:ext cx="8691282" cy="4093394"/>
          </a:xfrm>
          <a:prstGeom prst="rect">
            <a:avLst/>
          </a:prstGeom>
          <a:noFill/>
          <a:ln>
            <a:noFill/>
          </a:ln>
        </p:spPr>
        <p:txBody>
          <a:bodyPr anchorCtr="0" anchor="t" bIns="45700" lIns="91400" spcFirstLastPara="1" rIns="91400" wrap="square" tIns="45700">
            <a:spAutoFit/>
          </a:bodyPr>
          <a:lstStyle/>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Constitution must be systematically written.</a:t>
            </a:r>
            <a:endParaRPr/>
          </a:p>
          <a:p>
            <a:pPr indent="-387149" lvl="0" marL="514149" marR="0" rtl="0" algn="l">
              <a:spcBef>
                <a:spcPts val="0"/>
              </a:spcBef>
              <a:spcAft>
                <a:spcPts val="0"/>
              </a:spcAft>
              <a:buClr>
                <a:schemeClr val="lt1"/>
              </a:buClr>
              <a:buSzPts val="2000"/>
              <a:buFont typeface="Noto Sans Symbols"/>
              <a:buNone/>
            </a:pPr>
            <a:r>
              <a:t/>
            </a:r>
            <a:endParaRPr sz="2000">
              <a:solidFill>
                <a:schemeClr val="lt1"/>
              </a:solidFill>
              <a:latin typeface="Times New Roman"/>
              <a:ea typeface="Times New Roman"/>
              <a:cs typeface="Times New Roman"/>
              <a:sym typeface="Times New Roman"/>
            </a:endParaRPr>
          </a:p>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It should enjoy supremacy.</a:t>
            </a:r>
            <a:endParaRPr/>
          </a:p>
          <a:p>
            <a:pPr indent="-387149" lvl="0" marL="514149" marR="0" rtl="0" algn="l">
              <a:spcBef>
                <a:spcPts val="0"/>
              </a:spcBef>
              <a:spcAft>
                <a:spcPts val="0"/>
              </a:spcAft>
              <a:buClr>
                <a:schemeClr val="lt1"/>
              </a:buClr>
              <a:buSzPts val="2000"/>
              <a:buFont typeface="Noto Sans Symbols"/>
              <a:buNone/>
            </a:pPr>
            <a:r>
              <a:t/>
            </a:r>
            <a:endParaRPr sz="2000">
              <a:solidFill>
                <a:schemeClr val="lt1"/>
              </a:solidFill>
              <a:latin typeface="Times New Roman"/>
              <a:ea typeface="Times New Roman"/>
              <a:cs typeface="Times New Roman"/>
              <a:sym typeface="Times New Roman"/>
            </a:endParaRPr>
          </a:p>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It should have the ability to develop and change in accordance with the changes in the environment and needs of the people.</a:t>
            </a:r>
            <a:endParaRPr/>
          </a:p>
          <a:p>
            <a:pPr indent="-387149" lvl="0" marL="514149" marR="0" rtl="0" algn="l">
              <a:spcBef>
                <a:spcPts val="0"/>
              </a:spcBef>
              <a:spcAft>
                <a:spcPts val="0"/>
              </a:spcAft>
              <a:buClr>
                <a:schemeClr val="lt1"/>
              </a:buClr>
              <a:buSzPts val="2000"/>
              <a:buFont typeface="Noto Sans Symbols"/>
              <a:buNone/>
            </a:pPr>
            <a:r>
              <a:t/>
            </a:r>
            <a:endParaRPr sz="2000">
              <a:solidFill>
                <a:schemeClr val="lt1"/>
              </a:solidFill>
              <a:latin typeface="Times New Roman"/>
              <a:ea typeface="Times New Roman"/>
              <a:cs typeface="Times New Roman"/>
              <a:sym typeface="Times New Roman"/>
            </a:endParaRPr>
          </a:p>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It should be neither unduly rigid nor unduly flexible.</a:t>
            </a:r>
            <a:endParaRPr/>
          </a:p>
          <a:p>
            <a:pPr indent="-387149" lvl="0" marL="514149" marR="0" rtl="0" algn="l">
              <a:spcBef>
                <a:spcPts val="0"/>
              </a:spcBef>
              <a:spcAft>
                <a:spcPts val="0"/>
              </a:spcAft>
              <a:buClr>
                <a:schemeClr val="lt1"/>
              </a:buClr>
              <a:buSzPts val="2000"/>
              <a:buFont typeface="Noto Sans Symbols"/>
              <a:buNone/>
            </a:pPr>
            <a:r>
              <a:t/>
            </a:r>
            <a:endParaRPr sz="2000">
              <a:solidFill>
                <a:schemeClr val="lt1"/>
              </a:solidFill>
              <a:latin typeface="Times New Roman"/>
              <a:ea typeface="Times New Roman"/>
              <a:cs typeface="Times New Roman"/>
              <a:sym typeface="Times New Roman"/>
            </a:endParaRPr>
          </a:p>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It must provide for Fundamental Rights and Freedoms of the people.</a:t>
            </a:r>
            <a:endParaRPr/>
          </a:p>
          <a:p>
            <a:pPr indent="-387149" lvl="0" marL="514149" marR="0" rtl="0" algn="l">
              <a:spcBef>
                <a:spcPts val="0"/>
              </a:spcBef>
              <a:spcAft>
                <a:spcPts val="0"/>
              </a:spcAft>
              <a:buClr>
                <a:schemeClr val="lt1"/>
              </a:buClr>
              <a:buSzPts val="2000"/>
              <a:buFont typeface="Noto Sans Symbols"/>
              <a:buNone/>
            </a:pPr>
            <a:r>
              <a:t/>
            </a:r>
            <a:endParaRPr sz="2000">
              <a:solidFill>
                <a:schemeClr val="lt1"/>
              </a:solidFill>
              <a:latin typeface="Times New Roman"/>
              <a:ea typeface="Times New Roman"/>
              <a:cs typeface="Times New Roman"/>
              <a:sym typeface="Times New Roman"/>
            </a:endParaRPr>
          </a:p>
          <a:p>
            <a:pPr indent="-514149" lvl="0" marL="514149" marR="0" rtl="0" algn="l">
              <a:spcBef>
                <a:spcPts val="0"/>
              </a:spcBef>
              <a:spcAft>
                <a:spcPts val="0"/>
              </a:spcAft>
              <a:buClr>
                <a:schemeClr val="lt1"/>
              </a:buClr>
              <a:buSzPts val="2000"/>
              <a:buFont typeface="Noto Sans Symbols"/>
              <a:buChar char="✔"/>
            </a:pPr>
            <a:r>
              <a:rPr lang="en-US" sz="2000">
                <a:solidFill>
                  <a:schemeClr val="lt1"/>
                </a:solidFill>
                <a:latin typeface="Times New Roman"/>
                <a:ea typeface="Times New Roman"/>
                <a:cs typeface="Times New Roman"/>
                <a:sym typeface="Times New Roman"/>
              </a:rPr>
              <a:t>It should clearly define the organization, powers, functions ,inter-relations of the government of the state and its three organs.</a:t>
            </a:r>
            <a:endParaRPr/>
          </a:p>
        </p:txBody>
      </p:sp>
    </p:spTree>
  </p:cSld>
  <p:clrMapOvr>
    <a:masterClrMapping/>
  </p:clrMapOvr>
  <p:transition>
    <p:wedg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228600" y="381000"/>
            <a:ext cx="7924800"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0000"/>
              </a:buClr>
              <a:buSzPts val="3200"/>
              <a:buFont typeface="Open Sans"/>
              <a:buNone/>
            </a:pPr>
            <a:r>
              <a:rPr b="1" lang="en-US" sz="3200">
                <a:solidFill>
                  <a:srgbClr val="FF0000"/>
                </a:solidFill>
                <a:latin typeface="Open Sans"/>
                <a:ea typeface="Open Sans"/>
                <a:cs typeface="Open Sans"/>
                <a:sym typeface="Open Sans"/>
              </a:rPr>
              <a:t>Cont…</a:t>
            </a:r>
            <a:endParaRPr b="1" sz="3200">
              <a:solidFill>
                <a:srgbClr val="FF0000"/>
              </a:solidFill>
              <a:latin typeface="Open Sans"/>
              <a:ea typeface="Open Sans"/>
              <a:cs typeface="Open Sans"/>
              <a:sym typeface="Open Sans"/>
            </a:endParaRPr>
          </a:p>
        </p:txBody>
      </p:sp>
      <p:sp>
        <p:nvSpPr>
          <p:cNvPr id="196" name="Google Shape;196;p8"/>
          <p:cNvSpPr/>
          <p:nvPr/>
        </p:nvSpPr>
        <p:spPr>
          <a:xfrm>
            <a:off x="228600" y="1371606"/>
            <a:ext cx="8763000" cy="4154949"/>
          </a:xfrm>
          <a:prstGeom prst="rect">
            <a:avLst/>
          </a:prstGeom>
          <a:noFill/>
          <a:ln>
            <a:noFill/>
          </a:ln>
        </p:spPr>
        <p:txBody>
          <a:bodyPr anchorCtr="0" anchor="t" bIns="45700" lIns="91400" spcFirstLastPara="1" rIns="91400" wrap="square" tIns="45700">
            <a:spAutoFit/>
          </a:bodyPr>
          <a:lstStyle/>
          <a:p>
            <a:pPr indent="-514149" lvl="0" marL="514149" marR="0" rtl="0" algn="just">
              <a:spcBef>
                <a:spcPts val="0"/>
              </a:spcBef>
              <a:spcAft>
                <a:spcPts val="0"/>
              </a:spcAft>
              <a:buClr>
                <a:schemeClr val="lt1"/>
              </a:buClr>
              <a:buSzPts val="2400"/>
              <a:buFont typeface="Noto Sans Symbols"/>
              <a:buChar char="✔"/>
            </a:pPr>
            <a:r>
              <a:rPr lang="en-US" sz="2400">
                <a:solidFill>
                  <a:schemeClr val="lt1"/>
                </a:solidFill>
                <a:latin typeface="Times New Roman"/>
                <a:ea typeface="Times New Roman"/>
                <a:cs typeface="Times New Roman"/>
                <a:sym typeface="Times New Roman"/>
              </a:rPr>
              <a:t>It must provide for the organization of a representative, responsible, limited and accountable government.</a:t>
            </a:r>
            <a:endParaRPr/>
          </a:p>
          <a:p>
            <a:pPr indent="-514149" lvl="0" marL="514149" marR="0" rtl="0" algn="just">
              <a:spcBef>
                <a:spcPts val="0"/>
              </a:spcBef>
              <a:spcAft>
                <a:spcPts val="0"/>
              </a:spcAft>
              <a:buClr>
                <a:schemeClr val="lt1"/>
              </a:buClr>
              <a:buSzPts val="2400"/>
              <a:buFont typeface="Noto Sans Symbols"/>
              <a:buChar char="✔"/>
            </a:pPr>
            <a:r>
              <a:rPr lang="en-US" sz="2400">
                <a:solidFill>
                  <a:schemeClr val="lt1"/>
                </a:solidFill>
                <a:latin typeface="Times New Roman"/>
                <a:ea typeface="Times New Roman"/>
                <a:cs typeface="Times New Roman"/>
                <a:sym typeface="Times New Roman"/>
              </a:rPr>
              <a:t>The language of the constitution should be simple, clear and unambiguous</a:t>
            </a:r>
            <a:endParaRPr/>
          </a:p>
          <a:p>
            <a:pPr indent="-514149" lvl="0" marL="514149" marR="0" rtl="0" algn="just">
              <a:spcBef>
                <a:spcPts val="0"/>
              </a:spcBef>
              <a:spcAft>
                <a:spcPts val="0"/>
              </a:spcAft>
              <a:buClr>
                <a:schemeClr val="lt1"/>
              </a:buClr>
              <a:buSzPts val="2400"/>
              <a:buFont typeface="Noto Sans Symbols"/>
              <a:buChar char="✔"/>
            </a:pPr>
            <a:r>
              <a:rPr lang="en-US" sz="2400">
                <a:solidFill>
                  <a:schemeClr val="lt1"/>
                </a:solidFill>
                <a:latin typeface="Times New Roman"/>
                <a:ea typeface="Times New Roman"/>
                <a:cs typeface="Times New Roman"/>
                <a:sym typeface="Times New Roman"/>
              </a:rPr>
              <a:t>The Constitution must clearly reflect the sovereignty of the people.</a:t>
            </a:r>
            <a:endParaRPr/>
          </a:p>
          <a:p>
            <a:pPr indent="-514149" lvl="0" marL="514149" marR="0" rtl="0" algn="just">
              <a:spcBef>
                <a:spcPts val="0"/>
              </a:spcBef>
              <a:spcAft>
                <a:spcPts val="0"/>
              </a:spcAft>
              <a:buClr>
                <a:schemeClr val="lt1"/>
              </a:buClr>
              <a:buSzPts val="2400"/>
              <a:buFont typeface="Noto Sans Symbols"/>
              <a:buChar char="✔"/>
            </a:pPr>
            <a:r>
              <a:rPr lang="en-US" sz="2400">
                <a:solidFill>
                  <a:schemeClr val="lt1"/>
                </a:solidFill>
                <a:latin typeface="Times New Roman"/>
                <a:ea typeface="Times New Roman"/>
                <a:cs typeface="Times New Roman"/>
                <a:sym typeface="Times New Roman"/>
              </a:rPr>
              <a:t>It must provide for: a) Rule of Law b) De-centralization of powers, c) Independent and powerful Judiciary, d) A system of Local self-government, e) A Sound Method of Amendment of the Constitution, f) Process and Machinery for the conduct of free and fair elections.</a:t>
            </a:r>
            <a:endParaRPr/>
          </a:p>
        </p:txBody>
      </p:sp>
    </p:spTree>
  </p:cSld>
  <p:clrMapOvr>
    <a:masterClrMapping/>
  </p:clrMapOvr>
  <p:transition>
    <p:wedg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ph type="title"/>
          </p:nvPr>
        </p:nvSpPr>
        <p:spPr>
          <a:xfrm>
            <a:off x="190500" y="228600"/>
            <a:ext cx="8737600" cy="685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C00000"/>
              </a:buClr>
              <a:buSzPts val="3000"/>
              <a:buFont typeface="Open Sans"/>
              <a:buNone/>
            </a:pPr>
            <a:r>
              <a:rPr lang="en-US" sz="3000">
                <a:solidFill>
                  <a:srgbClr val="C00000"/>
                </a:solidFill>
                <a:latin typeface="Open Sans"/>
                <a:ea typeface="Open Sans"/>
                <a:cs typeface="Open Sans"/>
                <a:sym typeface="Open Sans"/>
              </a:rPr>
              <a:t>Historical background of BD Constitution</a:t>
            </a:r>
            <a:endParaRPr b="1" sz="3000">
              <a:solidFill>
                <a:srgbClr val="C00000"/>
              </a:solidFill>
              <a:latin typeface="Open Sans"/>
              <a:ea typeface="Open Sans"/>
              <a:cs typeface="Open Sans"/>
              <a:sym typeface="Open Sans"/>
            </a:endParaRPr>
          </a:p>
        </p:txBody>
      </p:sp>
      <p:graphicFrame>
        <p:nvGraphicFramePr>
          <p:cNvPr id="202" name="Google Shape;202;p9"/>
          <p:cNvGraphicFramePr/>
          <p:nvPr/>
        </p:nvGraphicFramePr>
        <p:xfrm>
          <a:off x="362526" y="914400"/>
          <a:ext cx="3000000" cy="3000000"/>
        </p:xfrm>
        <a:graphic>
          <a:graphicData uri="http://schemas.openxmlformats.org/drawingml/2006/table">
            <a:tbl>
              <a:tblPr bandRow="1" firstRow="1">
                <a:noFill/>
                <a:tableStyleId>{0C40E747-C94E-44D6-945E-66A1B8F2A0AE}</a:tableStyleId>
              </a:tblPr>
              <a:tblGrid>
                <a:gridCol w="4282775"/>
                <a:gridCol w="4282775"/>
              </a:tblGrid>
              <a:tr h="228600">
                <a:tc>
                  <a:txBody>
                    <a:bodyPr/>
                    <a:lstStyle/>
                    <a:p>
                      <a:pPr indent="0" lvl="0" marL="0" marR="0" rtl="0" algn="l">
                        <a:spcBef>
                          <a:spcPts val="0"/>
                        </a:spcBef>
                        <a:spcAft>
                          <a:spcPts val="0"/>
                        </a:spcAft>
                        <a:buNone/>
                      </a:pPr>
                      <a:r>
                        <a:rPr lang="en-US" sz="1800" u="none" cap="none" strike="noStrike"/>
                        <a:t>Time</a:t>
                      </a:r>
                      <a:endParaRPr sz="1800"/>
                    </a:p>
                  </a:txBody>
                  <a:tcPr marT="45725" marB="45725" marR="91450" marL="91450"/>
                </a:tc>
                <a:tc>
                  <a:txBody>
                    <a:bodyPr/>
                    <a:lstStyle/>
                    <a:p>
                      <a:pPr indent="0" lvl="0" marL="0" marR="0" rtl="0" algn="l">
                        <a:spcBef>
                          <a:spcPts val="0"/>
                        </a:spcBef>
                        <a:spcAft>
                          <a:spcPts val="0"/>
                        </a:spcAft>
                        <a:buNone/>
                      </a:pPr>
                      <a:r>
                        <a:rPr lang="en-US" sz="1800"/>
                        <a:t>Event</a:t>
                      </a:r>
                      <a:endParaRPr sz="1800"/>
                    </a:p>
                  </a:txBody>
                  <a:tcPr marT="45725" marB="45725" marR="91450" marL="91450"/>
                </a:tc>
              </a:tr>
              <a:tr h="6052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23 March 1972</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lang="en-US" sz="1800">
                          <a:latin typeface="Times New Roman"/>
                          <a:ea typeface="Times New Roman"/>
                          <a:cs typeface="Times New Roman"/>
                          <a:sym typeface="Times New Roman"/>
                        </a:rPr>
                        <a:t>The president issued the Constitution Assembly of Bangladesh Order, 1972. </a:t>
                      </a:r>
                      <a:endParaRPr/>
                    </a:p>
                  </a:txBody>
                  <a:tcPr marT="45725" marB="45725" marR="91450" marL="91450"/>
                </a:tc>
              </a:tr>
              <a:tr h="8795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10</a:t>
                      </a:r>
                      <a:r>
                        <a:rPr b="1" baseline="30000" lang="en-US" sz="1800">
                          <a:latin typeface="Times New Roman"/>
                          <a:ea typeface="Times New Roman"/>
                          <a:cs typeface="Times New Roman"/>
                          <a:sym typeface="Times New Roman"/>
                        </a:rPr>
                        <a:t>th</a:t>
                      </a:r>
                      <a:r>
                        <a:rPr b="1" lang="en-US" sz="1800">
                          <a:latin typeface="Times New Roman"/>
                          <a:ea typeface="Times New Roman"/>
                          <a:cs typeface="Times New Roman"/>
                          <a:sym typeface="Times New Roman"/>
                        </a:rPr>
                        <a:t>  April 1972- </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lang="en-US" sz="1800">
                          <a:latin typeface="Times New Roman"/>
                          <a:ea typeface="Times New Roman"/>
                          <a:cs typeface="Times New Roman"/>
                          <a:sym typeface="Times New Roman"/>
                        </a:rPr>
                        <a:t>Constituent Assembly held its first meeting.</a:t>
                      </a:r>
                      <a:r>
                        <a:rPr b="1" lang="en-US" sz="1800">
                          <a:latin typeface="Times New Roman"/>
                          <a:ea typeface="Times New Roman"/>
                          <a:cs typeface="Times New Roman"/>
                          <a:sym typeface="Times New Roman"/>
                        </a:rPr>
                        <a:t> 404 (out of 469) Assembly members took part</a:t>
                      </a:r>
                      <a:r>
                        <a:rPr lang="en-US" sz="1800">
                          <a:latin typeface="Times New Roman"/>
                          <a:ea typeface="Times New Roman"/>
                          <a:cs typeface="Times New Roman"/>
                          <a:sym typeface="Times New Roman"/>
                        </a:rPr>
                        <a:t> in the proceedings. </a:t>
                      </a:r>
                      <a:endParaRPr/>
                    </a:p>
                  </a:txBody>
                  <a:tcPr marT="45725" marB="45725" marR="91450" marL="91450"/>
                </a:tc>
              </a:tr>
              <a:tr h="11843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11 April 1972</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lang="en-US" sz="1800">
                          <a:latin typeface="Times New Roman"/>
                          <a:ea typeface="Times New Roman"/>
                          <a:cs typeface="Times New Roman"/>
                          <a:sym typeface="Times New Roman"/>
                        </a:rPr>
                        <a:t>Constitution Drafting Committee was formed consisting of 34 members  which chaired by Dr. Kamal Hossain where Razia  Banu was only female person.</a:t>
                      </a:r>
                      <a:endParaRPr/>
                    </a:p>
                  </a:txBody>
                  <a:tcPr marT="45725" marB="45725" marR="91450" marL="91450"/>
                </a:tc>
              </a:tr>
              <a:tr h="6814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12 October 1972</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lang="en-US" sz="1800">
                          <a:latin typeface="Times New Roman"/>
                          <a:ea typeface="Times New Roman"/>
                          <a:cs typeface="Times New Roman"/>
                          <a:sym typeface="Times New Roman"/>
                        </a:rPr>
                        <a:t>The Constitution Bill was introduced in the Assembly for consideration.  </a:t>
                      </a:r>
                      <a:endParaRPr/>
                    </a:p>
                  </a:txBody>
                  <a:tcPr marT="45725" marB="45725" marR="91450" marL="91450"/>
                </a:tc>
              </a:tr>
              <a:tr h="9261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04 November 1972</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lang="en-US" sz="1800">
                          <a:latin typeface="Times New Roman"/>
                          <a:ea typeface="Times New Roman"/>
                          <a:cs typeface="Times New Roman"/>
                          <a:sym typeface="Times New Roman"/>
                        </a:rPr>
                        <a:t>The Constitution of Bangladesh was formally adopted by the national assembly. </a:t>
                      </a:r>
                      <a:endParaRPr/>
                    </a:p>
                  </a:txBody>
                  <a:tcPr marT="45725" marB="45725" marR="91450" marL="91450"/>
                </a:tc>
              </a:tr>
              <a:tr h="926125">
                <a:tc>
                  <a:txBody>
                    <a:bodyPr/>
                    <a:lstStyle/>
                    <a:p>
                      <a:pPr indent="0" lvl="0" marL="0" marR="0" rtl="0" algn="l">
                        <a:spcBef>
                          <a:spcPts val="0"/>
                        </a:spcBef>
                        <a:spcAft>
                          <a:spcPts val="0"/>
                        </a:spcAft>
                        <a:buNone/>
                      </a:pPr>
                      <a:r>
                        <a:rPr b="1" lang="en-US" sz="1800">
                          <a:latin typeface="Times New Roman"/>
                          <a:ea typeface="Times New Roman"/>
                          <a:cs typeface="Times New Roman"/>
                          <a:sym typeface="Times New Roman"/>
                        </a:rPr>
                        <a:t>16 December  1972</a:t>
                      </a:r>
                      <a:endParaRPr sz="1800"/>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Times New Roman"/>
                        <a:buNone/>
                      </a:pPr>
                      <a:r>
                        <a:rPr b="1" lang="en-US" sz="1800">
                          <a:latin typeface="Times New Roman"/>
                          <a:ea typeface="Times New Roman"/>
                          <a:cs typeface="Times New Roman"/>
                          <a:sym typeface="Times New Roman"/>
                        </a:rPr>
                        <a:t>T</a:t>
                      </a:r>
                      <a:r>
                        <a:rPr lang="en-US" sz="1800">
                          <a:latin typeface="Times New Roman"/>
                          <a:ea typeface="Times New Roman"/>
                          <a:cs typeface="Times New Roman"/>
                          <a:sym typeface="Times New Roman"/>
                        </a:rPr>
                        <a:t>he constitution came into force. The Constitution has 153 Articles arranged under eleven parts and 4 schedules. </a:t>
                      </a:r>
                      <a:endParaRPr/>
                    </a:p>
                    <a:p>
                      <a:pPr indent="0" lvl="0" marL="0" marR="0" rtl="0" algn="l">
                        <a:lnSpc>
                          <a:spcPct val="100000"/>
                        </a:lnSpc>
                        <a:spcBef>
                          <a:spcPts val="0"/>
                        </a:spcBef>
                        <a:spcAft>
                          <a:spcPts val="0"/>
                        </a:spcAft>
                        <a:buClr>
                          <a:schemeClr val="lt1"/>
                        </a:buClr>
                        <a:buSzPts val="1800"/>
                        <a:buFont typeface="Century Gothic"/>
                        <a:buNone/>
                      </a:pPr>
                      <a:r>
                        <a:t/>
                      </a:r>
                      <a:endParaRPr sz="18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transition>
    <p:wipe dir="d"/>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txBox="1"/>
          <p:nvPr>
            <p:ph idx="1" type="body"/>
          </p:nvPr>
        </p:nvSpPr>
        <p:spPr>
          <a:xfrm>
            <a:off x="533400" y="4038610"/>
            <a:ext cx="4038600" cy="2133601"/>
          </a:xfrm>
          <a:prstGeom prst="rect">
            <a:avLst/>
          </a:prstGeom>
          <a:noFill/>
          <a:ln>
            <a:noFill/>
          </a:ln>
        </p:spPr>
        <p:txBody>
          <a:bodyPr anchorCtr="0" anchor="t" bIns="45700" lIns="91425" spcFirstLastPara="1" rIns="91425" wrap="square" tIns="45700">
            <a:normAutofit/>
          </a:bodyPr>
          <a:lstStyle/>
          <a:p>
            <a:pPr indent="-342906" lvl="0" marL="342906" rtl="0" algn="just">
              <a:spcBef>
                <a:spcPts val="0"/>
              </a:spcBef>
              <a:spcAft>
                <a:spcPts val="0"/>
              </a:spcAft>
              <a:buSzPts val="2560"/>
              <a:buFont typeface="Noto Sans Symbols"/>
              <a:buChar char="❑"/>
            </a:pPr>
            <a:r>
              <a:rPr lang="en-US" sz="3200">
                <a:latin typeface="Open Sans"/>
                <a:ea typeface="Open Sans"/>
                <a:cs typeface="Open Sans"/>
                <a:sym typeface="Open Sans"/>
              </a:rPr>
              <a:t> </a:t>
            </a:r>
            <a:r>
              <a:rPr lang="en-US" sz="2400">
                <a:latin typeface="Times New Roman"/>
                <a:ea typeface="Times New Roman"/>
                <a:cs typeface="Times New Roman"/>
                <a:sym typeface="Times New Roman"/>
              </a:rPr>
              <a:t>Prime Minister Sheikh Mujibur Rahman signs the Constitution of Bangladesh into law on 16 December 1972.</a:t>
            </a:r>
            <a:endParaRPr sz="2400">
              <a:latin typeface="Times New Roman"/>
              <a:ea typeface="Times New Roman"/>
              <a:cs typeface="Times New Roman"/>
              <a:sym typeface="Times New Roman"/>
            </a:endParaRPr>
          </a:p>
        </p:txBody>
      </p:sp>
      <p:pic>
        <p:nvPicPr>
          <p:cNvPr descr="http://upload.wikimedia.org/wikipedia/en/a/a4/Sheikh_Mujib_Bangladesh_Constitution.jpg" id="208" name="Google Shape;208;p10"/>
          <p:cNvPicPr preferRelativeResize="0"/>
          <p:nvPr>
            <p:ph idx="2" type="body"/>
          </p:nvPr>
        </p:nvPicPr>
        <p:blipFill rotWithShape="1">
          <a:blip r:embed="rId3">
            <a:alphaModFix/>
          </a:blip>
          <a:srcRect b="0" l="0" r="0" t="0"/>
          <a:stretch/>
        </p:blipFill>
        <p:spPr>
          <a:xfrm>
            <a:off x="4648200" y="381000"/>
            <a:ext cx="3962400" cy="5867400"/>
          </a:xfrm>
          <a:prstGeom prst="rect">
            <a:avLst/>
          </a:prstGeom>
          <a:noFill/>
          <a:ln>
            <a:noFill/>
          </a:ln>
        </p:spPr>
      </p:pic>
      <p:pic>
        <p:nvPicPr>
          <p:cNvPr descr="http://alalodulaldotorg.files.wordpress.com/2013/05/hridoyebd201101111294757962_bangladesh_constitution2.jpg" id="209" name="Google Shape;209;p10"/>
          <p:cNvPicPr preferRelativeResize="0"/>
          <p:nvPr/>
        </p:nvPicPr>
        <p:blipFill rotWithShape="1">
          <a:blip r:embed="rId4">
            <a:alphaModFix/>
          </a:blip>
          <a:srcRect b="0" l="0" r="0" t="0"/>
          <a:stretch/>
        </p:blipFill>
        <p:spPr>
          <a:xfrm>
            <a:off x="533400" y="381010"/>
            <a:ext cx="3886200" cy="34587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txBox="1"/>
          <p:nvPr>
            <p:ph type="title"/>
          </p:nvPr>
        </p:nvSpPr>
        <p:spPr>
          <a:xfrm>
            <a:off x="819150" y="0"/>
            <a:ext cx="743585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3000"/>
              <a:buFont typeface="Open Sans"/>
              <a:buNone/>
            </a:pPr>
            <a:r>
              <a:rPr b="1" lang="en-US" sz="3000">
                <a:solidFill>
                  <a:srgbClr val="FF0000"/>
                </a:solidFill>
                <a:latin typeface="Open Sans"/>
                <a:ea typeface="Open Sans"/>
                <a:cs typeface="Open Sans"/>
                <a:sym typeface="Open Sans"/>
              </a:rPr>
              <a:t>Bangladesh Constitution: At a Glance</a:t>
            </a:r>
            <a:endParaRPr sz="3000">
              <a:solidFill>
                <a:srgbClr val="FF0000"/>
              </a:solidFill>
              <a:latin typeface="Open Sans"/>
              <a:ea typeface="Open Sans"/>
              <a:cs typeface="Open Sans"/>
              <a:sym typeface="Open Sans"/>
            </a:endParaRPr>
          </a:p>
        </p:txBody>
      </p:sp>
      <p:sp>
        <p:nvSpPr>
          <p:cNvPr id="215" name="Google Shape;215;p11"/>
          <p:cNvSpPr txBox="1"/>
          <p:nvPr>
            <p:ph idx="1" type="body"/>
          </p:nvPr>
        </p:nvSpPr>
        <p:spPr>
          <a:xfrm>
            <a:off x="254000" y="1016000"/>
            <a:ext cx="8572500" cy="56134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760"/>
              <a:buNone/>
            </a:pPr>
            <a:r>
              <a:rPr lang="en-US" sz="2200">
                <a:latin typeface="Open Sans"/>
                <a:ea typeface="Open Sans"/>
                <a:cs typeface="Open Sans"/>
                <a:sym typeface="Open Sans"/>
              </a:rPr>
              <a:t>The constitution of Bangladesh has 11 parts, 153 articles, one preamble and seven schedules. It has brought 17 times changes in the constitution of Bangladesh till today. </a:t>
            </a:r>
            <a:endParaRPr/>
          </a:p>
          <a:p>
            <a:pPr indent="0" lvl="0" marL="0" rtl="0" algn="just">
              <a:spcBef>
                <a:spcPts val="0"/>
              </a:spcBef>
              <a:spcAft>
                <a:spcPts val="0"/>
              </a:spcAft>
              <a:buSzPts val="960"/>
              <a:buNone/>
            </a:pPr>
            <a:r>
              <a:t/>
            </a:r>
            <a:endParaRPr sz="1200">
              <a:latin typeface="Open Sans"/>
              <a:ea typeface="Open Sans"/>
              <a:cs typeface="Open Sans"/>
              <a:sym typeface="Open Sans"/>
            </a:endParaRP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type="title"/>
          </p:nvPr>
        </p:nvSpPr>
        <p:spPr>
          <a:xfrm>
            <a:off x="228600" y="190500"/>
            <a:ext cx="89154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0000"/>
              </a:buClr>
              <a:buSzPts val="3000"/>
              <a:buFont typeface="Open Sans"/>
              <a:buNone/>
            </a:pPr>
            <a:r>
              <a:rPr lang="en-US" sz="3000">
                <a:solidFill>
                  <a:srgbClr val="FF0000"/>
                </a:solidFill>
                <a:latin typeface="Open Sans"/>
                <a:ea typeface="Open Sans"/>
                <a:cs typeface="Open Sans"/>
                <a:sym typeface="Open Sans"/>
              </a:rPr>
              <a:t>Common Features of BD Constitution</a:t>
            </a:r>
            <a:endParaRPr sz="3000">
              <a:solidFill>
                <a:srgbClr val="FF0000"/>
              </a:solidFill>
              <a:latin typeface="Open Sans"/>
              <a:ea typeface="Open Sans"/>
              <a:cs typeface="Open Sans"/>
              <a:sym typeface="Open Sans"/>
            </a:endParaRPr>
          </a:p>
        </p:txBody>
      </p:sp>
      <p:sp>
        <p:nvSpPr>
          <p:cNvPr id="221" name="Google Shape;221;p12"/>
          <p:cNvSpPr txBox="1"/>
          <p:nvPr>
            <p:ph idx="1" type="body"/>
          </p:nvPr>
        </p:nvSpPr>
        <p:spPr>
          <a:xfrm>
            <a:off x="190500" y="1016000"/>
            <a:ext cx="8953500" cy="5537200"/>
          </a:xfrm>
          <a:prstGeom prst="rect">
            <a:avLst/>
          </a:prstGeom>
          <a:noFill/>
          <a:ln>
            <a:noFill/>
          </a:ln>
        </p:spPr>
        <p:txBody>
          <a:bodyPr anchorCtr="0" anchor="t" bIns="45700" lIns="91425" spcFirstLastPara="1" rIns="91425" wrap="square" tIns="45700">
            <a:noAutofit/>
          </a:bodyPr>
          <a:lstStyle/>
          <a:p>
            <a:pPr indent="-342906" lvl="0" marL="342906" rtl="0" algn="just">
              <a:spcBef>
                <a:spcPts val="0"/>
              </a:spcBef>
              <a:spcAft>
                <a:spcPts val="0"/>
              </a:spcAft>
              <a:buSzPts val="1600"/>
              <a:buFont typeface="Noto Sans Symbols"/>
              <a:buChar char="❑"/>
            </a:pPr>
            <a:r>
              <a:rPr b="1" lang="en-US" sz="2000">
                <a:latin typeface="Open Sans"/>
                <a:ea typeface="Open Sans"/>
                <a:cs typeface="Open Sans"/>
                <a:sym typeface="Open Sans"/>
              </a:rPr>
              <a:t>Rigid Constitution: </a:t>
            </a:r>
            <a:r>
              <a:rPr lang="en-US" sz="2000">
                <a:latin typeface="Open Sans"/>
                <a:ea typeface="Open Sans"/>
                <a:cs typeface="Open Sans"/>
                <a:sym typeface="Open Sans"/>
              </a:rPr>
              <a:t>The Constitution of Bangladesh is rigid one. An amended can be passed only by votes of two-thirds members in the total members of parliament. </a:t>
            </a:r>
            <a:endParaRPr/>
          </a:p>
          <a:p>
            <a:pPr indent="-342906" lvl="0" marL="342906" rtl="0" algn="just">
              <a:spcBef>
                <a:spcPts val="1000"/>
              </a:spcBef>
              <a:spcAft>
                <a:spcPts val="0"/>
              </a:spcAft>
              <a:buSzPts val="1600"/>
              <a:buFont typeface="Noto Sans Symbols"/>
              <a:buChar char="❑"/>
            </a:pPr>
            <a:r>
              <a:rPr b="1" lang="en-US" sz="2000">
                <a:latin typeface="Open Sans"/>
                <a:ea typeface="Open Sans"/>
                <a:cs typeface="Open Sans"/>
                <a:sym typeface="Open Sans"/>
              </a:rPr>
              <a:t>Written Constitution: </a:t>
            </a:r>
            <a:r>
              <a:rPr lang="en-US" sz="2000">
                <a:latin typeface="Open Sans"/>
                <a:ea typeface="Open Sans"/>
                <a:cs typeface="Open Sans"/>
                <a:sym typeface="Open Sans"/>
              </a:rPr>
              <a:t>The Constitution of the people Republic of Bangladesh is  a written document. </a:t>
            </a:r>
            <a:endParaRPr/>
          </a:p>
          <a:p>
            <a:pPr indent="-342906" lvl="0" marL="342906" rtl="0" algn="just">
              <a:spcBef>
                <a:spcPts val="1000"/>
              </a:spcBef>
              <a:spcAft>
                <a:spcPts val="0"/>
              </a:spcAft>
              <a:buSzPts val="1600"/>
              <a:buFont typeface="Noto Sans Symbols"/>
              <a:buChar char="❑"/>
            </a:pPr>
            <a:r>
              <a:rPr b="1" lang="en-US" sz="2000">
                <a:latin typeface="Open Sans"/>
                <a:ea typeface="Open Sans"/>
                <a:cs typeface="Open Sans"/>
                <a:sym typeface="Open Sans"/>
              </a:rPr>
              <a:t>Preamble: </a:t>
            </a:r>
            <a:r>
              <a:rPr lang="en-US" sz="2000">
                <a:latin typeface="Open Sans"/>
                <a:ea typeface="Open Sans"/>
                <a:cs typeface="Open Sans"/>
                <a:sym typeface="Open Sans"/>
              </a:rPr>
              <a:t>The constitution of Bangladesh starts with a preamble which is described as the guiding star of the Constitution. </a:t>
            </a:r>
            <a:endParaRPr/>
          </a:p>
          <a:p>
            <a:pPr indent="-342906" lvl="0" marL="342906" rtl="0" algn="just">
              <a:spcBef>
                <a:spcPts val="1000"/>
              </a:spcBef>
              <a:spcAft>
                <a:spcPts val="0"/>
              </a:spcAft>
              <a:buSzPts val="1600"/>
              <a:buFont typeface="Noto Sans Symbols"/>
              <a:buChar char="❑"/>
            </a:pPr>
            <a:r>
              <a:rPr b="1" lang="en-US" sz="2000">
                <a:latin typeface="Open Sans"/>
                <a:ea typeface="Open Sans"/>
                <a:cs typeface="Open Sans"/>
                <a:sym typeface="Open Sans"/>
              </a:rPr>
              <a:t>Supremacy of the Constitution: </a:t>
            </a:r>
            <a:r>
              <a:rPr lang="en-US">
                <a:latin typeface="Open Sans"/>
                <a:ea typeface="Open Sans"/>
                <a:cs typeface="Open Sans"/>
                <a:sym typeface="Open Sans"/>
              </a:rPr>
              <a:t>Supremacy of </a:t>
            </a:r>
            <a:r>
              <a:rPr b="1" lang="en-US">
                <a:latin typeface="Open Sans"/>
                <a:ea typeface="Open Sans"/>
                <a:cs typeface="Open Sans"/>
                <a:sym typeface="Open Sans"/>
              </a:rPr>
              <a:t>t</a:t>
            </a:r>
            <a:r>
              <a:rPr lang="en-US" sz="2000">
                <a:latin typeface="Open Sans"/>
                <a:ea typeface="Open Sans"/>
                <a:cs typeface="Open Sans"/>
                <a:sym typeface="Open Sans"/>
              </a:rPr>
              <a:t>he Constitution has been ensured by the Article 7</a:t>
            </a:r>
            <a:r>
              <a:rPr lang="en-US">
                <a:latin typeface="Open Sans"/>
                <a:ea typeface="Open Sans"/>
                <a:cs typeface="Open Sans"/>
                <a:sym typeface="Open Sans"/>
              </a:rPr>
              <a:t> of the </a:t>
            </a:r>
            <a:r>
              <a:rPr lang="en-US">
                <a:latin typeface="Open Sans"/>
                <a:ea typeface="Open Sans"/>
                <a:cs typeface="Open Sans"/>
                <a:sym typeface="Open Sans"/>
              </a:rPr>
              <a:t>Constitution.</a:t>
            </a:r>
            <a:endParaRPr sz="2000">
              <a:latin typeface="Open Sans"/>
              <a:ea typeface="Open Sans"/>
              <a:cs typeface="Open Sans"/>
              <a:sym typeface="Open Sans"/>
            </a:endParaRPr>
          </a:p>
          <a:p>
            <a:pPr indent="-342906" lvl="0" marL="342906" rtl="0" algn="just">
              <a:spcBef>
                <a:spcPts val="1000"/>
              </a:spcBef>
              <a:spcAft>
                <a:spcPts val="0"/>
              </a:spcAft>
              <a:buSzPts val="1600"/>
              <a:buFont typeface="Noto Sans Symbols"/>
              <a:buChar char="❑"/>
            </a:pPr>
            <a:r>
              <a:rPr b="1" lang="en-US" sz="2000">
                <a:latin typeface="Open Sans"/>
                <a:ea typeface="Open Sans"/>
                <a:cs typeface="Open Sans"/>
                <a:sym typeface="Open Sans"/>
              </a:rPr>
              <a:t>Unitary Government System: </a:t>
            </a:r>
            <a:r>
              <a:rPr lang="en-US" sz="2000">
                <a:latin typeface="Open Sans"/>
                <a:ea typeface="Open Sans"/>
                <a:cs typeface="Open Sans"/>
                <a:sym typeface="Open Sans"/>
              </a:rPr>
              <a:t>Article 1 of the Constitution provides that Bangladesh is a unitary people’s republic. </a:t>
            </a:r>
            <a:endParaRPr sz="2000">
              <a:latin typeface="Open Sans"/>
              <a:ea typeface="Open Sans"/>
              <a:cs typeface="Open Sans"/>
              <a:sym typeface="Open Sans"/>
            </a:endParaRPr>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type="title"/>
          </p:nvPr>
        </p:nvSpPr>
        <p:spPr>
          <a:xfrm>
            <a:off x="484710" y="452718"/>
            <a:ext cx="7055380" cy="76648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Common Features of BD Constitution</a:t>
            </a:r>
            <a:endParaRPr/>
          </a:p>
        </p:txBody>
      </p:sp>
      <p:sp>
        <p:nvSpPr>
          <p:cNvPr id="227" name="Google Shape;227;p13"/>
          <p:cNvSpPr txBox="1"/>
          <p:nvPr>
            <p:ph idx="1" type="body"/>
          </p:nvPr>
        </p:nvSpPr>
        <p:spPr>
          <a:xfrm>
            <a:off x="450074" y="1752600"/>
            <a:ext cx="8354490" cy="4195481"/>
          </a:xfrm>
          <a:prstGeom prst="rect">
            <a:avLst/>
          </a:prstGeom>
          <a:noFill/>
          <a:ln>
            <a:noFill/>
          </a:ln>
        </p:spPr>
        <p:txBody>
          <a:bodyPr anchorCtr="0" anchor="t" bIns="45700" lIns="91425" spcFirstLastPara="1" rIns="91425" wrap="square" tIns="45700">
            <a:normAutofit/>
          </a:bodyPr>
          <a:lstStyle/>
          <a:p>
            <a:pPr indent="-342906" lvl="0" marL="342906" rtl="0" algn="just">
              <a:spcBef>
                <a:spcPts val="0"/>
              </a:spcBef>
              <a:spcAft>
                <a:spcPts val="0"/>
              </a:spcAft>
              <a:buSzPts val="1600"/>
              <a:buFont typeface="Noto Sans Symbols"/>
              <a:buChar char="❑"/>
            </a:pPr>
            <a:r>
              <a:rPr b="1" lang="en-US">
                <a:latin typeface="Times New Roman"/>
                <a:ea typeface="Times New Roman"/>
                <a:cs typeface="Times New Roman"/>
                <a:sym typeface="Times New Roman"/>
              </a:rPr>
              <a:t>Unicameral Legislature: </a:t>
            </a:r>
            <a:r>
              <a:rPr lang="en-US">
                <a:latin typeface="Times New Roman"/>
                <a:ea typeface="Times New Roman"/>
                <a:cs typeface="Times New Roman"/>
                <a:sym typeface="Times New Roman"/>
              </a:rPr>
              <a:t>Article 65 of the Constitution provides Unicameral Legislature for Bangladesh. It is only one house, which known as “House of the Nation”. </a:t>
            </a:r>
            <a:endParaRPr/>
          </a:p>
          <a:p>
            <a:pPr indent="-342906" lvl="0" marL="342906" rtl="0" algn="just">
              <a:spcBef>
                <a:spcPts val="1000"/>
              </a:spcBef>
              <a:spcAft>
                <a:spcPts val="0"/>
              </a:spcAft>
              <a:buSzPts val="1600"/>
              <a:buFont typeface="Noto Sans Symbols"/>
              <a:buChar char="❑"/>
            </a:pPr>
            <a:r>
              <a:rPr b="1" lang="en-US">
                <a:latin typeface="Times New Roman"/>
                <a:ea typeface="Times New Roman"/>
                <a:cs typeface="Times New Roman"/>
                <a:sym typeface="Times New Roman"/>
              </a:rPr>
              <a:t>Fundamental Principle of State Policy: </a:t>
            </a:r>
            <a:r>
              <a:rPr lang="en-US">
                <a:latin typeface="Times New Roman"/>
                <a:ea typeface="Times New Roman"/>
                <a:cs typeface="Times New Roman"/>
                <a:sym typeface="Times New Roman"/>
              </a:rPr>
              <a:t>Article 8 of the Constitution provides for four major fundamental principle of state policy. a)Nationalism b)Democracy c)Socialism d)Secularism</a:t>
            </a:r>
            <a:endParaRPr/>
          </a:p>
          <a:p>
            <a:pPr indent="-342906" lvl="0" marL="342906" rtl="0" algn="just">
              <a:spcBef>
                <a:spcPts val="1000"/>
              </a:spcBef>
              <a:spcAft>
                <a:spcPts val="0"/>
              </a:spcAft>
              <a:buSzPts val="1600"/>
              <a:buFont typeface="Noto Sans Symbols"/>
              <a:buChar char="❑"/>
            </a:pPr>
            <a:r>
              <a:rPr b="1" lang="en-US">
                <a:latin typeface="Times New Roman"/>
                <a:ea typeface="Times New Roman"/>
                <a:cs typeface="Times New Roman"/>
                <a:sym typeface="Times New Roman"/>
              </a:rPr>
              <a:t>Fundamental Rights: </a:t>
            </a:r>
            <a:r>
              <a:rPr lang="en-US">
                <a:latin typeface="Times New Roman"/>
                <a:ea typeface="Times New Roman"/>
                <a:cs typeface="Times New Roman"/>
                <a:sym typeface="Times New Roman"/>
              </a:rPr>
              <a:t>Part III of the Constitution provides for 18 fundamental rights. The enjoyment and enforcement of those rights have been guaranteed in the Constitution. </a:t>
            </a:r>
            <a:endParaRPr/>
          </a:p>
          <a:p>
            <a:pPr indent="0" lvl="0" marL="0" rtl="0" algn="just">
              <a:spcBef>
                <a:spcPts val="1000"/>
              </a:spcBef>
              <a:spcAft>
                <a:spcPts val="0"/>
              </a:spcAft>
              <a:buSzPts val="1600"/>
              <a:buNone/>
            </a:pPr>
            <a:r>
              <a:t/>
            </a:r>
            <a:endParaRPr>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type="title"/>
          </p:nvPr>
        </p:nvSpPr>
        <p:spPr>
          <a:xfrm>
            <a:off x="228600" y="0"/>
            <a:ext cx="89154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0000"/>
              </a:buClr>
              <a:buSzPts val="3000"/>
              <a:buFont typeface="Open Sans"/>
              <a:buNone/>
            </a:pPr>
            <a:r>
              <a:rPr lang="en-US" sz="3000">
                <a:solidFill>
                  <a:srgbClr val="FF0000"/>
                </a:solidFill>
                <a:latin typeface="Open Sans"/>
                <a:ea typeface="Open Sans"/>
                <a:cs typeface="Open Sans"/>
                <a:sym typeface="Open Sans"/>
              </a:rPr>
              <a:t>Common Features of BD Constitution</a:t>
            </a:r>
            <a:endParaRPr sz="3000">
              <a:solidFill>
                <a:srgbClr val="FF0000"/>
              </a:solidFill>
              <a:latin typeface="Open Sans"/>
              <a:ea typeface="Open Sans"/>
              <a:cs typeface="Open Sans"/>
              <a:sym typeface="Open Sans"/>
            </a:endParaRPr>
          </a:p>
        </p:txBody>
      </p:sp>
      <p:sp>
        <p:nvSpPr>
          <p:cNvPr id="233" name="Google Shape;233;p14"/>
          <p:cNvSpPr txBox="1"/>
          <p:nvPr>
            <p:ph idx="1" type="body"/>
          </p:nvPr>
        </p:nvSpPr>
        <p:spPr>
          <a:xfrm>
            <a:off x="27709" y="804718"/>
            <a:ext cx="8953500" cy="5905500"/>
          </a:xfrm>
          <a:prstGeom prst="rect">
            <a:avLst/>
          </a:prstGeom>
          <a:noFill/>
          <a:ln>
            <a:noFill/>
          </a:ln>
        </p:spPr>
        <p:txBody>
          <a:bodyPr anchorCtr="0" anchor="t" bIns="45700" lIns="91425" spcFirstLastPara="1" rIns="91425" wrap="square" tIns="45700">
            <a:noAutofit/>
          </a:bodyPr>
          <a:lstStyle/>
          <a:p>
            <a:pPr indent="-342906" lvl="0" marL="342906" rtl="0" algn="just">
              <a:spcBef>
                <a:spcPts val="0"/>
              </a:spcBef>
              <a:spcAft>
                <a:spcPts val="0"/>
              </a:spcAft>
              <a:buSzPts val="1760"/>
              <a:buFont typeface="Noto Sans Symbols"/>
              <a:buChar char="❑"/>
            </a:pPr>
            <a:r>
              <a:rPr b="1" lang="en-US" sz="2200">
                <a:latin typeface="Times New Roman"/>
                <a:ea typeface="Times New Roman"/>
                <a:cs typeface="Times New Roman"/>
                <a:sym typeface="Times New Roman"/>
              </a:rPr>
              <a:t>Parliamentary form of Government: </a:t>
            </a:r>
            <a:r>
              <a:rPr lang="en-US" sz="2200">
                <a:latin typeface="Times New Roman"/>
                <a:ea typeface="Times New Roman"/>
                <a:cs typeface="Times New Roman"/>
                <a:sym typeface="Times New Roman"/>
              </a:rPr>
              <a:t>The Constitution of Bangladesh provides for a Westminster type of parliamentary system. This form of government means that the government is run by cabinet of Ministers headed by the Prime Minister. </a:t>
            </a:r>
            <a:endParaRPr/>
          </a:p>
          <a:p>
            <a:pPr indent="-342906" lvl="0" marL="342906" rtl="0" algn="just">
              <a:spcBef>
                <a:spcPts val="1000"/>
              </a:spcBef>
              <a:spcAft>
                <a:spcPts val="0"/>
              </a:spcAft>
              <a:buSzPts val="1760"/>
              <a:buFont typeface="Noto Sans Symbols"/>
              <a:buChar char="❑"/>
            </a:pPr>
            <a:r>
              <a:rPr b="1" lang="en-US" sz="2200">
                <a:latin typeface="Times New Roman"/>
                <a:ea typeface="Times New Roman"/>
                <a:cs typeface="Times New Roman"/>
                <a:sym typeface="Times New Roman"/>
              </a:rPr>
              <a:t>Independence of Judiciary: </a:t>
            </a:r>
            <a:r>
              <a:rPr lang="en-US" sz="2200">
                <a:latin typeface="Times New Roman"/>
                <a:ea typeface="Times New Roman"/>
                <a:cs typeface="Times New Roman"/>
                <a:sym typeface="Times New Roman"/>
              </a:rPr>
              <a:t>The Constitution of 1972 ensured the independence of Judiciary  by the Article 22.  </a:t>
            </a:r>
            <a:endParaRPr/>
          </a:p>
          <a:p>
            <a:pPr indent="-342906" lvl="0" marL="342906" rtl="0" algn="just">
              <a:spcBef>
                <a:spcPts val="1000"/>
              </a:spcBef>
              <a:spcAft>
                <a:spcPts val="0"/>
              </a:spcAft>
              <a:buSzPts val="1760"/>
              <a:buFont typeface="Noto Sans Symbols"/>
              <a:buChar char="❑"/>
            </a:pPr>
            <a:r>
              <a:rPr b="1" lang="en-US" sz="2200">
                <a:latin typeface="Times New Roman"/>
                <a:ea typeface="Times New Roman"/>
                <a:cs typeface="Times New Roman"/>
                <a:sym typeface="Times New Roman"/>
              </a:rPr>
              <a:t>Provisions for Ombudsman: </a:t>
            </a:r>
            <a:r>
              <a:rPr lang="en-US" sz="2200">
                <a:latin typeface="Times New Roman"/>
                <a:ea typeface="Times New Roman"/>
                <a:cs typeface="Times New Roman"/>
                <a:sym typeface="Times New Roman"/>
              </a:rPr>
              <a:t>Provisions for the establishment of an Ombudsman were inserted in Article (77) to provide machinery to overview the activities of civil bureaucracy, to eradicate corruption in the administration </a:t>
            </a:r>
            <a:endParaRPr/>
          </a:p>
          <a:p>
            <a:pPr indent="-342906" lvl="0" marL="342906" rtl="0" algn="just">
              <a:spcBef>
                <a:spcPts val="1000"/>
              </a:spcBef>
              <a:spcAft>
                <a:spcPts val="0"/>
              </a:spcAft>
              <a:buSzPts val="1760"/>
              <a:buFont typeface="Noto Sans Symbols"/>
              <a:buChar char="❑"/>
            </a:pPr>
            <a:r>
              <a:rPr b="1" lang="en-US" sz="2200">
                <a:latin typeface="Times New Roman"/>
                <a:ea typeface="Times New Roman"/>
                <a:cs typeface="Times New Roman"/>
                <a:sym typeface="Times New Roman"/>
              </a:rPr>
              <a:t>Responsible Govt. not ensured: </a:t>
            </a:r>
            <a:r>
              <a:rPr lang="en-US" sz="2200">
                <a:latin typeface="Times New Roman"/>
                <a:ea typeface="Times New Roman"/>
                <a:cs typeface="Times New Roman"/>
                <a:sym typeface="Times New Roman"/>
              </a:rPr>
              <a:t>Article 55(3) provides that the cabinet shall be collectively responsible to the parliament; this responsibility cannot be ensured in practice due to the barrier created by the Article 70 of the Constitution. </a:t>
            </a:r>
            <a:endParaRP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nvSpPr>
        <p:spPr>
          <a:xfrm>
            <a:off x="4381500" y="5943608"/>
            <a:ext cx="4495800" cy="400075"/>
          </a:xfrm>
          <a:prstGeom prst="rect">
            <a:avLst/>
          </a:prstGeom>
          <a:noFill/>
          <a:ln>
            <a:noFill/>
          </a:ln>
        </p:spPr>
        <p:txBody>
          <a:bodyPr anchorCtr="0" anchor="t" bIns="45700" lIns="91400" spcFirstLastPara="1" rIns="91400" wrap="square" tIns="45700">
            <a:spAutoFit/>
          </a:bodyPr>
          <a:lstStyle/>
          <a:p>
            <a:pPr indent="0" lvl="0" marL="0" marR="0" rtl="0" algn="r">
              <a:spcBef>
                <a:spcPts val="0"/>
              </a:spcBef>
              <a:spcAft>
                <a:spcPts val="0"/>
              </a:spcAft>
              <a:buNone/>
            </a:pPr>
            <a:r>
              <a:rPr b="1" lang="en-US" sz="2000">
                <a:solidFill>
                  <a:srgbClr val="0070C0"/>
                </a:solidFill>
                <a:latin typeface="Open Sans"/>
                <a:ea typeface="Open Sans"/>
                <a:cs typeface="Open Sans"/>
                <a:sym typeface="Open Sans"/>
              </a:rPr>
              <a:t>Insight of  the Jatiyo Sangsad </a:t>
            </a:r>
            <a:endParaRPr i="1" sz="2000">
              <a:solidFill>
                <a:srgbClr val="0070C0"/>
              </a:solidFill>
              <a:latin typeface="Open Sans"/>
              <a:ea typeface="Open Sans"/>
              <a:cs typeface="Open Sans"/>
              <a:sym typeface="Open Sans"/>
            </a:endParaRPr>
          </a:p>
        </p:txBody>
      </p:sp>
      <p:pic>
        <p:nvPicPr>
          <p:cNvPr descr="http://upload.wikimedia.org/wikipedia/commons/4/46/Sangshad_Assembly_Hall.jpg" id="239" name="Google Shape;239;p15"/>
          <p:cNvPicPr preferRelativeResize="0"/>
          <p:nvPr/>
        </p:nvPicPr>
        <p:blipFill rotWithShape="1">
          <a:blip r:embed="rId3">
            <a:alphaModFix/>
          </a:blip>
          <a:srcRect b="0" l="0" r="0" t="0"/>
          <a:stretch/>
        </p:blipFill>
        <p:spPr>
          <a:xfrm>
            <a:off x="990600" y="533410"/>
            <a:ext cx="7886700" cy="5257801"/>
          </a:xfrm>
          <a:prstGeom prst="rect">
            <a:avLst/>
          </a:prstGeom>
          <a:noFill/>
          <a:ln>
            <a:noFill/>
          </a:ln>
        </p:spPr>
      </p:pic>
    </p:spTree>
  </p:cSld>
  <p:clrMapOvr>
    <a:masterClrMapping/>
  </p:clrMapOvr>
  <p:transition>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type="title"/>
          </p:nvPr>
        </p:nvSpPr>
        <p:spPr>
          <a:xfrm>
            <a:off x="0" y="0"/>
            <a:ext cx="91440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3000"/>
              <a:buFont typeface="Open Sans"/>
              <a:buNone/>
            </a:pPr>
            <a:r>
              <a:rPr lang="en-US" sz="3000">
                <a:latin typeface="Open Sans"/>
                <a:ea typeface="Open Sans"/>
                <a:cs typeface="Open Sans"/>
                <a:sym typeface="Open Sans"/>
              </a:rPr>
              <a:t>Fundamental Principles of Bangladesh </a:t>
            </a:r>
            <a:endParaRPr sz="3000">
              <a:latin typeface="Open Sans"/>
              <a:ea typeface="Open Sans"/>
              <a:cs typeface="Open Sans"/>
              <a:sym typeface="Open Sans"/>
            </a:endParaRPr>
          </a:p>
        </p:txBody>
      </p:sp>
      <p:sp>
        <p:nvSpPr>
          <p:cNvPr id="245" name="Google Shape;245;p16"/>
          <p:cNvSpPr txBox="1"/>
          <p:nvPr>
            <p:ph idx="1" type="body"/>
          </p:nvPr>
        </p:nvSpPr>
        <p:spPr>
          <a:xfrm>
            <a:off x="190500" y="1016000"/>
            <a:ext cx="8953500" cy="56515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760"/>
              <a:buNone/>
            </a:pPr>
            <a:r>
              <a:rPr lang="en-US" sz="2200">
                <a:latin typeface="Open Sans"/>
                <a:ea typeface="Open Sans"/>
                <a:cs typeface="Open Sans"/>
                <a:sym typeface="Open Sans"/>
              </a:rPr>
              <a:t>Fundamental principles of state policy indicate those principles which are used as a guideline in formulating different policies. The fundamental principles have been stated in </a:t>
            </a:r>
            <a:r>
              <a:rPr b="1" lang="en-US" sz="2200">
                <a:solidFill>
                  <a:srgbClr val="0070C0"/>
                </a:solidFill>
                <a:latin typeface="Open Sans"/>
                <a:ea typeface="Open Sans"/>
                <a:cs typeface="Open Sans"/>
                <a:sym typeface="Open Sans"/>
              </a:rPr>
              <a:t>Article-8. </a:t>
            </a:r>
            <a:endParaRPr/>
          </a:p>
          <a:p>
            <a:pPr indent="0" lvl="0" marL="0" rtl="0" algn="just">
              <a:spcBef>
                <a:spcPts val="500"/>
              </a:spcBef>
              <a:spcAft>
                <a:spcPts val="0"/>
              </a:spcAft>
              <a:buSzPts val="640"/>
              <a:buNone/>
            </a:pPr>
            <a:r>
              <a:t/>
            </a:r>
            <a:endParaRPr sz="800">
              <a:latin typeface="Open Sans"/>
              <a:ea typeface="Open Sans"/>
              <a:cs typeface="Open Sans"/>
              <a:sym typeface="Open Sans"/>
            </a:endParaRPr>
          </a:p>
          <a:p>
            <a:pPr indent="0" lvl="0" marL="0" rtl="0" algn="just">
              <a:spcBef>
                <a:spcPts val="500"/>
              </a:spcBef>
              <a:spcAft>
                <a:spcPts val="0"/>
              </a:spcAft>
              <a:buSzPts val="1760"/>
              <a:buNone/>
            </a:pPr>
            <a:r>
              <a:rPr lang="en-US" sz="2200">
                <a:solidFill>
                  <a:srgbClr val="00B0F0"/>
                </a:solidFill>
                <a:latin typeface="Open Sans"/>
                <a:ea typeface="Open Sans"/>
                <a:cs typeface="Open Sans"/>
                <a:sym typeface="Open Sans"/>
              </a:rPr>
              <a:t>Nationalism: </a:t>
            </a:r>
            <a:r>
              <a:rPr lang="en-US" sz="2200">
                <a:latin typeface="Open Sans"/>
                <a:ea typeface="Open Sans"/>
                <a:cs typeface="Open Sans"/>
                <a:sym typeface="Open Sans"/>
              </a:rPr>
              <a:t>Nationalism which has been achieved from the culture, belief and struggle of the war of independence. </a:t>
            </a:r>
            <a:r>
              <a:rPr b="1" lang="en-US" sz="2200">
                <a:solidFill>
                  <a:srgbClr val="0070C0"/>
                </a:solidFill>
                <a:latin typeface="Open Sans"/>
                <a:ea typeface="Open Sans"/>
                <a:cs typeface="Open Sans"/>
                <a:sym typeface="Open Sans"/>
              </a:rPr>
              <a:t>(Article 9) </a:t>
            </a:r>
            <a:endParaRPr/>
          </a:p>
          <a:p>
            <a:pPr indent="0" lvl="0" marL="0" rtl="0" algn="just">
              <a:spcBef>
                <a:spcPts val="500"/>
              </a:spcBef>
              <a:spcAft>
                <a:spcPts val="0"/>
              </a:spcAft>
              <a:buSzPts val="640"/>
              <a:buNone/>
            </a:pPr>
            <a:r>
              <a:t/>
            </a:r>
            <a:endParaRPr sz="800">
              <a:latin typeface="Open Sans"/>
              <a:ea typeface="Open Sans"/>
              <a:cs typeface="Open Sans"/>
              <a:sym typeface="Open Sans"/>
            </a:endParaRPr>
          </a:p>
          <a:p>
            <a:pPr indent="0" lvl="0" marL="0" rtl="0" algn="just">
              <a:spcBef>
                <a:spcPts val="500"/>
              </a:spcBef>
              <a:spcAft>
                <a:spcPts val="0"/>
              </a:spcAft>
              <a:buSzPts val="1760"/>
              <a:buNone/>
            </a:pPr>
            <a:r>
              <a:rPr lang="en-US" sz="2200">
                <a:solidFill>
                  <a:srgbClr val="00B0F0"/>
                </a:solidFill>
                <a:latin typeface="Open Sans"/>
                <a:ea typeface="Open Sans"/>
                <a:cs typeface="Open Sans"/>
                <a:sym typeface="Open Sans"/>
              </a:rPr>
              <a:t>Socialism: </a:t>
            </a:r>
            <a:r>
              <a:rPr lang="en-US" sz="2200">
                <a:latin typeface="Open Sans"/>
                <a:ea typeface="Open Sans"/>
                <a:cs typeface="Open Sans"/>
                <a:sym typeface="Open Sans"/>
              </a:rPr>
              <a:t>In order to avoid the extortion of wealth and economic imbalance, socialism has been taken as fundamental principles of state policy</a:t>
            </a:r>
            <a:r>
              <a:rPr lang="en-US" sz="2200">
                <a:solidFill>
                  <a:srgbClr val="0070C0"/>
                </a:solidFill>
                <a:latin typeface="Open Sans"/>
                <a:ea typeface="Open Sans"/>
                <a:cs typeface="Open Sans"/>
                <a:sym typeface="Open Sans"/>
              </a:rPr>
              <a:t>. </a:t>
            </a:r>
            <a:r>
              <a:rPr b="1" lang="en-US" sz="2200">
                <a:solidFill>
                  <a:srgbClr val="0070C0"/>
                </a:solidFill>
                <a:latin typeface="Open Sans"/>
                <a:ea typeface="Open Sans"/>
                <a:cs typeface="Open Sans"/>
                <a:sym typeface="Open Sans"/>
              </a:rPr>
              <a:t>(Article 10)</a:t>
            </a:r>
            <a:endParaRPr/>
          </a:p>
          <a:p>
            <a:pPr indent="0" lvl="0" marL="0" rtl="0" algn="just">
              <a:spcBef>
                <a:spcPts val="500"/>
              </a:spcBef>
              <a:spcAft>
                <a:spcPts val="0"/>
              </a:spcAft>
              <a:buSzPts val="640"/>
              <a:buNone/>
            </a:pPr>
            <a:r>
              <a:t/>
            </a:r>
            <a:endParaRPr sz="800">
              <a:latin typeface="Open Sans"/>
              <a:ea typeface="Open Sans"/>
              <a:cs typeface="Open Sans"/>
              <a:sym typeface="Open Sans"/>
            </a:endParaRPr>
          </a:p>
          <a:p>
            <a:pPr indent="0" lvl="0" marL="0" rtl="0" algn="just">
              <a:spcBef>
                <a:spcPts val="500"/>
              </a:spcBef>
              <a:spcAft>
                <a:spcPts val="0"/>
              </a:spcAft>
              <a:buSzPts val="1760"/>
              <a:buNone/>
            </a:pPr>
            <a:r>
              <a:rPr lang="en-US" sz="2200">
                <a:solidFill>
                  <a:srgbClr val="00B0F0"/>
                </a:solidFill>
                <a:latin typeface="Open Sans"/>
                <a:ea typeface="Open Sans"/>
                <a:cs typeface="Open Sans"/>
                <a:sym typeface="Open Sans"/>
              </a:rPr>
              <a:t>Democracy: </a:t>
            </a:r>
            <a:r>
              <a:rPr lang="en-US" sz="2200">
                <a:latin typeface="Open Sans"/>
                <a:ea typeface="Open Sans"/>
                <a:cs typeface="Open Sans"/>
                <a:sym typeface="Open Sans"/>
              </a:rPr>
              <a:t>To ensure the human rights and people's participation, democracy has been included as a fundamental principle of state policy in Bangladesh</a:t>
            </a:r>
            <a:r>
              <a:rPr lang="en-US" sz="2200">
                <a:solidFill>
                  <a:srgbClr val="0070C0"/>
                </a:solidFill>
                <a:latin typeface="Open Sans"/>
                <a:ea typeface="Open Sans"/>
                <a:cs typeface="Open Sans"/>
                <a:sym typeface="Open Sans"/>
              </a:rPr>
              <a:t>. </a:t>
            </a:r>
            <a:r>
              <a:rPr b="1" lang="en-US" sz="2200">
                <a:solidFill>
                  <a:srgbClr val="0070C0"/>
                </a:solidFill>
                <a:latin typeface="Open Sans"/>
                <a:ea typeface="Open Sans"/>
                <a:cs typeface="Open Sans"/>
                <a:sym typeface="Open Sans"/>
              </a:rPr>
              <a:t>(Article 11)</a:t>
            </a:r>
            <a:endParaRPr/>
          </a:p>
          <a:p>
            <a:pPr indent="0" lvl="0" marL="0" rtl="0" algn="just">
              <a:spcBef>
                <a:spcPts val="500"/>
              </a:spcBef>
              <a:spcAft>
                <a:spcPts val="0"/>
              </a:spcAft>
              <a:buSzPts val="640"/>
              <a:buNone/>
            </a:pPr>
            <a:r>
              <a:t/>
            </a:r>
            <a:endParaRPr sz="800">
              <a:latin typeface="Open Sans"/>
              <a:ea typeface="Open Sans"/>
              <a:cs typeface="Open Sans"/>
              <a:sym typeface="Open Sans"/>
            </a:endParaRPr>
          </a:p>
          <a:p>
            <a:pPr indent="0" lvl="0" marL="0" rtl="0" algn="just">
              <a:spcBef>
                <a:spcPts val="500"/>
              </a:spcBef>
              <a:spcAft>
                <a:spcPts val="0"/>
              </a:spcAft>
              <a:buSzPts val="1760"/>
              <a:buNone/>
            </a:pPr>
            <a:r>
              <a:rPr lang="en-US" sz="2200">
                <a:solidFill>
                  <a:srgbClr val="00B0F0"/>
                </a:solidFill>
                <a:latin typeface="Open Sans"/>
                <a:ea typeface="Open Sans"/>
                <a:cs typeface="Open Sans"/>
                <a:sym typeface="Open Sans"/>
              </a:rPr>
              <a:t>Secularism: </a:t>
            </a:r>
            <a:r>
              <a:rPr lang="en-US" sz="2200">
                <a:latin typeface="Open Sans"/>
                <a:ea typeface="Open Sans"/>
                <a:cs typeface="Open Sans"/>
                <a:sym typeface="Open Sans"/>
              </a:rPr>
              <a:t>Constitution gives the freedom of religion and prohibits the abuse of religion in the name of politics</a:t>
            </a:r>
            <a:r>
              <a:rPr lang="en-US" sz="2200">
                <a:solidFill>
                  <a:srgbClr val="0070C0"/>
                </a:solidFill>
                <a:latin typeface="Open Sans"/>
                <a:ea typeface="Open Sans"/>
                <a:cs typeface="Open Sans"/>
                <a:sym typeface="Open Sans"/>
              </a:rPr>
              <a:t>. </a:t>
            </a:r>
            <a:r>
              <a:rPr b="1" lang="en-US" sz="2200">
                <a:solidFill>
                  <a:srgbClr val="0070C0"/>
                </a:solidFill>
                <a:latin typeface="Open Sans"/>
                <a:ea typeface="Open Sans"/>
                <a:cs typeface="Open Sans"/>
                <a:sym typeface="Open Sans"/>
              </a:rPr>
              <a:t>(Article 12)</a:t>
            </a:r>
            <a:endParaRPr/>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0" y="190500"/>
            <a:ext cx="91440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0000"/>
              </a:buClr>
              <a:buSzPts val="3000"/>
              <a:buFont typeface="Times New Roman"/>
              <a:buNone/>
            </a:pPr>
            <a:r>
              <a:rPr lang="en-US" sz="3000">
                <a:solidFill>
                  <a:srgbClr val="FF0000"/>
                </a:solidFill>
                <a:latin typeface="Times New Roman"/>
                <a:ea typeface="Times New Roman"/>
                <a:cs typeface="Times New Roman"/>
                <a:sym typeface="Times New Roman"/>
              </a:rPr>
              <a:t>Fundamental Rights of the citizen </a:t>
            </a:r>
            <a:endParaRPr sz="3000">
              <a:solidFill>
                <a:srgbClr val="FF0000"/>
              </a:solidFill>
              <a:latin typeface="Times New Roman"/>
              <a:ea typeface="Times New Roman"/>
              <a:cs typeface="Times New Roman"/>
              <a:sym typeface="Times New Roman"/>
            </a:endParaRPr>
          </a:p>
        </p:txBody>
      </p:sp>
      <p:sp>
        <p:nvSpPr>
          <p:cNvPr id="251" name="Google Shape;251;p17"/>
          <p:cNvSpPr txBox="1"/>
          <p:nvPr>
            <p:ph idx="1" type="body"/>
          </p:nvPr>
        </p:nvSpPr>
        <p:spPr>
          <a:xfrm>
            <a:off x="190500" y="1016000"/>
            <a:ext cx="8953500" cy="58420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840"/>
              <a:buNone/>
            </a:pPr>
            <a:r>
              <a:rPr lang="en-US" sz="2300">
                <a:latin typeface="Times New Roman"/>
                <a:ea typeface="Times New Roman"/>
                <a:cs typeface="Times New Roman"/>
                <a:sym typeface="Times New Roman"/>
              </a:rPr>
              <a:t>The  Fundamental Rights listed in the Bangladesh Constitution may be classified into following groups:</a:t>
            </a:r>
            <a:endParaRPr/>
          </a:p>
          <a:p>
            <a:pPr indent="0" lvl="0" marL="0" rtl="0" algn="just">
              <a:spcBef>
                <a:spcPts val="0"/>
              </a:spcBef>
              <a:spcAft>
                <a:spcPts val="0"/>
              </a:spcAft>
              <a:buSzPts val="1760"/>
              <a:buNone/>
            </a:pPr>
            <a:r>
              <a:t/>
            </a:r>
            <a:endParaRPr sz="2200">
              <a:latin typeface="Open Sans"/>
              <a:ea typeface="Open Sans"/>
              <a:cs typeface="Open Sans"/>
              <a:sym typeface="Open Sans"/>
            </a:endParaRPr>
          </a:p>
          <a:p>
            <a:pPr indent="-428506" lvl="0" marL="428506" rtl="0" algn="l">
              <a:spcBef>
                <a:spcPts val="0"/>
              </a:spcBef>
              <a:spcAft>
                <a:spcPts val="0"/>
              </a:spcAft>
              <a:buSzPts val="2400"/>
              <a:buAutoNum type="alphaUcPeriod"/>
            </a:pPr>
            <a:r>
              <a:rPr lang="en-US" sz="3000">
                <a:solidFill>
                  <a:srgbClr val="FF0000"/>
                </a:solidFill>
                <a:latin typeface="Open Sans"/>
                <a:ea typeface="Open Sans"/>
                <a:cs typeface="Open Sans"/>
                <a:sym typeface="Open Sans"/>
              </a:rPr>
              <a:t>Absolute Rights:</a:t>
            </a:r>
            <a:endParaRPr/>
          </a:p>
          <a:p>
            <a:pPr indent="-428506" lvl="0" marL="428506" rtl="0" algn="ctr">
              <a:spcBef>
                <a:spcPts val="0"/>
              </a:spcBef>
              <a:spcAft>
                <a:spcPts val="0"/>
              </a:spcAft>
              <a:buSzPts val="640"/>
              <a:buNone/>
            </a:pPr>
            <a:r>
              <a:t/>
            </a:r>
            <a:endParaRPr sz="800">
              <a:solidFill>
                <a:srgbClr val="00B0F0"/>
              </a:solidFill>
              <a:latin typeface="Open Sans"/>
              <a:ea typeface="Open Sans"/>
              <a:cs typeface="Open Sans"/>
              <a:sym typeface="Open Sans"/>
            </a:endParaRPr>
          </a:p>
          <a:p>
            <a:pPr indent="-111760" lvl="0" marL="0" rtl="0" algn="just">
              <a:spcBef>
                <a:spcPts val="500"/>
              </a:spcBef>
              <a:spcAft>
                <a:spcPts val="0"/>
              </a:spcAft>
              <a:buSzPts val="1760"/>
              <a:buAutoNum type="arabicPeriod"/>
            </a:pPr>
            <a:r>
              <a:rPr lang="en-US" sz="2200">
                <a:latin typeface="Times New Roman"/>
                <a:ea typeface="Times New Roman"/>
                <a:cs typeface="Times New Roman"/>
                <a:sym typeface="Times New Roman"/>
              </a:rPr>
              <a:t>Equality before law 				          	                 (Article 27)</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Discrimination on grounds of religion 		             (Article 28)</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Equity of opportunity in public employment 	             (Article 29)</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Prohibition of foreign titles 			         		   (Article 30)</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Safeguards as to arrest and detention                           (Article 33)</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Prohibition of forced labor                                             (Article 34)</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Protection in respect of trial and punishment             (Article 35)</a:t>
            </a:r>
            <a:endParaRPr/>
          </a:p>
          <a:p>
            <a:pPr indent="-111760" lvl="0" marL="0" rtl="0" algn="just">
              <a:spcBef>
                <a:spcPts val="1000"/>
              </a:spcBef>
              <a:spcAft>
                <a:spcPts val="0"/>
              </a:spcAft>
              <a:buSzPts val="1760"/>
              <a:buAutoNum type="arabicPeriod"/>
            </a:pPr>
            <a:r>
              <a:rPr lang="en-US" sz="2200">
                <a:latin typeface="Times New Roman"/>
                <a:ea typeface="Times New Roman"/>
                <a:cs typeface="Times New Roman"/>
                <a:sym typeface="Times New Roman"/>
              </a:rPr>
              <a:t> Enforcement of Fundamental Rights   		             (Article 44)</a:t>
            </a:r>
            <a:endParaRPr/>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ph type="title"/>
          </p:nvPr>
        </p:nvSpPr>
        <p:spPr>
          <a:xfrm>
            <a:off x="0" y="0"/>
            <a:ext cx="91440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70C0"/>
              </a:buClr>
              <a:buSzPts val="3000"/>
              <a:buFont typeface="Open Sans"/>
              <a:buNone/>
            </a:pPr>
            <a:r>
              <a:rPr lang="en-US" sz="3000">
                <a:solidFill>
                  <a:srgbClr val="0070C0"/>
                </a:solidFill>
                <a:latin typeface="Open Sans"/>
                <a:ea typeface="Open Sans"/>
                <a:cs typeface="Open Sans"/>
                <a:sym typeface="Open Sans"/>
              </a:rPr>
              <a:t>Fundamental Rights of the citizen </a:t>
            </a:r>
            <a:endParaRPr sz="3000">
              <a:solidFill>
                <a:srgbClr val="0070C0"/>
              </a:solidFill>
              <a:latin typeface="Open Sans"/>
              <a:ea typeface="Open Sans"/>
              <a:cs typeface="Open Sans"/>
              <a:sym typeface="Open Sans"/>
            </a:endParaRPr>
          </a:p>
        </p:txBody>
      </p:sp>
      <p:sp>
        <p:nvSpPr>
          <p:cNvPr id="257" name="Google Shape;257;p18"/>
          <p:cNvSpPr txBox="1"/>
          <p:nvPr>
            <p:ph idx="1" type="body"/>
          </p:nvPr>
        </p:nvSpPr>
        <p:spPr>
          <a:xfrm>
            <a:off x="171450" y="825500"/>
            <a:ext cx="8801100" cy="5613400"/>
          </a:xfrm>
          <a:prstGeom prst="rect">
            <a:avLst/>
          </a:prstGeom>
          <a:noFill/>
          <a:ln>
            <a:noFill/>
          </a:ln>
        </p:spPr>
        <p:txBody>
          <a:bodyPr anchorCtr="0" anchor="t" bIns="45700" lIns="91425" spcFirstLastPara="1" rIns="91425" wrap="square" tIns="45700">
            <a:noAutofit/>
          </a:bodyPr>
          <a:lstStyle/>
          <a:p>
            <a:pPr indent="-428523" lvl="0" marL="428523" rtl="0" algn="just">
              <a:spcBef>
                <a:spcPts val="0"/>
              </a:spcBef>
              <a:spcAft>
                <a:spcPts val="0"/>
              </a:spcAft>
              <a:buSzPts val="1920"/>
              <a:buNone/>
            </a:pPr>
            <a:r>
              <a:rPr b="1" lang="en-US" sz="2400">
                <a:solidFill>
                  <a:srgbClr val="0070C0"/>
                </a:solidFill>
                <a:latin typeface="Times New Roman"/>
                <a:ea typeface="Times New Roman"/>
                <a:cs typeface="Times New Roman"/>
                <a:sym typeface="Times New Roman"/>
              </a:rPr>
              <a:t>B</a:t>
            </a:r>
            <a:r>
              <a:rPr b="1" lang="en-US">
                <a:solidFill>
                  <a:srgbClr val="0070C0"/>
                </a:solidFill>
                <a:latin typeface="Times New Roman"/>
                <a:ea typeface="Times New Roman"/>
                <a:cs typeface="Times New Roman"/>
                <a:sym typeface="Times New Roman"/>
              </a:rPr>
              <a:t>. </a:t>
            </a:r>
            <a:r>
              <a:rPr b="1" lang="en-US">
                <a:solidFill>
                  <a:srgbClr val="FF0000"/>
                </a:solidFill>
                <a:latin typeface="Times New Roman"/>
                <a:ea typeface="Times New Roman"/>
                <a:cs typeface="Times New Roman"/>
                <a:sym typeface="Times New Roman"/>
              </a:rPr>
              <a:t>Rights on which reasonable restriction can be imposed</a:t>
            </a:r>
            <a:r>
              <a:rPr b="1" lang="en-US">
                <a:solidFill>
                  <a:srgbClr val="0070C0"/>
                </a:solidFill>
                <a:latin typeface="Times New Roman"/>
                <a:ea typeface="Times New Roman"/>
                <a:cs typeface="Times New Roman"/>
                <a:sym typeface="Times New Roman"/>
              </a:rPr>
              <a:t>:</a:t>
            </a:r>
            <a:endParaRPr/>
          </a:p>
          <a:p>
            <a:pPr indent="-428523" lvl="0" marL="428523" rtl="0" algn="ctr">
              <a:spcBef>
                <a:spcPts val="0"/>
              </a:spcBef>
              <a:spcAft>
                <a:spcPts val="0"/>
              </a:spcAft>
              <a:buSzPts val="1600"/>
              <a:buNone/>
            </a:pPr>
            <a:r>
              <a:t/>
            </a:r>
            <a:endParaRPr>
              <a:solidFill>
                <a:srgbClr val="00B0F0"/>
              </a:solidFill>
              <a:latin typeface="Times New Roman"/>
              <a:ea typeface="Times New Roman"/>
              <a:cs typeface="Times New Roman"/>
              <a:sym typeface="Times New Roman"/>
            </a:endParaRPr>
          </a:p>
          <a:p>
            <a:pPr indent="-428523" lvl="0" marL="428523" rtl="0" algn="just">
              <a:spcBef>
                <a:spcPts val="0"/>
              </a:spcBef>
              <a:spcAft>
                <a:spcPts val="0"/>
              </a:spcAft>
              <a:buSzPts val="1600"/>
              <a:buAutoNum type="arabicPeriod"/>
            </a:pPr>
            <a:r>
              <a:rPr lang="en-US">
                <a:latin typeface="Times New Roman"/>
                <a:ea typeface="Times New Roman"/>
                <a:cs typeface="Times New Roman"/>
                <a:sym typeface="Times New Roman"/>
              </a:rPr>
              <a:t>Freedom of movement 				                (Article 36)</a:t>
            </a:r>
            <a:endParaRPr/>
          </a:p>
          <a:p>
            <a:pPr indent="-428523" lvl="0" marL="428523" rtl="0" algn="just">
              <a:spcBef>
                <a:spcPts val="0"/>
              </a:spcBef>
              <a:spcAft>
                <a:spcPts val="0"/>
              </a:spcAft>
              <a:buSzPts val="1600"/>
              <a:buAutoNum type="arabicPeriod"/>
            </a:pPr>
            <a:r>
              <a:rPr lang="en-US">
                <a:latin typeface="Times New Roman"/>
                <a:ea typeface="Times New Roman"/>
                <a:cs typeface="Times New Roman"/>
                <a:sym typeface="Times New Roman"/>
              </a:rPr>
              <a:t>Freedom of Assembly 				                          (Article 37)</a:t>
            </a:r>
            <a:endParaRPr/>
          </a:p>
          <a:p>
            <a:pPr indent="-428523" lvl="0" marL="428523" rtl="0" algn="just">
              <a:spcBef>
                <a:spcPts val="0"/>
              </a:spcBef>
              <a:spcAft>
                <a:spcPts val="0"/>
              </a:spcAft>
              <a:buSzPts val="1600"/>
              <a:buAutoNum type="arabicPeriod"/>
            </a:pPr>
            <a:r>
              <a:rPr lang="en-US">
                <a:latin typeface="Times New Roman"/>
                <a:ea typeface="Times New Roman"/>
                <a:cs typeface="Times New Roman"/>
                <a:sym typeface="Times New Roman"/>
              </a:rPr>
              <a:t>Freedom of Association 				                (Article 38)</a:t>
            </a:r>
            <a:endParaRPr/>
          </a:p>
          <a:p>
            <a:pPr indent="-428523" lvl="0" marL="428523" rtl="0" algn="just">
              <a:spcBef>
                <a:spcPts val="0"/>
              </a:spcBef>
              <a:spcAft>
                <a:spcPts val="0"/>
              </a:spcAft>
              <a:buSzPts val="1600"/>
              <a:buAutoNum type="arabicPeriod"/>
            </a:pPr>
            <a:r>
              <a:rPr lang="en-US">
                <a:latin typeface="Times New Roman"/>
                <a:ea typeface="Times New Roman"/>
                <a:cs typeface="Times New Roman"/>
                <a:sym typeface="Times New Roman"/>
              </a:rPr>
              <a:t>Freedom of Thought and conscience and of Speech (Article 39)</a:t>
            </a:r>
            <a:endParaRPr/>
          </a:p>
          <a:p>
            <a:pPr indent="-342906" lvl="0" marL="342906" rtl="0" algn="just">
              <a:spcBef>
                <a:spcPts val="1000"/>
              </a:spcBef>
              <a:spcAft>
                <a:spcPts val="0"/>
              </a:spcAft>
              <a:buSzPts val="1600"/>
              <a:buNone/>
            </a:pPr>
            <a:r>
              <a:rPr lang="en-US">
                <a:latin typeface="Times New Roman"/>
                <a:ea typeface="Times New Roman"/>
                <a:cs typeface="Times New Roman"/>
                <a:sym typeface="Times New Roman"/>
              </a:rPr>
              <a:t>5. Freedom of Religion 				                          (Article 41)</a:t>
            </a:r>
            <a:endParaRPr/>
          </a:p>
          <a:p>
            <a:pPr indent="-342906" lvl="0" marL="342906" rtl="0" algn="just">
              <a:spcBef>
                <a:spcPts val="1000"/>
              </a:spcBef>
              <a:spcAft>
                <a:spcPts val="0"/>
              </a:spcAft>
              <a:buSzPts val="1600"/>
              <a:buNone/>
            </a:pPr>
            <a:r>
              <a:rPr lang="en-US">
                <a:latin typeface="Times New Roman"/>
                <a:ea typeface="Times New Roman"/>
                <a:cs typeface="Times New Roman"/>
                <a:sym typeface="Times New Roman"/>
              </a:rPr>
              <a:t>6. Protection of home and correspondence 	                (Article 43)</a:t>
            </a:r>
            <a:endParaRPr b="1">
              <a:solidFill>
                <a:srgbClr val="FFFF00"/>
              </a:solidFill>
              <a:latin typeface="Times New Roman"/>
              <a:ea typeface="Times New Roman"/>
              <a:cs typeface="Times New Roman"/>
              <a:sym typeface="Times New Roman"/>
            </a:endParaRPr>
          </a:p>
          <a:p>
            <a:pPr indent="-342906" lvl="0" marL="342906" rtl="0" algn="just">
              <a:spcBef>
                <a:spcPts val="1000"/>
              </a:spcBef>
              <a:spcAft>
                <a:spcPts val="0"/>
              </a:spcAft>
              <a:buSzPts val="1600"/>
              <a:buNone/>
            </a:pPr>
            <a:r>
              <a:rPr b="1" lang="en-US">
                <a:solidFill>
                  <a:srgbClr val="0070C0"/>
                </a:solidFill>
                <a:latin typeface="Times New Roman"/>
                <a:ea typeface="Times New Roman"/>
                <a:cs typeface="Times New Roman"/>
                <a:sym typeface="Times New Roman"/>
              </a:rPr>
              <a:t>C. </a:t>
            </a:r>
            <a:r>
              <a:rPr b="1" lang="en-US">
                <a:solidFill>
                  <a:srgbClr val="FF0000"/>
                </a:solidFill>
                <a:latin typeface="Times New Roman"/>
                <a:ea typeface="Times New Roman"/>
                <a:cs typeface="Times New Roman"/>
                <a:sym typeface="Times New Roman"/>
              </a:rPr>
              <a:t>Fundamental Rights which has been practically left to the legislature:</a:t>
            </a:r>
            <a:endParaRPr/>
          </a:p>
          <a:p>
            <a:pPr indent="-428523" lvl="0" marL="428523" rtl="0" algn="just">
              <a:spcBef>
                <a:spcPts val="1000"/>
              </a:spcBef>
              <a:spcAft>
                <a:spcPts val="0"/>
              </a:spcAft>
              <a:buSzPts val="1600"/>
              <a:buAutoNum type="arabicPeriod"/>
            </a:pPr>
            <a:r>
              <a:rPr lang="en-US">
                <a:latin typeface="Times New Roman"/>
                <a:ea typeface="Times New Roman"/>
                <a:cs typeface="Times New Roman"/>
                <a:sym typeface="Times New Roman"/>
              </a:rPr>
              <a:t>Right to protection of Law 		                         	      (Article 31)</a:t>
            </a:r>
            <a:endParaRPr/>
          </a:p>
          <a:p>
            <a:pPr indent="-428523" lvl="0" marL="428523" rtl="0" algn="just">
              <a:spcBef>
                <a:spcPts val="1000"/>
              </a:spcBef>
              <a:spcAft>
                <a:spcPts val="0"/>
              </a:spcAft>
              <a:buSzPts val="1600"/>
              <a:buAutoNum type="arabicPeriod"/>
            </a:pPr>
            <a:r>
              <a:rPr lang="en-US">
                <a:latin typeface="Times New Roman"/>
                <a:ea typeface="Times New Roman"/>
                <a:cs typeface="Times New Roman"/>
                <a:sym typeface="Times New Roman"/>
              </a:rPr>
              <a:t>Protection of right to life and personal liberty                (Article 32)</a:t>
            </a:r>
            <a:endParaRPr/>
          </a:p>
          <a:p>
            <a:pPr indent="-428523" lvl="0" marL="428523" rtl="0" algn="just">
              <a:spcBef>
                <a:spcPts val="1000"/>
              </a:spcBef>
              <a:spcAft>
                <a:spcPts val="0"/>
              </a:spcAft>
              <a:buSzPts val="1600"/>
              <a:buAutoNum type="arabicPeriod"/>
            </a:pPr>
            <a:r>
              <a:rPr lang="en-US">
                <a:latin typeface="Times New Roman"/>
                <a:ea typeface="Times New Roman"/>
                <a:cs typeface="Times New Roman"/>
                <a:sym typeface="Times New Roman"/>
              </a:rPr>
              <a:t>Right to lawful profession, occupation or business        (Article 40)</a:t>
            </a:r>
            <a:endParaRPr/>
          </a:p>
          <a:p>
            <a:pPr indent="-428523" lvl="0" marL="428523" rtl="0" algn="just">
              <a:spcBef>
                <a:spcPts val="1000"/>
              </a:spcBef>
              <a:spcAft>
                <a:spcPts val="0"/>
              </a:spcAft>
              <a:buSzPts val="1760"/>
              <a:buAutoNum type="arabicPeriod"/>
            </a:pPr>
            <a:r>
              <a:rPr lang="en-US">
                <a:latin typeface="Times New Roman"/>
                <a:ea typeface="Times New Roman"/>
                <a:cs typeface="Times New Roman"/>
                <a:sym typeface="Times New Roman"/>
              </a:rPr>
              <a:t>Protection of Property Right  </a:t>
            </a:r>
            <a:r>
              <a:rPr lang="en-US" sz="2200">
                <a:latin typeface="Times New Roman"/>
                <a:ea typeface="Times New Roman"/>
                <a:cs typeface="Times New Roman"/>
                <a:sym typeface="Times New Roman"/>
              </a:rPr>
              <a:t>                                       (Article 42)</a:t>
            </a:r>
            <a:endParaRPr/>
          </a:p>
          <a:p>
            <a:pPr indent="-428523" lvl="0" marL="428523" rtl="0" algn="just">
              <a:spcBef>
                <a:spcPts val="1000"/>
              </a:spcBef>
              <a:spcAft>
                <a:spcPts val="0"/>
              </a:spcAft>
              <a:buSzPts val="1760"/>
              <a:buNone/>
            </a:pPr>
            <a:r>
              <a:t/>
            </a:r>
            <a:endParaRPr sz="2200">
              <a:latin typeface="Open Sans"/>
              <a:ea typeface="Open Sans"/>
              <a:cs typeface="Open Sans"/>
              <a:sym typeface="Open Sans"/>
            </a:endParaRPr>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9"/>
          <p:cNvSpPr txBox="1"/>
          <p:nvPr>
            <p:ph type="title"/>
          </p:nvPr>
        </p:nvSpPr>
        <p:spPr>
          <a:xfrm>
            <a:off x="0" y="0"/>
            <a:ext cx="9144000" cy="825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70C0"/>
              </a:buClr>
              <a:buSzPts val="3000"/>
              <a:buFont typeface="Open Sans"/>
              <a:buNone/>
            </a:pPr>
            <a:r>
              <a:rPr lang="en-US" sz="3000">
                <a:solidFill>
                  <a:srgbClr val="0070C0"/>
                </a:solidFill>
                <a:latin typeface="Open Sans"/>
                <a:ea typeface="Open Sans"/>
                <a:cs typeface="Open Sans"/>
                <a:sym typeface="Open Sans"/>
              </a:rPr>
              <a:t>Is Education Fundamental rights in Bangladesh? </a:t>
            </a:r>
            <a:endParaRPr sz="3000">
              <a:solidFill>
                <a:srgbClr val="0070C0"/>
              </a:solidFill>
              <a:latin typeface="Open Sans"/>
              <a:ea typeface="Open Sans"/>
              <a:cs typeface="Open Sans"/>
              <a:sym typeface="Open Sans"/>
            </a:endParaRPr>
          </a:p>
        </p:txBody>
      </p:sp>
      <p:sp>
        <p:nvSpPr>
          <p:cNvPr id="263" name="Google Shape;263;p19"/>
          <p:cNvSpPr txBox="1"/>
          <p:nvPr>
            <p:ph idx="1" type="body"/>
          </p:nvPr>
        </p:nvSpPr>
        <p:spPr>
          <a:xfrm>
            <a:off x="190500" y="1016000"/>
            <a:ext cx="8953500" cy="24130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760"/>
              <a:buNone/>
            </a:pPr>
            <a:r>
              <a:rPr lang="en-US" sz="2200">
                <a:latin typeface="Times New Roman"/>
                <a:ea typeface="Times New Roman"/>
                <a:cs typeface="Times New Roman"/>
                <a:sym typeface="Times New Roman"/>
              </a:rPr>
              <a:t>The plain answer is no. Because there is no article about Education in the part of fundamental rights of the Bangladesh constitution. But constitution mentions the provision of universal education as a directive principle of state policy in the </a:t>
            </a:r>
            <a:r>
              <a:rPr b="1" lang="en-US" sz="2200">
                <a:solidFill>
                  <a:srgbClr val="0070C0"/>
                </a:solidFill>
                <a:latin typeface="Times New Roman"/>
                <a:ea typeface="Times New Roman"/>
                <a:cs typeface="Times New Roman"/>
                <a:sym typeface="Times New Roman"/>
              </a:rPr>
              <a:t>Article 17</a:t>
            </a:r>
            <a:r>
              <a:rPr lang="en-US" sz="2200">
                <a:latin typeface="Times New Roman"/>
                <a:ea typeface="Times New Roman"/>
                <a:cs typeface="Times New Roman"/>
                <a:sym typeface="Times New Roman"/>
              </a:rPr>
              <a:t>. It guarantees free and compulsory education. On the other hand Universal Declaration of Human Rights (UDHR) proclaims in 1948: "Everyone has the right to education.”</a:t>
            </a:r>
            <a:endParaRPr/>
          </a:p>
        </p:txBody>
      </p:sp>
      <p:sp>
        <p:nvSpPr>
          <p:cNvPr id="264" name="Google Shape;264;p19"/>
          <p:cNvSpPr txBox="1"/>
          <p:nvPr/>
        </p:nvSpPr>
        <p:spPr>
          <a:xfrm>
            <a:off x="0" y="3429000"/>
            <a:ext cx="9144000" cy="571500"/>
          </a:xfrm>
          <a:prstGeom prst="rect">
            <a:avLst/>
          </a:prstGeom>
          <a:noFill/>
          <a:ln>
            <a:noFill/>
          </a:ln>
        </p:spPr>
        <p:txBody>
          <a:bodyPr anchorCtr="0" anchor="ctr" bIns="41350" lIns="82700" spcFirstLastPara="1" rIns="82700" wrap="square" tIns="41350">
            <a:normAutofit/>
          </a:bodyPr>
          <a:lstStyle/>
          <a:p>
            <a:pPr indent="0" lvl="0" marL="0" marR="0" rtl="0" algn="ctr">
              <a:spcBef>
                <a:spcPts val="0"/>
              </a:spcBef>
              <a:spcAft>
                <a:spcPts val="0"/>
              </a:spcAft>
              <a:buNone/>
            </a:pPr>
            <a:r>
              <a:rPr lang="en-US" sz="3000">
                <a:solidFill>
                  <a:srgbClr val="FF0000"/>
                </a:solidFill>
                <a:latin typeface="Open Sans"/>
                <a:ea typeface="Open Sans"/>
                <a:cs typeface="Open Sans"/>
                <a:sym typeface="Open Sans"/>
              </a:rPr>
              <a:t>Rights to Vote in Bangladesh</a:t>
            </a:r>
            <a:endParaRPr sz="3000">
              <a:solidFill>
                <a:srgbClr val="FF0000"/>
              </a:solidFill>
              <a:latin typeface="Open Sans"/>
              <a:ea typeface="Open Sans"/>
              <a:cs typeface="Open Sans"/>
              <a:sym typeface="Open Sans"/>
            </a:endParaRPr>
          </a:p>
        </p:txBody>
      </p:sp>
      <p:sp>
        <p:nvSpPr>
          <p:cNvPr id="265" name="Google Shape;265;p19"/>
          <p:cNvSpPr txBox="1"/>
          <p:nvPr/>
        </p:nvSpPr>
        <p:spPr>
          <a:xfrm>
            <a:off x="190500" y="4318000"/>
            <a:ext cx="8953500" cy="2794000"/>
          </a:xfrm>
          <a:prstGeom prst="rect">
            <a:avLst/>
          </a:prstGeom>
          <a:noFill/>
          <a:ln>
            <a:noFill/>
          </a:ln>
        </p:spPr>
        <p:txBody>
          <a:bodyPr anchorCtr="0" anchor="t" bIns="41350" lIns="82700" spcFirstLastPara="1" rIns="82700" wrap="square" tIns="41350">
            <a:noAutofit/>
          </a:bodyPr>
          <a:lstStyle/>
          <a:p>
            <a:pPr indent="0" lvl="0" marL="0" marR="0" rtl="0" algn="just">
              <a:spcBef>
                <a:spcPts val="0"/>
              </a:spcBef>
              <a:spcAft>
                <a:spcPts val="0"/>
              </a:spcAft>
              <a:buNone/>
            </a:pPr>
            <a:r>
              <a:rPr lang="en-US" sz="2200">
                <a:solidFill>
                  <a:schemeClr val="lt1"/>
                </a:solidFill>
                <a:latin typeface="Times New Roman"/>
                <a:ea typeface="Times New Roman"/>
                <a:cs typeface="Times New Roman"/>
                <a:sym typeface="Times New Roman"/>
              </a:rPr>
              <a:t>Constitutionally Bangladesh is a democratic country. Article 7(1) &amp; 11 of the Constitution recognize citizens as supreme power holders who may choose their representatives through voting.</a:t>
            </a:r>
            <a:endParaRPr/>
          </a:p>
          <a:p>
            <a:pPr indent="0" lvl="0" marL="0" marR="0" rtl="0" algn="just">
              <a:spcBef>
                <a:spcPts val="0"/>
              </a:spcBef>
              <a:spcAft>
                <a:spcPts val="0"/>
              </a:spcAft>
              <a:buNone/>
            </a:pPr>
            <a:r>
              <a:t/>
            </a:r>
            <a:endParaRPr sz="4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2200">
                <a:solidFill>
                  <a:srgbClr val="0070C0"/>
                </a:solidFill>
                <a:latin typeface="Times New Roman"/>
                <a:ea typeface="Times New Roman"/>
                <a:cs typeface="Times New Roman"/>
                <a:sym typeface="Times New Roman"/>
              </a:rPr>
              <a:t>Article 122 </a:t>
            </a:r>
            <a:r>
              <a:rPr lang="en-US" sz="2200">
                <a:solidFill>
                  <a:schemeClr val="lt1"/>
                </a:solidFill>
                <a:latin typeface="Times New Roman"/>
                <a:ea typeface="Times New Roman"/>
                <a:cs typeface="Times New Roman"/>
                <a:sym typeface="Times New Roman"/>
              </a:rPr>
              <a:t>of the Constitution has granted the right to vote to all citizens of sound mind above the age of 18, irrespective of their caste, religion, social or economic status. The citizens can vote in national, district as well as local government body elections. </a:t>
            </a:r>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txBox="1"/>
          <p:nvPr>
            <p:ph type="title"/>
          </p:nvPr>
        </p:nvSpPr>
        <p:spPr>
          <a:xfrm>
            <a:off x="95250" y="91209"/>
            <a:ext cx="9144000" cy="889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0000"/>
              </a:buClr>
              <a:buSzPts val="3000"/>
              <a:buFont typeface="Times New Roman"/>
              <a:buNone/>
            </a:pPr>
            <a:r>
              <a:rPr lang="en-US" sz="3000">
                <a:solidFill>
                  <a:srgbClr val="FF0000"/>
                </a:solidFill>
                <a:latin typeface="Times New Roman"/>
                <a:ea typeface="Times New Roman"/>
                <a:cs typeface="Times New Roman"/>
                <a:sym typeface="Times New Roman"/>
              </a:rPr>
              <a:t>Shortcomings of BD Constitution</a:t>
            </a:r>
            <a:endParaRPr sz="3000">
              <a:solidFill>
                <a:srgbClr val="FF0000"/>
              </a:solidFill>
              <a:latin typeface="Times New Roman"/>
              <a:ea typeface="Times New Roman"/>
              <a:cs typeface="Times New Roman"/>
              <a:sym typeface="Times New Roman"/>
            </a:endParaRPr>
          </a:p>
        </p:txBody>
      </p:sp>
      <p:sp>
        <p:nvSpPr>
          <p:cNvPr id="271" name="Google Shape;271;p20"/>
          <p:cNvSpPr txBox="1"/>
          <p:nvPr>
            <p:ph idx="1" type="body"/>
          </p:nvPr>
        </p:nvSpPr>
        <p:spPr>
          <a:xfrm>
            <a:off x="190500" y="952500"/>
            <a:ext cx="8953500" cy="5905500"/>
          </a:xfrm>
          <a:prstGeom prst="rect">
            <a:avLst/>
          </a:prstGeom>
          <a:noFill/>
          <a:ln>
            <a:noFill/>
          </a:ln>
        </p:spPr>
        <p:txBody>
          <a:bodyPr anchorCtr="0" anchor="t" bIns="45700" lIns="91425" spcFirstLastPara="1" rIns="91425" wrap="square" tIns="45700">
            <a:noAutofit/>
          </a:bodyPr>
          <a:lstStyle/>
          <a:p>
            <a:pPr indent="-465283" lvl="0" marL="465283" rtl="0" algn="just">
              <a:spcBef>
                <a:spcPts val="0"/>
              </a:spcBef>
              <a:spcAft>
                <a:spcPts val="0"/>
              </a:spcAft>
              <a:buSzPts val="1600"/>
              <a:buFont typeface="Noto Sans Symbols"/>
              <a:buChar char="❑"/>
            </a:pPr>
            <a:r>
              <a:rPr lang="en-US">
                <a:latin typeface="Times New Roman"/>
                <a:ea typeface="Times New Roman"/>
                <a:cs typeface="Times New Roman"/>
                <a:sym typeface="Times New Roman"/>
              </a:rPr>
              <a:t>Article 70: One of the most controversial articles which narrates that a member of parliament will lose his membership if he votes against his party. This article contradict with article 55.</a:t>
            </a:r>
            <a:endParaRPr>
              <a:latin typeface="Times New Roman"/>
              <a:ea typeface="Times New Roman"/>
              <a:cs typeface="Times New Roman"/>
              <a:sym typeface="Times New Roman"/>
            </a:endParaRPr>
          </a:p>
          <a:p>
            <a:pPr indent="-465283" lvl="0" marL="465283" rtl="0" algn="just">
              <a:spcBef>
                <a:spcPts val="1000"/>
              </a:spcBef>
              <a:spcAft>
                <a:spcPts val="0"/>
              </a:spcAft>
              <a:buSzPts val="1600"/>
              <a:buFont typeface="Noto Sans Symbols"/>
              <a:buChar char="❑"/>
            </a:pPr>
            <a:r>
              <a:rPr lang="en-US">
                <a:latin typeface="Times New Roman"/>
                <a:ea typeface="Times New Roman"/>
                <a:cs typeface="Times New Roman"/>
                <a:sym typeface="Times New Roman"/>
              </a:rPr>
              <a:t>There are the both existence of “Bismillah-ar-Rahman-ar-Rahim”; 'Islam' as state religion and Secularism in the constitution. </a:t>
            </a:r>
            <a:endParaRPr/>
          </a:p>
          <a:p>
            <a:pPr indent="-465283" lvl="0" marL="465283" rtl="0" algn="just">
              <a:spcBef>
                <a:spcPts val="1000"/>
              </a:spcBef>
              <a:spcAft>
                <a:spcPts val="0"/>
              </a:spcAft>
              <a:buSzPts val="1600"/>
              <a:buFont typeface="Noto Sans Symbols"/>
              <a:buChar char="❑"/>
            </a:pPr>
            <a:r>
              <a:rPr lang="en-US">
                <a:latin typeface="Times New Roman"/>
                <a:ea typeface="Times New Roman"/>
                <a:cs typeface="Times New Roman"/>
                <a:sym typeface="Times New Roman"/>
              </a:rPr>
              <a:t>There is no balance of power between President and Prime Minister. For that Prime Minister holds excessive power constitutionally. </a:t>
            </a:r>
            <a:endParaRPr/>
          </a:p>
          <a:p>
            <a:pPr indent="-465283" lvl="0" marL="465283" rtl="0" algn="just">
              <a:spcBef>
                <a:spcPts val="1000"/>
              </a:spcBef>
              <a:spcAft>
                <a:spcPts val="0"/>
              </a:spcAft>
              <a:buSzPts val="1600"/>
              <a:buFont typeface="Noto Sans Symbols"/>
              <a:buChar char="❑"/>
            </a:pPr>
            <a:r>
              <a:rPr lang="en-US">
                <a:latin typeface="Times New Roman"/>
                <a:ea typeface="Times New Roman"/>
                <a:cs typeface="Times New Roman"/>
                <a:sym typeface="Times New Roman"/>
              </a:rPr>
              <a:t>There have some contradictory provisions in the constitution as like Articles: 08, 27, 29, 55, and 70. </a:t>
            </a:r>
            <a:endParaRPr/>
          </a:p>
          <a:p>
            <a:pPr indent="-465283" lvl="0" marL="465283" rtl="0" algn="just">
              <a:spcBef>
                <a:spcPts val="1000"/>
              </a:spcBef>
              <a:spcAft>
                <a:spcPts val="0"/>
              </a:spcAft>
              <a:buSzPts val="1600"/>
              <a:buFont typeface="Noto Sans Symbols"/>
              <a:buChar char="❑"/>
            </a:pPr>
            <a:r>
              <a:rPr lang="en-US">
                <a:latin typeface="Times New Roman"/>
                <a:ea typeface="Times New Roman"/>
                <a:cs typeface="Times New Roman"/>
                <a:sym typeface="Times New Roman"/>
              </a:rPr>
              <a:t>Politicization of our constitution slow down the key spirit and aspiration of democracy.   </a:t>
            </a:r>
            <a:endParaRPr/>
          </a:p>
          <a:p>
            <a:pPr indent="-465283" lvl="0" marL="465283" rtl="0" algn="just">
              <a:spcBef>
                <a:spcPts val="1000"/>
              </a:spcBef>
              <a:spcAft>
                <a:spcPts val="0"/>
              </a:spcAft>
              <a:buNone/>
            </a:pPr>
            <a:r>
              <a:t/>
            </a:r>
            <a:endParaRPr sz="100">
              <a:latin typeface="Open Sans"/>
              <a:ea typeface="Open Sans"/>
              <a:cs typeface="Open Sans"/>
              <a:sym typeface="Open Sans"/>
            </a:endParaRPr>
          </a:p>
          <a:p>
            <a:pPr indent="-465283" lvl="0" marL="465283" rtl="0" algn="just">
              <a:spcBef>
                <a:spcPts val="1000"/>
              </a:spcBef>
              <a:spcAft>
                <a:spcPts val="0"/>
              </a:spcAft>
              <a:buSzPts val="1760"/>
              <a:buFont typeface="Noto Sans Symbols"/>
              <a:buChar char="❑"/>
            </a:pPr>
            <a:r>
              <a:rPr lang="en-US" sz="2200">
                <a:latin typeface="Times New Roman"/>
                <a:ea typeface="Times New Roman"/>
                <a:cs typeface="Times New Roman"/>
                <a:sym typeface="Times New Roman"/>
              </a:rPr>
              <a:t>Improper and Partial practiced by government creates misinterpretation. </a:t>
            </a:r>
            <a:endParaRP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ph type="title"/>
          </p:nvPr>
        </p:nvSpPr>
        <p:spPr>
          <a:xfrm>
            <a:off x="457200" y="152400"/>
            <a:ext cx="8229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060"/>
              </a:buClr>
              <a:buSzPts val="3600"/>
              <a:buFont typeface="Open Sans"/>
              <a:buNone/>
            </a:pPr>
            <a:r>
              <a:rPr b="1" lang="en-US" sz="3600">
                <a:solidFill>
                  <a:srgbClr val="002060"/>
                </a:solidFill>
                <a:latin typeface="Open Sans"/>
                <a:ea typeface="Open Sans"/>
                <a:cs typeface="Open Sans"/>
                <a:sym typeface="Open Sans"/>
              </a:rPr>
              <a:t>Chapter Related Possible Questions</a:t>
            </a:r>
            <a:endParaRPr sz="3600">
              <a:solidFill>
                <a:srgbClr val="002060"/>
              </a:solidFill>
              <a:latin typeface="Open Sans"/>
              <a:ea typeface="Open Sans"/>
              <a:cs typeface="Open Sans"/>
              <a:sym typeface="Open Sans"/>
            </a:endParaRPr>
          </a:p>
        </p:txBody>
      </p:sp>
      <p:sp>
        <p:nvSpPr>
          <p:cNvPr id="277" name="Google Shape;277;p21"/>
          <p:cNvSpPr txBox="1"/>
          <p:nvPr>
            <p:ph idx="1" type="body"/>
          </p:nvPr>
        </p:nvSpPr>
        <p:spPr>
          <a:xfrm>
            <a:off x="457200" y="1295400"/>
            <a:ext cx="8686800" cy="5181600"/>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Char char="►"/>
            </a:pPr>
            <a:r>
              <a:rPr b="1" lang="en-US">
                <a:latin typeface="Times New Roman"/>
                <a:ea typeface="Times New Roman"/>
                <a:cs typeface="Times New Roman"/>
                <a:sym typeface="Times New Roman"/>
              </a:rPr>
              <a:t>What is constitution?</a:t>
            </a:r>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Discuss the types of constitution.</a:t>
            </a:r>
            <a:endParaRPr>
              <a:latin typeface="Times New Roman"/>
              <a:ea typeface="Times New Roman"/>
              <a:cs typeface="Times New Roman"/>
              <a:sym typeface="Times New Roman"/>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How can we make a good constitution? </a:t>
            </a:r>
            <a:endParaRPr>
              <a:latin typeface="Times New Roman"/>
              <a:ea typeface="Times New Roman"/>
              <a:cs typeface="Times New Roman"/>
              <a:sym typeface="Times New Roman"/>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Discuss the essentials of a good constitution.</a:t>
            </a:r>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Mention the key problems of BD constitution.</a:t>
            </a:r>
            <a:endParaRPr>
              <a:latin typeface="Times New Roman"/>
              <a:ea typeface="Times New Roman"/>
              <a:cs typeface="Times New Roman"/>
              <a:sym typeface="Times New Roman"/>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What was historical background of the constitution of Bangladesh?</a:t>
            </a:r>
            <a:endParaRPr>
              <a:latin typeface="Times New Roman"/>
              <a:ea typeface="Times New Roman"/>
              <a:cs typeface="Times New Roman"/>
              <a:sym typeface="Times New Roman"/>
            </a:endParaRPr>
          </a:p>
          <a:p>
            <a:pPr indent="-342906" lvl="0" marL="342906" rtl="0" algn="l">
              <a:spcBef>
                <a:spcPts val="1000"/>
              </a:spcBef>
              <a:spcAft>
                <a:spcPts val="0"/>
              </a:spcAft>
              <a:buSzPts val="1600"/>
              <a:buChar char="►"/>
            </a:pPr>
            <a:r>
              <a:rPr b="1" lang="en-US">
                <a:latin typeface="Times New Roman"/>
                <a:ea typeface="Times New Roman"/>
                <a:cs typeface="Times New Roman"/>
                <a:sym typeface="Times New Roman"/>
              </a:rPr>
              <a:t>Discuss the main features of the constitution of Bangladesh.</a:t>
            </a:r>
            <a:endParaRPr>
              <a:latin typeface="Times New Roman"/>
              <a:ea typeface="Times New Roman"/>
              <a:cs typeface="Times New Roman"/>
              <a:sym typeface="Times New Roman"/>
            </a:endParaRPr>
          </a:p>
          <a:p>
            <a:pPr indent="-241306" lvl="0" marL="342906" rtl="0" algn="l">
              <a:spcBef>
                <a:spcPts val="1000"/>
              </a:spcBef>
              <a:spcAft>
                <a:spcPts val="0"/>
              </a:spcAft>
              <a:buSzPts val="1600"/>
              <a:buNone/>
            </a:pPr>
            <a:r>
              <a:t/>
            </a:r>
            <a:endParaRPr/>
          </a:p>
        </p:txBody>
      </p:sp>
    </p:spTree>
  </p:cSld>
  <p:clrMapOvr>
    <a:masterClrMapping/>
  </p:clrMapOvr>
  <p:transition>
    <p:zoom dir="in"/>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type="title"/>
          </p:nvPr>
        </p:nvSpPr>
        <p:spPr>
          <a:xfrm>
            <a:off x="457200" y="152400"/>
            <a:ext cx="8229600" cy="990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70C0"/>
              </a:buClr>
              <a:buSzPts val="3200"/>
              <a:buFont typeface="Open Sans"/>
              <a:buNone/>
            </a:pPr>
            <a:r>
              <a:rPr b="1" lang="en-US" sz="3200">
                <a:solidFill>
                  <a:srgbClr val="0070C0"/>
                </a:solidFill>
                <a:latin typeface="Open Sans"/>
                <a:ea typeface="Open Sans"/>
                <a:cs typeface="Open Sans"/>
                <a:sym typeface="Open Sans"/>
              </a:rPr>
              <a:t>References:</a:t>
            </a:r>
            <a:endParaRPr sz="3200">
              <a:solidFill>
                <a:srgbClr val="0070C0"/>
              </a:solidFill>
              <a:latin typeface="Open Sans"/>
              <a:ea typeface="Open Sans"/>
              <a:cs typeface="Open Sans"/>
              <a:sym typeface="Open Sans"/>
            </a:endParaRPr>
          </a:p>
        </p:txBody>
      </p:sp>
      <p:sp>
        <p:nvSpPr>
          <p:cNvPr id="283" name="Google Shape;283;p22"/>
          <p:cNvSpPr txBox="1"/>
          <p:nvPr>
            <p:ph idx="1" type="body"/>
          </p:nvPr>
        </p:nvSpPr>
        <p:spPr>
          <a:xfrm>
            <a:off x="457200" y="1295400"/>
            <a:ext cx="8686800" cy="5181600"/>
          </a:xfrm>
          <a:prstGeom prst="rect">
            <a:avLst/>
          </a:prstGeom>
          <a:noFill/>
          <a:ln>
            <a:noFill/>
          </a:ln>
        </p:spPr>
        <p:txBody>
          <a:bodyPr anchorCtr="0" anchor="t" bIns="45700" lIns="91425" spcFirstLastPara="1" rIns="91425" wrap="square" tIns="45700">
            <a:normAutofit/>
          </a:bodyPr>
          <a:lstStyle/>
          <a:p>
            <a:pPr indent="-342906" lvl="0" marL="342906" rtl="0" algn="l">
              <a:spcBef>
                <a:spcPts val="0"/>
              </a:spcBef>
              <a:spcAft>
                <a:spcPts val="0"/>
              </a:spcAft>
              <a:buSzPts val="1600"/>
              <a:buFont typeface="Noto Sans Symbols"/>
              <a:buChar char="❖"/>
            </a:pPr>
            <a:r>
              <a:rPr lang="en-US">
                <a:latin typeface="Times New Roman"/>
                <a:ea typeface="Times New Roman"/>
                <a:cs typeface="Times New Roman"/>
                <a:sym typeface="Times New Roman"/>
              </a:rPr>
              <a:t>Halim, M. A. (2003). Constitution, Constitutional Law and Politics: Bangladesh Perspectives, Rico Printers, Dhaka.</a:t>
            </a:r>
            <a:endParaRPr/>
          </a:p>
          <a:p>
            <a:pPr indent="-342906" lvl="0" marL="342906" rtl="0" algn="l">
              <a:spcBef>
                <a:spcPts val="1000"/>
              </a:spcBef>
              <a:spcAft>
                <a:spcPts val="0"/>
              </a:spcAft>
              <a:buSzPts val="1600"/>
              <a:buFont typeface="Noto Sans Symbols"/>
              <a:buChar char="❖"/>
            </a:pPr>
            <a:r>
              <a:rPr lang="en-US">
                <a:latin typeface="Times New Roman"/>
                <a:ea typeface="Times New Roman"/>
                <a:cs typeface="Times New Roman"/>
                <a:sym typeface="Times New Roman"/>
              </a:rPr>
              <a:t>Amin, M. R, (2010). Bangladesh Revised -A Comprehensive Study of an Asian Nation, OSDER Publications; Dhaka.</a:t>
            </a:r>
            <a:endParaRPr/>
          </a:p>
          <a:p>
            <a:pPr indent="-342906" lvl="0" marL="342906" rtl="0" algn="l">
              <a:spcBef>
                <a:spcPts val="1000"/>
              </a:spcBef>
              <a:spcAft>
                <a:spcPts val="0"/>
              </a:spcAft>
              <a:buSzPts val="1600"/>
              <a:buFont typeface="Noto Sans Symbols"/>
              <a:buChar char="❖"/>
            </a:pPr>
            <a:r>
              <a:rPr lang="en-US">
                <a:latin typeface="Times New Roman"/>
                <a:ea typeface="Times New Roman"/>
                <a:cs typeface="Times New Roman"/>
                <a:sym typeface="Times New Roman"/>
              </a:rPr>
              <a:t>Banglapeadia, National Encyclopedia of Bangladesh. (2003). Asiatic Society of Bangladesh, Dhaka. </a:t>
            </a:r>
            <a:endParaRPr/>
          </a:p>
          <a:p>
            <a:pPr indent="-342906" lvl="0" marL="342906" rtl="0" algn="l">
              <a:spcBef>
                <a:spcPts val="1000"/>
              </a:spcBef>
              <a:spcAft>
                <a:spcPts val="0"/>
              </a:spcAft>
              <a:buSzPts val="1600"/>
              <a:buFont typeface="Noto Sans Symbols"/>
              <a:buChar char="❖"/>
            </a:pPr>
            <a:r>
              <a:rPr lang="en-US">
                <a:latin typeface="Times New Roman"/>
                <a:ea typeface="Times New Roman"/>
                <a:cs typeface="Times New Roman"/>
                <a:sym typeface="Times New Roman"/>
              </a:rPr>
              <a:t>The Constitution of the People’s Republic of Bangladesh</a:t>
            </a:r>
            <a:r>
              <a:rPr lang="en-US" sz="2400">
                <a:latin typeface="Open Sans"/>
                <a:ea typeface="Open Sans"/>
                <a:cs typeface="Open Sans"/>
                <a:sym typeface="Open Sans"/>
              </a:rPr>
              <a:t>.</a:t>
            </a:r>
            <a:endParaRPr/>
          </a:p>
          <a:p>
            <a:pPr indent="-342906" lvl="0" marL="342906" rtl="0" algn="l">
              <a:spcBef>
                <a:spcPts val="1000"/>
              </a:spcBef>
              <a:spcAft>
                <a:spcPts val="0"/>
              </a:spcAft>
              <a:buSzPts val="2080"/>
              <a:buNone/>
            </a:pPr>
            <a:r>
              <a:t/>
            </a:r>
            <a:endParaRPr sz="2600">
              <a:latin typeface="Open Sans"/>
              <a:ea typeface="Open Sans"/>
              <a:cs typeface="Open Sans"/>
              <a:sym typeface="Open Sans"/>
            </a:endParaRPr>
          </a:p>
          <a:p>
            <a:pPr indent="-241306" lvl="0" marL="342906" rtl="0" algn="l">
              <a:spcBef>
                <a:spcPts val="1000"/>
              </a:spcBef>
              <a:spcAft>
                <a:spcPts val="0"/>
              </a:spcAft>
              <a:buSzPts val="1600"/>
              <a:buNone/>
            </a:pPr>
            <a:r>
              <a:t/>
            </a:r>
            <a:endParaRPr/>
          </a:p>
        </p:txBody>
      </p:sp>
    </p:spTree>
  </p:cSld>
  <p:clrMapOvr>
    <a:masterClrMapping/>
  </p:clrMapOvr>
  <p:transition>
    <p:zoom dir="in"/>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3"/>
          <p:cNvSpPr txBox="1"/>
          <p:nvPr>
            <p:ph idx="1" type="body"/>
          </p:nvPr>
        </p:nvSpPr>
        <p:spPr>
          <a:xfrm>
            <a:off x="457200" y="1219200"/>
            <a:ext cx="8229600" cy="5410200"/>
          </a:xfrm>
          <a:prstGeom prst="rect">
            <a:avLst/>
          </a:prstGeom>
          <a:noFill/>
          <a:ln>
            <a:noFill/>
          </a:ln>
        </p:spPr>
        <p:txBody>
          <a:bodyPr anchorCtr="0" anchor="t" bIns="45700" lIns="91425" spcFirstLastPara="1" rIns="91425" wrap="square" tIns="45700">
            <a:normAutofit/>
          </a:bodyPr>
          <a:lstStyle/>
          <a:p>
            <a:pPr indent="-220986" lvl="0" marL="342906" rtl="0" algn="l">
              <a:spcBef>
                <a:spcPts val="0"/>
              </a:spcBef>
              <a:spcAft>
                <a:spcPts val="0"/>
              </a:spcAft>
              <a:buSzPts val="1920"/>
              <a:buNone/>
            </a:pPr>
            <a:r>
              <a:t/>
            </a:r>
            <a:endParaRPr sz="2400">
              <a:latin typeface="Open Sans"/>
              <a:ea typeface="Open Sans"/>
              <a:cs typeface="Open Sans"/>
              <a:sym typeface="Open Sans"/>
            </a:endParaRPr>
          </a:p>
          <a:p>
            <a:pPr indent="-342906" lvl="0" marL="342906" rtl="0" algn="ctr">
              <a:spcBef>
                <a:spcPts val="1000"/>
              </a:spcBef>
              <a:spcAft>
                <a:spcPts val="0"/>
              </a:spcAft>
              <a:buSzPts val="3840"/>
              <a:buNone/>
            </a:pPr>
            <a:r>
              <a:rPr lang="en-US" sz="4800">
                <a:solidFill>
                  <a:srgbClr val="00B050"/>
                </a:solidFill>
                <a:latin typeface="Open Sans"/>
                <a:ea typeface="Open Sans"/>
                <a:cs typeface="Open Sans"/>
                <a:sym typeface="Open Sans"/>
              </a:rPr>
              <a:t>Thank you all.</a:t>
            </a:r>
            <a:endParaRPr sz="4800">
              <a:solidFill>
                <a:srgbClr val="00B050"/>
              </a:solidFill>
            </a:endParaRPr>
          </a:p>
        </p:txBody>
      </p:sp>
    </p:spTree>
  </p:cSld>
  <p:clrMapOvr>
    <a:masterClrMapping/>
  </p:clrMapOvr>
  <p:transition>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Motiur Rahman Hasan</dc:creator>
</cp:coreProperties>
</file>