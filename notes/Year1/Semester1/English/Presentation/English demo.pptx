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60" r:id="rId5"/>
    <p:sldId id="261" r:id="rId6"/>
    <p:sldId id="258"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2" autoAdjust="0"/>
    <p:restoredTop sz="94660"/>
  </p:normalViewPr>
  <p:slideViewPr>
    <p:cSldViewPr snapToGrid="0">
      <p:cViewPr varScale="1">
        <p:scale>
          <a:sx n="69" d="100"/>
          <a:sy n="69" d="100"/>
        </p:scale>
        <p:origin x="6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A4731-B565-4507-9E1E-CD92EA3C3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66A97F-B113-4626-BAF0-6FDA0801F7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A9EA86-DD5F-409E-8860-3CF1348BB664}"/>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3FBC279C-C3CE-444F-89F3-3BDF9E4F2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2D6E1-9091-487E-8D43-887FBBF97621}"/>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3437549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81A4-94DB-4871-AC33-17EE93622B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D1870D-70D0-42EC-BB7A-CBCE5FA17C3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99A978-7602-408B-9A19-A084124268EC}"/>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B702AA3E-28B2-4AB8-A9B9-CE89E06846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AF2BC6-15D7-4EA3-8E09-9807B5FC5596}"/>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2326031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B7A7-533A-4E06-A97C-D60A012A84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4CCDEE-CEE6-48AE-9FB1-8388BFE962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3051BE0-1689-4794-9DD3-1D515A302CFA}"/>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AD83ED3F-C32B-4B6C-AB0A-50B7A6D51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9DE055-A9E9-4280-BAA7-EE77A20C90CD}"/>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25197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121C3-ECFF-43D7-BFAD-B0D1472C62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B83268-A5AB-45DF-A786-446D9E4BCA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CBF417-8D07-47D8-A140-4BD6671FAC0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3F5768-0B00-4EB0-AE09-4C8DE1A41E70}"/>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6" name="Footer Placeholder 5">
            <a:extLst>
              <a:ext uri="{FF2B5EF4-FFF2-40B4-BE49-F238E27FC236}">
                <a16:creationId xmlns:a16="http://schemas.microsoft.com/office/drawing/2014/main" id="{99885C28-7A1D-403F-BDFD-412FC2A41D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4057E2-BE6A-4104-86DB-DB4CCD3E2B84}"/>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70957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6226B-F4AC-497E-9A1A-0758F46511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2E8838-DE15-4C8A-A913-6B6D9FF204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C58D922-AFA8-4E85-8658-C9343499B81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C258D5-A2A8-453A-A0E9-B4D32527C0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6E0F85E-34DD-4080-BA54-2FEF1832F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806A4A-28FB-462D-8950-769B02E0E978}"/>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8" name="Footer Placeholder 7">
            <a:extLst>
              <a:ext uri="{FF2B5EF4-FFF2-40B4-BE49-F238E27FC236}">
                <a16:creationId xmlns:a16="http://schemas.microsoft.com/office/drawing/2014/main" id="{06B552D1-581C-41B2-8235-8B42C95DB1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5A4AD1-CB22-4739-9CC4-02EE1514BB74}"/>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206136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08565-7974-4C0D-8321-747C595C60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27954E-CE7E-43B3-98BF-987BAC48835A}"/>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4" name="Footer Placeholder 3">
            <a:extLst>
              <a:ext uri="{FF2B5EF4-FFF2-40B4-BE49-F238E27FC236}">
                <a16:creationId xmlns:a16="http://schemas.microsoft.com/office/drawing/2014/main" id="{74EF3BD4-CBFD-4DAE-BC78-033494865F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613AAD-7AAE-4181-B66B-55EC05442E45}"/>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732236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45FC8F-F953-4CD6-964B-00C82AC2695B}"/>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3" name="Footer Placeholder 2">
            <a:extLst>
              <a:ext uri="{FF2B5EF4-FFF2-40B4-BE49-F238E27FC236}">
                <a16:creationId xmlns:a16="http://schemas.microsoft.com/office/drawing/2014/main" id="{4FE77692-02BB-4C1E-8857-ED6FA5F0FF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C8A255-D934-40A7-999B-C6E3CDF83D54}"/>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374538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4351F-0063-4C00-B6BF-0164F3F26B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095122-230E-4592-9EC8-E281B03E3A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4AEBE2-D982-4C0A-B675-9FA9B2460C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58FAD9-4802-4A1B-BA23-528D13371231}"/>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6" name="Footer Placeholder 5">
            <a:extLst>
              <a:ext uri="{FF2B5EF4-FFF2-40B4-BE49-F238E27FC236}">
                <a16:creationId xmlns:a16="http://schemas.microsoft.com/office/drawing/2014/main" id="{439F8860-5F24-4623-BD49-C4BD75ADF5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A90DC2-1415-464C-9BE4-9EDE719E0CCC}"/>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442179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8BE81-B597-44E9-9122-9C6B0C7415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F45560-D476-4B22-9C6A-30EA0F70B2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A066A7-98D2-496C-BFE8-4BA41B4749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E8535E-8EDD-40CA-9FFB-5996E7EF4074}"/>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6" name="Footer Placeholder 5">
            <a:extLst>
              <a:ext uri="{FF2B5EF4-FFF2-40B4-BE49-F238E27FC236}">
                <a16:creationId xmlns:a16="http://schemas.microsoft.com/office/drawing/2014/main" id="{078FA9E4-9360-4E47-8D84-14175A623A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1A20D7-5493-44CF-A64C-BD0F35E11C3E}"/>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268585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75E76-AD7A-48C8-8FDC-66FD6C1F11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F3DFF6-1F75-49F4-A3BA-19E68630D0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050A39-0121-4F15-88DC-C6D14796C052}"/>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67848451-4124-4B71-B93F-2889294D8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82028C-6A83-439D-9201-58048C0F4A46}"/>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3116923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381FF2-CCE8-4B78-BA51-9FEE531646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DADB8E-8C64-407A-A5F7-A87AC7D1159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57F13E-5B08-4F02-9A53-07B53FABFCE6}"/>
              </a:ext>
            </a:extLst>
          </p:cNvPr>
          <p:cNvSpPr>
            <a:spLocks noGrp="1"/>
          </p:cNvSpPr>
          <p:nvPr>
            <p:ph type="dt" sz="half" idx="10"/>
          </p:nvPr>
        </p:nvSpPr>
        <p:spPr/>
        <p:txBody>
          <a:body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8DD5E314-1CBB-468D-8260-23028E22FF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28A034-7460-40F1-A661-996A2A2BA156}"/>
              </a:ext>
            </a:extLst>
          </p:cNvPr>
          <p:cNvSpPr>
            <a:spLocks noGrp="1"/>
          </p:cNvSpPr>
          <p:nvPr>
            <p:ph type="sldNum" sz="quarter" idx="12"/>
          </p:nvPr>
        </p:nvSpPr>
        <p:spPr/>
        <p:txBody>
          <a:bodyPr/>
          <a:lstStyle/>
          <a:p>
            <a:fld id="{40207285-61B2-4DDE-8AAE-7EFDD42448F0}" type="slidenum">
              <a:rPr lang="en-US" smtClean="0"/>
              <a:t>‹#›</a:t>
            </a:fld>
            <a:endParaRPr lang="en-US"/>
          </a:p>
        </p:txBody>
      </p:sp>
    </p:spTree>
    <p:extLst>
      <p:ext uri="{BB962C8B-B14F-4D97-AF65-F5344CB8AC3E}">
        <p14:creationId xmlns:p14="http://schemas.microsoft.com/office/powerpoint/2010/main" val="1895433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DE932E-8421-42DC-97D5-7C4A4A437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BC13D6-76CE-4F69-8B93-7591CD4C4E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247E0-08B0-4188-A229-0A7F0DA43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E68654-82DB-4905-B222-B4DF7767F5A7}" type="datetimeFigureOut">
              <a:rPr lang="en-US" smtClean="0"/>
              <a:t>12/5/2025</a:t>
            </a:fld>
            <a:endParaRPr lang="en-US"/>
          </a:p>
        </p:txBody>
      </p:sp>
      <p:sp>
        <p:nvSpPr>
          <p:cNvPr id="5" name="Footer Placeholder 4">
            <a:extLst>
              <a:ext uri="{FF2B5EF4-FFF2-40B4-BE49-F238E27FC236}">
                <a16:creationId xmlns:a16="http://schemas.microsoft.com/office/drawing/2014/main" id="{3D0BBF71-B879-47F1-86B9-5F31079D95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D476FF-6EBE-449C-A076-D0849AB427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07285-61B2-4DDE-8AAE-7EFDD42448F0}" type="slidenum">
              <a:rPr lang="en-US" smtClean="0"/>
              <a:t>‹#›</a:t>
            </a:fld>
            <a:endParaRPr lang="en-US"/>
          </a:p>
        </p:txBody>
      </p:sp>
    </p:spTree>
    <p:extLst>
      <p:ext uri="{BB962C8B-B14F-4D97-AF65-F5344CB8AC3E}">
        <p14:creationId xmlns:p14="http://schemas.microsoft.com/office/powerpoint/2010/main" val="2457488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A00FDD-BBCF-4397-9697-37C7053C5968}"/>
              </a:ext>
            </a:extLst>
          </p:cNvPr>
          <p:cNvSpPr/>
          <p:nvPr/>
        </p:nvSpPr>
        <p:spPr>
          <a:xfrm>
            <a:off x="554181" y="831275"/>
            <a:ext cx="9227127" cy="1754326"/>
          </a:xfrm>
          <a:prstGeom prst="rect">
            <a:avLst/>
          </a:prstGeom>
        </p:spPr>
        <p:txBody>
          <a:bodyPr wrap="square">
            <a:spAutoFit/>
          </a:bodyPr>
          <a:lstStyle/>
          <a:p>
            <a:r>
              <a:rPr lang="en-US" b="1" dirty="0"/>
              <a:t>Slide 1: Major Causes of Water Pollution in Bangladesh</a:t>
            </a:r>
          </a:p>
          <a:p>
            <a:pPr>
              <a:buFont typeface="Arial" panose="020B0604020202020204" pitchFamily="34" charset="0"/>
              <a:buChar char="•"/>
            </a:pPr>
            <a:r>
              <a:rPr lang="en-US" dirty="0"/>
              <a:t>Water pollution is a growing problem in Bangladesh.</a:t>
            </a:r>
          </a:p>
          <a:p>
            <a:pPr>
              <a:buFont typeface="Arial" panose="020B0604020202020204" pitchFamily="34" charset="0"/>
              <a:buChar char="•"/>
            </a:pPr>
            <a:r>
              <a:rPr lang="en-US" dirty="0"/>
              <a:t>It mainly happens because of human activities.</a:t>
            </a:r>
          </a:p>
          <a:p>
            <a:pPr>
              <a:buFont typeface="Arial" panose="020B0604020202020204" pitchFamily="34" charset="0"/>
              <a:buChar char="•"/>
            </a:pPr>
            <a:r>
              <a:rPr lang="en-US" dirty="0"/>
              <a:t>The major causes include industrial waste, agricultural runoff, oil pollution, and arsenic contamination.</a:t>
            </a:r>
          </a:p>
          <a:p>
            <a:pPr>
              <a:buFont typeface="Arial" panose="020B0604020202020204" pitchFamily="34" charset="0"/>
              <a:buChar char="•"/>
            </a:pPr>
            <a:r>
              <a:rPr lang="en-US" dirty="0"/>
              <a:t>These causes harm water quality, human health, and the environment.</a:t>
            </a:r>
          </a:p>
        </p:txBody>
      </p:sp>
    </p:spTree>
    <p:extLst>
      <p:ext uri="{BB962C8B-B14F-4D97-AF65-F5344CB8AC3E}">
        <p14:creationId xmlns:p14="http://schemas.microsoft.com/office/powerpoint/2010/main" val="3153312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8AD02E-8AE5-48BA-B53B-5053FB09B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715000" cy="3429000"/>
          </a:xfrm>
          <a:prstGeom prst="rect">
            <a:avLst/>
          </a:prstGeom>
        </p:spPr>
      </p:pic>
      <p:pic>
        <p:nvPicPr>
          <p:cNvPr id="7" name="Picture 6">
            <a:extLst>
              <a:ext uri="{FF2B5EF4-FFF2-40B4-BE49-F238E27FC236}">
                <a16:creationId xmlns:a16="http://schemas.microsoft.com/office/drawing/2014/main" id="{6EDFDC0B-F631-4DF2-B86A-AD8D0C1A2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4808" y="3671551"/>
            <a:ext cx="4887192" cy="3186449"/>
          </a:xfrm>
          <a:prstGeom prst="rect">
            <a:avLst/>
          </a:prstGeom>
        </p:spPr>
      </p:pic>
    </p:spTree>
    <p:extLst>
      <p:ext uri="{BB962C8B-B14F-4D97-AF65-F5344CB8AC3E}">
        <p14:creationId xmlns:p14="http://schemas.microsoft.com/office/powerpoint/2010/main" val="568762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BD74BD-6542-44EE-B452-15C8DD4BABF0}"/>
              </a:ext>
            </a:extLst>
          </p:cNvPr>
          <p:cNvSpPr/>
          <p:nvPr/>
        </p:nvSpPr>
        <p:spPr>
          <a:xfrm>
            <a:off x="568032" y="1379628"/>
            <a:ext cx="8395855"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Factories release untreated chemicals, dyes, and metals into rivers.</a:t>
            </a:r>
          </a:p>
        </p:txBody>
      </p:sp>
      <p:sp>
        <p:nvSpPr>
          <p:cNvPr id="5" name="Rectangle 4">
            <a:extLst>
              <a:ext uri="{FF2B5EF4-FFF2-40B4-BE49-F238E27FC236}">
                <a16:creationId xmlns:a16="http://schemas.microsoft.com/office/drawing/2014/main" id="{5303B92E-3EBE-4173-A76C-24BD1149742E}"/>
              </a:ext>
            </a:extLst>
          </p:cNvPr>
          <p:cNvSpPr/>
          <p:nvPr/>
        </p:nvSpPr>
        <p:spPr>
          <a:xfrm>
            <a:off x="3523087" y="157325"/>
            <a:ext cx="4203715" cy="769441"/>
          </a:xfrm>
          <a:prstGeom prst="rect">
            <a:avLst/>
          </a:prstGeom>
          <a:noFill/>
        </p:spPr>
        <p:txBody>
          <a:bodyPr wrap="none" lIns="91440" tIns="45720" rIns="91440" bIns="45720">
            <a:spAutoFit/>
          </a:bodyPr>
          <a:lstStyle/>
          <a:p>
            <a:pPr algn="ctr"/>
            <a:r>
              <a:rPr lang="en-US" sz="4400" b="1" dirty="0">
                <a:latin typeface="Times New Roman" panose="02020603050405020304" pitchFamily="18" charset="0"/>
                <a:cs typeface="Times New Roman" panose="02020603050405020304" pitchFamily="18" charset="0"/>
              </a:rPr>
              <a:t>Industrial Waste</a:t>
            </a:r>
          </a:p>
        </p:txBody>
      </p:sp>
      <p:sp>
        <p:nvSpPr>
          <p:cNvPr id="6" name="Rectangle 5">
            <a:extLst>
              <a:ext uri="{FF2B5EF4-FFF2-40B4-BE49-F238E27FC236}">
                <a16:creationId xmlns:a16="http://schemas.microsoft.com/office/drawing/2014/main" id="{2FDD0E5F-708F-42B6-9C1F-5117D835EB4E}"/>
              </a:ext>
            </a:extLst>
          </p:cNvPr>
          <p:cNvSpPr/>
          <p:nvPr/>
        </p:nvSpPr>
        <p:spPr>
          <a:xfrm>
            <a:off x="568032" y="3421761"/>
            <a:ext cx="1828800" cy="523220"/>
          </a:xfrm>
          <a:prstGeom prst="rect">
            <a:avLst/>
          </a:prstGeom>
        </p:spPr>
        <p:txBody>
          <a:bodyPr wrap="square">
            <a:spAutoFit/>
          </a:bodyPr>
          <a:lstStyle/>
          <a:p>
            <a:pPr marL="285750" indent="-28575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Effect:</a:t>
            </a:r>
          </a:p>
        </p:txBody>
      </p:sp>
      <p:sp>
        <p:nvSpPr>
          <p:cNvPr id="7" name="Rectangle 6">
            <a:extLst>
              <a:ext uri="{FF2B5EF4-FFF2-40B4-BE49-F238E27FC236}">
                <a16:creationId xmlns:a16="http://schemas.microsoft.com/office/drawing/2014/main" id="{5873E23A-E596-446A-B6F7-FB7E6AA4E39B}"/>
              </a:ext>
            </a:extLst>
          </p:cNvPr>
          <p:cNvSpPr/>
          <p:nvPr/>
        </p:nvSpPr>
        <p:spPr>
          <a:xfrm>
            <a:off x="568032" y="2450767"/>
            <a:ext cx="8395855"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Industrial areas near rivers pollute water every day.</a:t>
            </a:r>
          </a:p>
        </p:txBody>
      </p:sp>
      <p:sp>
        <p:nvSpPr>
          <p:cNvPr id="8" name="Rectangle 7">
            <a:extLst>
              <a:ext uri="{FF2B5EF4-FFF2-40B4-BE49-F238E27FC236}">
                <a16:creationId xmlns:a16="http://schemas.microsoft.com/office/drawing/2014/main" id="{BD562BF7-F292-40BA-B768-962DE3EEB7C6}"/>
              </a:ext>
            </a:extLst>
          </p:cNvPr>
          <p:cNvSpPr/>
          <p:nvPr/>
        </p:nvSpPr>
        <p:spPr>
          <a:xfrm>
            <a:off x="568032" y="962835"/>
            <a:ext cx="1731818" cy="523220"/>
          </a:xfrm>
          <a:prstGeom prst="rect">
            <a:avLst/>
          </a:prstGeom>
        </p:spPr>
        <p:txBody>
          <a:bodyPr wrap="square">
            <a:spAutoFit/>
          </a:bodyPr>
          <a:lstStyle/>
          <a:p>
            <a:pPr marL="285750" indent="-28575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CAUSE</a:t>
            </a:r>
          </a:p>
        </p:txBody>
      </p:sp>
      <p:sp>
        <p:nvSpPr>
          <p:cNvPr id="9" name="Rectangle 8">
            <a:extLst>
              <a:ext uri="{FF2B5EF4-FFF2-40B4-BE49-F238E27FC236}">
                <a16:creationId xmlns:a16="http://schemas.microsoft.com/office/drawing/2014/main" id="{ECAED73D-3CF5-4AA6-B9B7-6648453D758D}"/>
              </a:ext>
            </a:extLst>
          </p:cNvPr>
          <p:cNvSpPr/>
          <p:nvPr/>
        </p:nvSpPr>
        <p:spPr>
          <a:xfrm>
            <a:off x="568032" y="1736674"/>
            <a:ext cx="8395855"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industries ignore waste treatment rules.</a:t>
            </a:r>
          </a:p>
        </p:txBody>
      </p:sp>
      <p:sp>
        <p:nvSpPr>
          <p:cNvPr id="10" name="Rectangle 9">
            <a:extLst>
              <a:ext uri="{FF2B5EF4-FFF2-40B4-BE49-F238E27FC236}">
                <a16:creationId xmlns:a16="http://schemas.microsoft.com/office/drawing/2014/main" id="{842B57E8-5EB2-4109-9046-BF399C59548D}"/>
              </a:ext>
            </a:extLst>
          </p:cNvPr>
          <p:cNvSpPr/>
          <p:nvPr/>
        </p:nvSpPr>
        <p:spPr>
          <a:xfrm>
            <a:off x="568032" y="2093720"/>
            <a:ext cx="8395855"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Toxic waste makes river water dark, thick, and smelly.</a:t>
            </a:r>
          </a:p>
        </p:txBody>
      </p:sp>
      <p:sp>
        <p:nvSpPr>
          <p:cNvPr id="13" name="Rectangle 12">
            <a:extLst>
              <a:ext uri="{FF2B5EF4-FFF2-40B4-BE49-F238E27FC236}">
                <a16:creationId xmlns:a16="http://schemas.microsoft.com/office/drawing/2014/main" id="{6B3B6E57-3410-40C0-A3A4-A0141FA69151}"/>
              </a:ext>
            </a:extLst>
          </p:cNvPr>
          <p:cNvSpPr/>
          <p:nvPr/>
        </p:nvSpPr>
        <p:spPr>
          <a:xfrm>
            <a:off x="568032" y="4405520"/>
            <a:ext cx="11028218"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natural balance of the river is damaged.</a:t>
            </a:r>
          </a:p>
        </p:txBody>
      </p:sp>
      <p:sp>
        <p:nvSpPr>
          <p:cNvPr id="14" name="Rectangle 13">
            <a:extLst>
              <a:ext uri="{FF2B5EF4-FFF2-40B4-BE49-F238E27FC236}">
                <a16:creationId xmlns:a16="http://schemas.microsoft.com/office/drawing/2014/main" id="{48AFDFCE-E11B-4AF6-BFD3-4FF9A11CA141}"/>
              </a:ext>
            </a:extLst>
          </p:cNvPr>
          <p:cNvSpPr/>
          <p:nvPr/>
        </p:nvSpPr>
        <p:spPr>
          <a:xfrm>
            <a:off x="568032" y="4767253"/>
            <a:ext cx="11028218"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People get skin diseases, infections, and allergies.</a:t>
            </a:r>
          </a:p>
        </p:txBody>
      </p:sp>
      <p:sp>
        <p:nvSpPr>
          <p:cNvPr id="20" name="Rectangle 19">
            <a:extLst>
              <a:ext uri="{FF2B5EF4-FFF2-40B4-BE49-F238E27FC236}">
                <a16:creationId xmlns:a16="http://schemas.microsoft.com/office/drawing/2014/main" id="{5411DD22-469D-499F-A505-A29B9A4D681F}"/>
              </a:ext>
            </a:extLst>
          </p:cNvPr>
          <p:cNvSpPr/>
          <p:nvPr/>
        </p:nvSpPr>
        <p:spPr>
          <a:xfrm>
            <a:off x="568032" y="5128985"/>
            <a:ext cx="11028218"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Long-term exposure can cause kidney , liver problems ,and even cancer</a:t>
            </a:r>
          </a:p>
        </p:txBody>
      </p:sp>
      <p:sp>
        <p:nvSpPr>
          <p:cNvPr id="21" name="Rectangle 20">
            <a:extLst>
              <a:ext uri="{FF2B5EF4-FFF2-40B4-BE49-F238E27FC236}">
                <a16:creationId xmlns:a16="http://schemas.microsoft.com/office/drawing/2014/main" id="{66C05F88-1426-4B31-8B14-1A208C9F1888}"/>
              </a:ext>
            </a:extLst>
          </p:cNvPr>
          <p:cNvSpPr/>
          <p:nvPr/>
        </p:nvSpPr>
        <p:spPr>
          <a:xfrm>
            <a:off x="568032" y="4043787"/>
            <a:ext cx="11028218" cy="369332"/>
          </a:xfrm>
          <a:prstGeom prst="rect">
            <a:avLst/>
          </a:prstGeom>
        </p:spPr>
        <p:txBody>
          <a:bodyPr wrap="square">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Fish, shrimps , and aquatic plants die in large numbers</a:t>
            </a:r>
          </a:p>
        </p:txBody>
      </p:sp>
    </p:spTree>
    <p:extLst>
      <p:ext uri="{BB962C8B-B14F-4D97-AF65-F5344CB8AC3E}">
        <p14:creationId xmlns:p14="http://schemas.microsoft.com/office/powerpoint/2010/main" val="355012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B5D605-4EAA-496B-9A57-DDE48D3CC9B5}"/>
              </a:ext>
            </a:extLst>
          </p:cNvPr>
          <p:cNvSpPr/>
          <p:nvPr/>
        </p:nvSpPr>
        <p:spPr>
          <a:xfrm>
            <a:off x="2588354" y="-36639"/>
            <a:ext cx="6128602" cy="923330"/>
          </a:xfrm>
          <a:prstGeom prst="rect">
            <a:avLst/>
          </a:prstGeom>
          <a:noFill/>
        </p:spPr>
        <p:txBody>
          <a:bodyPr wrap="none" lIns="91440" tIns="45720" rIns="91440" bIns="45720">
            <a:spAutoFit/>
          </a:bodyPr>
          <a:lstStyle/>
          <a:p>
            <a:pPr algn="ctr"/>
            <a:r>
              <a:rPr lang="en-US" sz="5400" b="1" dirty="0">
                <a:latin typeface="Times New Roman" panose="02020603050405020304" pitchFamily="18" charset="0"/>
                <a:cs typeface="Times New Roman" panose="02020603050405020304" pitchFamily="18" charset="0"/>
              </a:rPr>
              <a:t>Agricultural Runoff</a:t>
            </a:r>
          </a:p>
        </p:txBody>
      </p:sp>
      <p:sp>
        <p:nvSpPr>
          <p:cNvPr id="5" name="TextBox 4">
            <a:extLst>
              <a:ext uri="{FF2B5EF4-FFF2-40B4-BE49-F238E27FC236}">
                <a16:creationId xmlns:a16="http://schemas.microsoft.com/office/drawing/2014/main" id="{F80019C6-AFD7-4E7B-A1A9-2C438946E941}"/>
              </a:ext>
            </a:extLst>
          </p:cNvPr>
          <p:cNvSpPr txBox="1"/>
          <p:nvPr/>
        </p:nvSpPr>
        <p:spPr>
          <a:xfrm>
            <a:off x="1052945" y="1293030"/>
            <a:ext cx="2867891" cy="369332"/>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90733C3C-A671-4BCB-B3D0-207C5E93E98A}"/>
              </a:ext>
            </a:extLst>
          </p:cNvPr>
          <p:cNvSpPr txBox="1"/>
          <p:nvPr/>
        </p:nvSpPr>
        <p:spPr>
          <a:xfrm>
            <a:off x="748144" y="1034396"/>
            <a:ext cx="2867891" cy="523220"/>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Cause</a:t>
            </a:r>
          </a:p>
        </p:txBody>
      </p:sp>
      <p:sp>
        <p:nvSpPr>
          <p:cNvPr id="7" name="TextBox 6">
            <a:extLst>
              <a:ext uri="{FF2B5EF4-FFF2-40B4-BE49-F238E27FC236}">
                <a16:creationId xmlns:a16="http://schemas.microsoft.com/office/drawing/2014/main" id="{B3C5D653-EA27-47D9-B707-700DEE8BF26E}"/>
              </a:ext>
            </a:extLst>
          </p:cNvPr>
          <p:cNvSpPr txBox="1"/>
          <p:nvPr/>
        </p:nvSpPr>
        <p:spPr>
          <a:xfrm>
            <a:off x="647698" y="1634839"/>
            <a:ext cx="7942119"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Farmers use large amounts of chemical fertilizers and pesticides.</a:t>
            </a:r>
          </a:p>
        </p:txBody>
      </p:sp>
      <p:sp>
        <p:nvSpPr>
          <p:cNvPr id="9" name="TextBox 8">
            <a:extLst>
              <a:ext uri="{FF2B5EF4-FFF2-40B4-BE49-F238E27FC236}">
                <a16:creationId xmlns:a16="http://schemas.microsoft.com/office/drawing/2014/main" id="{021827C5-4B1B-4FDB-8312-99677F567170}"/>
              </a:ext>
            </a:extLst>
          </p:cNvPr>
          <p:cNvSpPr txBox="1"/>
          <p:nvPr/>
        </p:nvSpPr>
        <p:spPr>
          <a:xfrm>
            <a:off x="633844" y="2028672"/>
            <a:ext cx="7096991"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Rainwater washes these chemicals into rivers and ponds.</a:t>
            </a:r>
          </a:p>
        </p:txBody>
      </p:sp>
      <p:sp>
        <p:nvSpPr>
          <p:cNvPr id="10" name="TextBox 9">
            <a:extLst>
              <a:ext uri="{FF2B5EF4-FFF2-40B4-BE49-F238E27FC236}">
                <a16:creationId xmlns:a16="http://schemas.microsoft.com/office/drawing/2014/main" id="{CF841D94-4E90-485D-8077-5988646A02CA}"/>
              </a:ext>
            </a:extLst>
          </p:cNvPr>
          <p:cNvSpPr txBox="1"/>
          <p:nvPr/>
        </p:nvSpPr>
        <p:spPr>
          <a:xfrm>
            <a:off x="633845" y="2422505"/>
            <a:ext cx="6445828"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Farmland near canals and rivers increases pollution risk.</a:t>
            </a:r>
          </a:p>
        </p:txBody>
      </p:sp>
      <p:sp>
        <p:nvSpPr>
          <p:cNvPr id="11" name="TextBox 10">
            <a:extLst>
              <a:ext uri="{FF2B5EF4-FFF2-40B4-BE49-F238E27FC236}">
                <a16:creationId xmlns:a16="http://schemas.microsoft.com/office/drawing/2014/main" id="{DAA20640-2EE9-47AC-9F09-4001BC646B32}"/>
              </a:ext>
            </a:extLst>
          </p:cNvPr>
          <p:cNvSpPr txBox="1"/>
          <p:nvPr/>
        </p:nvSpPr>
        <p:spPr>
          <a:xfrm>
            <a:off x="633844" y="2816339"/>
            <a:ext cx="7235537"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Excess fertilizer remains in soil and slowly enters groundwater.</a:t>
            </a:r>
          </a:p>
        </p:txBody>
      </p:sp>
      <p:sp>
        <p:nvSpPr>
          <p:cNvPr id="14" name="TextBox 13">
            <a:extLst>
              <a:ext uri="{FF2B5EF4-FFF2-40B4-BE49-F238E27FC236}">
                <a16:creationId xmlns:a16="http://schemas.microsoft.com/office/drawing/2014/main" id="{50CAFE89-BE9E-49B9-A423-FAAFF9FF17F6}"/>
              </a:ext>
            </a:extLst>
          </p:cNvPr>
          <p:cNvSpPr txBox="1"/>
          <p:nvPr/>
        </p:nvSpPr>
        <p:spPr>
          <a:xfrm>
            <a:off x="900545" y="3888483"/>
            <a:ext cx="2867891" cy="523220"/>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Effect</a:t>
            </a:r>
          </a:p>
        </p:txBody>
      </p:sp>
      <p:sp>
        <p:nvSpPr>
          <p:cNvPr id="15" name="TextBox 14">
            <a:extLst>
              <a:ext uri="{FF2B5EF4-FFF2-40B4-BE49-F238E27FC236}">
                <a16:creationId xmlns:a16="http://schemas.microsoft.com/office/drawing/2014/main" id="{B9D22CBA-EEC6-4941-80A4-DBEED41C7D1A}"/>
              </a:ext>
            </a:extLst>
          </p:cNvPr>
          <p:cNvSpPr txBox="1"/>
          <p:nvPr/>
        </p:nvSpPr>
        <p:spPr>
          <a:xfrm>
            <a:off x="633844" y="4382465"/>
            <a:ext cx="6012874"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Fish and helpful insects die due to toxic chemicals.</a:t>
            </a:r>
          </a:p>
        </p:txBody>
      </p:sp>
      <p:sp>
        <p:nvSpPr>
          <p:cNvPr id="16" name="TextBox 15">
            <a:extLst>
              <a:ext uri="{FF2B5EF4-FFF2-40B4-BE49-F238E27FC236}">
                <a16:creationId xmlns:a16="http://schemas.microsoft.com/office/drawing/2014/main" id="{111420C4-50A7-43F9-8C39-42AE24FC40DB}"/>
              </a:ext>
            </a:extLst>
          </p:cNvPr>
          <p:cNvSpPr txBox="1"/>
          <p:nvPr/>
        </p:nvSpPr>
        <p:spPr>
          <a:xfrm>
            <a:off x="633844" y="4800379"/>
            <a:ext cx="4378037"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Soil becomes less fertile over time</a:t>
            </a:r>
            <a:endParaRPr lang="en-US" dirty="0"/>
          </a:p>
        </p:txBody>
      </p:sp>
      <p:sp>
        <p:nvSpPr>
          <p:cNvPr id="17" name="TextBox 16">
            <a:extLst>
              <a:ext uri="{FF2B5EF4-FFF2-40B4-BE49-F238E27FC236}">
                <a16:creationId xmlns:a16="http://schemas.microsoft.com/office/drawing/2014/main" id="{B6AE2DE6-77CA-4DDA-9C57-3B8DBE936E4D}"/>
              </a:ext>
            </a:extLst>
          </p:cNvPr>
          <p:cNvSpPr txBox="1"/>
          <p:nvPr/>
        </p:nvSpPr>
        <p:spPr>
          <a:xfrm>
            <a:off x="633844" y="5218293"/>
            <a:ext cx="4786746"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Drinking water gets polluted and unsafe.</a:t>
            </a:r>
          </a:p>
        </p:txBody>
      </p:sp>
      <p:sp>
        <p:nvSpPr>
          <p:cNvPr id="18" name="TextBox 17">
            <a:extLst>
              <a:ext uri="{FF2B5EF4-FFF2-40B4-BE49-F238E27FC236}">
                <a16:creationId xmlns:a16="http://schemas.microsoft.com/office/drawing/2014/main" id="{BAC676E9-C6EB-4AB7-A82B-264676DCCD9B}"/>
              </a:ext>
            </a:extLst>
          </p:cNvPr>
          <p:cNvSpPr txBox="1"/>
          <p:nvPr/>
        </p:nvSpPr>
        <p:spPr>
          <a:xfrm>
            <a:off x="633844" y="5636206"/>
            <a:ext cx="7235537" cy="646331"/>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People suffer from diarrhea, stomach pain, and other waterborne diseases</a:t>
            </a:r>
          </a:p>
        </p:txBody>
      </p:sp>
    </p:spTree>
    <p:extLst>
      <p:ext uri="{BB962C8B-B14F-4D97-AF65-F5344CB8AC3E}">
        <p14:creationId xmlns:p14="http://schemas.microsoft.com/office/powerpoint/2010/main" val="620879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85B9BC-57D0-4D94-8090-96591E2929EC}"/>
              </a:ext>
            </a:extLst>
          </p:cNvPr>
          <p:cNvSpPr/>
          <p:nvPr/>
        </p:nvSpPr>
        <p:spPr>
          <a:xfrm>
            <a:off x="3319209" y="74198"/>
            <a:ext cx="3974165" cy="923330"/>
          </a:xfrm>
          <a:prstGeom prst="rect">
            <a:avLst/>
          </a:prstGeom>
          <a:noFill/>
        </p:spPr>
        <p:txBody>
          <a:bodyPr wrap="none" lIns="91440" tIns="45720" rIns="91440" bIns="45720">
            <a:spAutoFit/>
          </a:bodyPr>
          <a:lstStyle/>
          <a:p>
            <a:pPr algn="ctr"/>
            <a:r>
              <a:rPr lang="en-US" sz="5400" b="1" dirty="0">
                <a:latin typeface="Times New Roman" panose="02020603050405020304" pitchFamily="18" charset="0"/>
                <a:cs typeface="Times New Roman" panose="02020603050405020304" pitchFamily="18" charset="0"/>
              </a:rPr>
              <a:t>Oil Pollution</a:t>
            </a:r>
          </a:p>
        </p:txBody>
      </p:sp>
      <p:sp>
        <p:nvSpPr>
          <p:cNvPr id="4" name="TextBox 3">
            <a:extLst>
              <a:ext uri="{FF2B5EF4-FFF2-40B4-BE49-F238E27FC236}">
                <a16:creationId xmlns:a16="http://schemas.microsoft.com/office/drawing/2014/main" id="{D3C63B98-2A35-4A19-88C5-CB8441685F13}"/>
              </a:ext>
            </a:extLst>
          </p:cNvPr>
          <p:cNvSpPr txBox="1"/>
          <p:nvPr/>
        </p:nvSpPr>
        <p:spPr>
          <a:xfrm>
            <a:off x="415636" y="1175266"/>
            <a:ext cx="5082529" cy="523220"/>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Cause</a:t>
            </a:r>
          </a:p>
        </p:txBody>
      </p:sp>
      <p:sp>
        <p:nvSpPr>
          <p:cNvPr id="5" name="TextBox 4">
            <a:extLst>
              <a:ext uri="{FF2B5EF4-FFF2-40B4-BE49-F238E27FC236}">
                <a16:creationId xmlns:a16="http://schemas.microsoft.com/office/drawing/2014/main" id="{0EED3621-6C56-46E7-863D-B565214F6AE9}"/>
              </a:ext>
            </a:extLst>
          </p:cNvPr>
          <p:cNvSpPr txBox="1"/>
          <p:nvPr/>
        </p:nvSpPr>
        <p:spPr>
          <a:xfrm>
            <a:off x="415636" y="1805271"/>
            <a:ext cx="5749637"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Oil spills from boats, ships, and launches.</a:t>
            </a:r>
          </a:p>
        </p:txBody>
      </p:sp>
      <p:sp>
        <p:nvSpPr>
          <p:cNvPr id="6" name="TextBox 5">
            <a:extLst>
              <a:ext uri="{FF2B5EF4-FFF2-40B4-BE49-F238E27FC236}">
                <a16:creationId xmlns:a16="http://schemas.microsoft.com/office/drawing/2014/main" id="{E452A163-7151-4FCF-BDF9-64E2F294AC4A}"/>
              </a:ext>
            </a:extLst>
          </p:cNvPr>
          <p:cNvSpPr txBox="1"/>
          <p:nvPr/>
        </p:nvSpPr>
        <p:spPr>
          <a:xfrm>
            <a:off x="415636" y="2282761"/>
            <a:ext cx="6331528"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Leakage from engines and fuel tanks mixes with water.</a:t>
            </a:r>
          </a:p>
        </p:txBody>
      </p:sp>
      <p:sp>
        <p:nvSpPr>
          <p:cNvPr id="7" name="TextBox 6">
            <a:extLst>
              <a:ext uri="{FF2B5EF4-FFF2-40B4-BE49-F238E27FC236}">
                <a16:creationId xmlns:a16="http://schemas.microsoft.com/office/drawing/2014/main" id="{03BDB5C2-4A5C-4957-9243-4EE73E490D2B}"/>
              </a:ext>
            </a:extLst>
          </p:cNvPr>
          <p:cNvSpPr txBox="1"/>
          <p:nvPr/>
        </p:nvSpPr>
        <p:spPr>
          <a:xfrm>
            <a:off x="415636" y="2760251"/>
            <a:ext cx="5749637"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Ports and coastal areas face frequent oil pollution.</a:t>
            </a:r>
          </a:p>
        </p:txBody>
      </p:sp>
      <p:sp>
        <p:nvSpPr>
          <p:cNvPr id="8" name="TextBox 7">
            <a:extLst>
              <a:ext uri="{FF2B5EF4-FFF2-40B4-BE49-F238E27FC236}">
                <a16:creationId xmlns:a16="http://schemas.microsoft.com/office/drawing/2014/main" id="{003F4EA2-FC8F-4E65-B873-B6A156382E84}"/>
              </a:ext>
            </a:extLst>
          </p:cNvPr>
          <p:cNvSpPr txBox="1"/>
          <p:nvPr/>
        </p:nvSpPr>
        <p:spPr>
          <a:xfrm>
            <a:off x="415636" y="3237742"/>
            <a:ext cx="6947011"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Oil spreads quickly and covers a large area of water surface</a:t>
            </a:r>
            <a:endParaRPr lang="en-US" dirty="0"/>
          </a:p>
        </p:txBody>
      </p:sp>
      <p:sp>
        <p:nvSpPr>
          <p:cNvPr id="10" name="TextBox 9">
            <a:extLst>
              <a:ext uri="{FF2B5EF4-FFF2-40B4-BE49-F238E27FC236}">
                <a16:creationId xmlns:a16="http://schemas.microsoft.com/office/drawing/2014/main" id="{C03880FD-5DBB-449F-9AE1-627FCBF2866C}"/>
              </a:ext>
            </a:extLst>
          </p:cNvPr>
          <p:cNvSpPr txBox="1"/>
          <p:nvPr/>
        </p:nvSpPr>
        <p:spPr>
          <a:xfrm>
            <a:off x="556270" y="3825627"/>
            <a:ext cx="5082529" cy="369332"/>
          </a:xfrm>
          <a:prstGeom prst="rect">
            <a:avLst/>
          </a:prstGeom>
          <a:noFill/>
        </p:spPr>
        <p:txBody>
          <a:bodyPr wrap="square" rtlCol="0">
            <a:spAutoFit/>
          </a:bodyPr>
          <a:lstStyle>
            <a:defPPr>
              <a:defRPr lang="en-US"/>
            </a:defPPr>
            <a:lvl1pPr marL="457200" indent="-457200">
              <a:buFont typeface="Wingdings" panose="05000000000000000000" pitchFamily="2" charset="2"/>
              <a:buChar char="q"/>
              <a:defRPr sz="2800"/>
            </a:lvl1pPr>
          </a:lstStyle>
          <a:p>
            <a:r>
              <a:rPr lang="en-US" dirty="0"/>
              <a:t>Effect</a:t>
            </a:r>
          </a:p>
        </p:txBody>
      </p:sp>
      <p:sp>
        <p:nvSpPr>
          <p:cNvPr id="11" name="TextBox 10">
            <a:extLst>
              <a:ext uri="{FF2B5EF4-FFF2-40B4-BE49-F238E27FC236}">
                <a16:creationId xmlns:a16="http://schemas.microsoft.com/office/drawing/2014/main" id="{44CCB2B9-3F6B-4F26-9DE6-AFB3E194719E}"/>
              </a:ext>
            </a:extLst>
          </p:cNvPr>
          <p:cNvSpPr txBox="1"/>
          <p:nvPr/>
        </p:nvSpPr>
        <p:spPr>
          <a:xfrm>
            <a:off x="485952" y="4314587"/>
            <a:ext cx="5082529"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Sunlight cannot enter the water properly.</a:t>
            </a:r>
          </a:p>
        </p:txBody>
      </p:sp>
      <p:sp>
        <p:nvSpPr>
          <p:cNvPr id="12" name="TextBox 11">
            <a:extLst>
              <a:ext uri="{FF2B5EF4-FFF2-40B4-BE49-F238E27FC236}">
                <a16:creationId xmlns:a16="http://schemas.microsoft.com/office/drawing/2014/main" id="{EFDC381F-E3CC-45A2-998F-8C6CA031845B}"/>
              </a:ext>
            </a:extLst>
          </p:cNvPr>
          <p:cNvSpPr txBox="1"/>
          <p:nvPr/>
        </p:nvSpPr>
        <p:spPr>
          <a:xfrm>
            <a:off x="485952" y="4788833"/>
            <a:ext cx="5082529"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Oxygen levels drop, harming aquatic life</a:t>
            </a:r>
            <a:endParaRPr lang="en-US" dirty="0"/>
          </a:p>
        </p:txBody>
      </p:sp>
      <p:sp>
        <p:nvSpPr>
          <p:cNvPr id="13" name="TextBox 12">
            <a:extLst>
              <a:ext uri="{FF2B5EF4-FFF2-40B4-BE49-F238E27FC236}">
                <a16:creationId xmlns:a16="http://schemas.microsoft.com/office/drawing/2014/main" id="{87E4C88A-3BDE-427F-987F-7848097C7F5E}"/>
              </a:ext>
            </a:extLst>
          </p:cNvPr>
          <p:cNvSpPr txBox="1"/>
          <p:nvPr/>
        </p:nvSpPr>
        <p:spPr>
          <a:xfrm>
            <a:off x="485952" y="5263079"/>
            <a:ext cx="5513066"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Fish, birds, and plants die due to lack of oxygen.</a:t>
            </a:r>
          </a:p>
        </p:txBody>
      </p:sp>
      <p:sp>
        <p:nvSpPr>
          <p:cNvPr id="14" name="TextBox 13">
            <a:extLst>
              <a:ext uri="{FF2B5EF4-FFF2-40B4-BE49-F238E27FC236}">
                <a16:creationId xmlns:a16="http://schemas.microsoft.com/office/drawing/2014/main" id="{9BAFA7F9-7C52-4C82-A1CA-FCF680334C26}"/>
              </a:ext>
            </a:extLst>
          </p:cNvPr>
          <p:cNvSpPr txBox="1"/>
          <p:nvPr/>
        </p:nvSpPr>
        <p:spPr>
          <a:xfrm>
            <a:off x="485952" y="5737325"/>
            <a:ext cx="6807422"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water becomes unsafe for fishing, bathing, and daily use.</a:t>
            </a:r>
          </a:p>
        </p:txBody>
      </p:sp>
    </p:spTree>
    <p:extLst>
      <p:ext uri="{BB962C8B-B14F-4D97-AF65-F5344CB8AC3E}">
        <p14:creationId xmlns:p14="http://schemas.microsoft.com/office/powerpoint/2010/main" val="1238194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30AFFD-F0B0-467A-8584-EB844DD901A1}"/>
              </a:ext>
            </a:extLst>
          </p:cNvPr>
          <p:cNvSpPr/>
          <p:nvPr/>
        </p:nvSpPr>
        <p:spPr>
          <a:xfrm>
            <a:off x="1922736" y="0"/>
            <a:ext cx="6573146" cy="923330"/>
          </a:xfrm>
          <a:prstGeom prst="rect">
            <a:avLst/>
          </a:prstGeom>
          <a:noFill/>
        </p:spPr>
        <p:txBody>
          <a:bodyPr wrap="none" lIns="91440" tIns="45720" rIns="91440" bIns="45720">
            <a:spAutoFit/>
          </a:bodyPr>
          <a:lstStyle/>
          <a:p>
            <a:pPr algn="ctr"/>
            <a:r>
              <a:rPr lang="en-US" sz="5400" dirty="0">
                <a:latin typeface="Times New Roman" panose="02020603050405020304" pitchFamily="18" charset="0"/>
                <a:cs typeface="Times New Roman" panose="02020603050405020304" pitchFamily="18" charset="0"/>
              </a:rPr>
              <a:t>Arsenic Contamination</a:t>
            </a:r>
          </a:p>
        </p:txBody>
      </p:sp>
      <p:sp>
        <p:nvSpPr>
          <p:cNvPr id="6" name="TextBox 5">
            <a:extLst>
              <a:ext uri="{FF2B5EF4-FFF2-40B4-BE49-F238E27FC236}">
                <a16:creationId xmlns:a16="http://schemas.microsoft.com/office/drawing/2014/main" id="{2889296A-FAC4-4EF0-9CC8-75B97CE570D8}"/>
              </a:ext>
            </a:extLst>
          </p:cNvPr>
          <p:cNvSpPr txBox="1"/>
          <p:nvPr/>
        </p:nvSpPr>
        <p:spPr>
          <a:xfrm>
            <a:off x="678873" y="1205345"/>
            <a:ext cx="4433454" cy="523220"/>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Cause</a:t>
            </a:r>
          </a:p>
        </p:txBody>
      </p:sp>
      <p:sp>
        <p:nvSpPr>
          <p:cNvPr id="7" name="TextBox 6">
            <a:extLst>
              <a:ext uri="{FF2B5EF4-FFF2-40B4-BE49-F238E27FC236}">
                <a16:creationId xmlns:a16="http://schemas.microsoft.com/office/drawing/2014/main" id="{5B00EF80-FEAD-4F56-9F96-32AD0954C12D}"/>
              </a:ext>
            </a:extLst>
          </p:cNvPr>
          <p:cNvSpPr txBox="1"/>
          <p:nvPr/>
        </p:nvSpPr>
        <p:spPr>
          <a:xfrm>
            <a:off x="648117" y="1621164"/>
            <a:ext cx="5821954"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Arsenic naturally comes from underground rocks.</a:t>
            </a:r>
          </a:p>
        </p:txBody>
      </p:sp>
      <p:sp>
        <p:nvSpPr>
          <p:cNvPr id="8" name="TextBox 7">
            <a:extLst>
              <a:ext uri="{FF2B5EF4-FFF2-40B4-BE49-F238E27FC236}">
                <a16:creationId xmlns:a16="http://schemas.microsoft.com/office/drawing/2014/main" id="{C6F329B4-DFBB-47F4-A4AE-8745A985942D}"/>
              </a:ext>
            </a:extLst>
          </p:cNvPr>
          <p:cNvSpPr txBox="1"/>
          <p:nvPr/>
        </p:nvSpPr>
        <p:spPr>
          <a:xfrm>
            <a:off x="648117" y="2147576"/>
            <a:ext cx="5447883"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mixes with groundwater used in tube-wells.</a:t>
            </a:r>
          </a:p>
        </p:txBody>
      </p:sp>
      <p:sp>
        <p:nvSpPr>
          <p:cNvPr id="9" name="TextBox 8">
            <a:extLst>
              <a:ext uri="{FF2B5EF4-FFF2-40B4-BE49-F238E27FC236}">
                <a16:creationId xmlns:a16="http://schemas.microsoft.com/office/drawing/2014/main" id="{483B3D0E-1CA8-413F-97B2-79CF8AC80EC9}"/>
              </a:ext>
            </a:extLst>
          </p:cNvPr>
          <p:cNvSpPr txBox="1"/>
          <p:nvPr/>
        </p:nvSpPr>
        <p:spPr>
          <a:xfrm>
            <a:off x="648117" y="2673988"/>
            <a:ext cx="6874901"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rural areas use deep tube-wells without testing the water.</a:t>
            </a:r>
          </a:p>
        </p:txBody>
      </p:sp>
      <p:sp>
        <p:nvSpPr>
          <p:cNvPr id="10" name="TextBox 9">
            <a:extLst>
              <a:ext uri="{FF2B5EF4-FFF2-40B4-BE49-F238E27FC236}">
                <a16:creationId xmlns:a16="http://schemas.microsoft.com/office/drawing/2014/main" id="{A295DD38-80D0-4E1F-B9BF-2C488C455FDA}"/>
              </a:ext>
            </a:extLst>
          </p:cNvPr>
          <p:cNvSpPr txBox="1"/>
          <p:nvPr/>
        </p:nvSpPr>
        <p:spPr>
          <a:xfrm>
            <a:off x="648117" y="3200400"/>
            <a:ext cx="6168318"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Lack of awareness increases the use of unsafe water.</a:t>
            </a:r>
          </a:p>
        </p:txBody>
      </p:sp>
      <p:sp>
        <p:nvSpPr>
          <p:cNvPr id="12" name="TextBox 11">
            <a:extLst>
              <a:ext uri="{FF2B5EF4-FFF2-40B4-BE49-F238E27FC236}">
                <a16:creationId xmlns:a16="http://schemas.microsoft.com/office/drawing/2014/main" id="{7E00E60B-D836-4421-B436-A2ACFFE482AA}"/>
              </a:ext>
            </a:extLst>
          </p:cNvPr>
          <p:cNvSpPr txBox="1"/>
          <p:nvPr/>
        </p:nvSpPr>
        <p:spPr>
          <a:xfrm>
            <a:off x="648118" y="4173099"/>
            <a:ext cx="4433454" cy="523220"/>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Effect</a:t>
            </a:r>
            <a:r>
              <a:rPr lang="en-US"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BE861E80-BC43-4C0D-8027-B5312217E079}"/>
              </a:ext>
            </a:extLst>
          </p:cNvPr>
          <p:cNvSpPr txBox="1"/>
          <p:nvPr/>
        </p:nvSpPr>
        <p:spPr>
          <a:xfrm>
            <a:off x="648116" y="4683486"/>
            <a:ext cx="7165847"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People get skin spots, breathing problems, and long-term illness</a:t>
            </a:r>
            <a:endParaRPr lang="en-US" dirty="0"/>
          </a:p>
        </p:txBody>
      </p:sp>
      <p:sp>
        <p:nvSpPr>
          <p:cNvPr id="14" name="TextBox 13">
            <a:extLst>
              <a:ext uri="{FF2B5EF4-FFF2-40B4-BE49-F238E27FC236}">
                <a16:creationId xmlns:a16="http://schemas.microsoft.com/office/drawing/2014/main" id="{79F90B55-3B51-4D5C-A694-5EE2A3439190}"/>
              </a:ext>
            </a:extLst>
          </p:cNvPr>
          <p:cNvSpPr txBox="1"/>
          <p:nvPr/>
        </p:nvSpPr>
        <p:spPr>
          <a:xfrm>
            <a:off x="648117" y="5148558"/>
            <a:ext cx="5683409"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Arsenic can cause serious diseases like cancer.</a:t>
            </a:r>
          </a:p>
        </p:txBody>
      </p:sp>
      <p:sp>
        <p:nvSpPr>
          <p:cNvPr id="15" name="TextBox 14">
            <a:extLst>
              <a:ext uri="{FF2B5EF4-FFF2-40B4-BE49-F238E27FC236}">
                <a16:creationId xmlns:a16="http://schemas.microsoft.com/office/drawing/2014/main" id="{16A4CF6C-4447-468C-BBA1-380DFFA67657}"/>
              </a:ext>
            </a:extLst>
          </p:cNvPr>
          <p:cNvSpPr txBox="1"/>
          <p:nvPr/>
        </p:nvSpPr>
        <p:spPr>
          <a:xfrm>
            <a:off x="648117" y="5613630"/>
            <a:ext cx="5821955"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Crops and plants absorb arsenic and grow poorly.</a:t>
            </a:r>
          </a:p>
        </p:txBody>
      </p:sp>
      <p:sp>
        <p:nvSpPr>
          <p:cNvPr id="16" name="TextBox 15">
            <a:extLst>
              <a:ext uri="{FF2B5EF4-FFF2-40B4-BE49-F238E27FC236}">
                <a16:creationId xmlns:a16="http://schemas.microsoft.com/office/drawing/2014/main" id="{B5C44331-0271-4270-B9C8-CCE8E47BFBC5}"/>
              </a:ext>
            </a:extLst>
          </p:cNvPr>
          <p:cNvSpPr txBox="1"/>
          <p:nvPr/>
        </p:nvSpPr>
        <p:spPr>
          <a:xfrm>
            <a:off x="648117" y="6078703"/>
            <a:ext cx="6168319" cy="369332"/>
          </a:xfrm>
          <a:prstGeom prst="rect">
            <a:avLst/>
          </a:prstGeom>
          <a:noFill/>
        </p:spPr>
        <p:txBody>
          <a:bodyPr wrap="square" rtlCol="0">
            <a:spAutoFit/>
          </a:bodyPr>
          <a:lstStyle/>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Villagers struggle because they rely on tube-wells daily.</a:t>
            </a:r>
          </a:p>
        </p:txBody>
      </p:sp>
    </p:spTree>
    <p:extLst>
      <p:ext uri="{BB962C8B-B14F-4D97-AF65-F5344CB8AC3E}">
        <p14:creationId xmlns:p14="http://schemas.microsoft.com/office/powerpoint/2010/main" val="155315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CCCBB-FB92-400A-8577-6ADA0FC246FD}"/>
              </a:ext>
            </a:extLst>
          </p:cNvPr>
          <p:cNvSpPr/>
          <p:nvPr/>
        </p:nvSpPr>
        <p:spPr>
          <a:xfrm>
            <a:off x="277091" y="170466"/>
            <a:ext cx="11804073" cy="6001643"/>
          </a:xfrm>
          <a:prstGeom prst="rect">
            <a:avLst/>
          </a:prstGeom>
        </p:spPr>
        <p:txBody>
          <a:bodyPr wrap="square">
            <a:spAutoFit/>
          </a:bodyPr>
          <a:lstStyle/>
          <a:p>
            <a:pPr algn="just"/>
            <a:r>
              <a:rPr lang="en-US" sz="1600" dirty="0"/>
              <a:t>One major cause of water pollution in Bangladesh is industrial waste. Many factories in places like </a:t>
            </a:r>
            <a:r>
              <a:rPr lang="en-US" sz="1600" dirty="0" err="1"/>
              <a:t>Savar</a:t>
            </a:r>
            <a:r>
              <a:rPr lang="en-US" sz="1600" dirty="0"/>
              <a:t>, Gazipur, Narayanganj, and </a:t>
            </a:r>
            <a:r>
              <a:rPr lang="en-US" sz="1600" dirty="0" err="1"/>
              <a:t>Chattogram</a:t>
            </a:r>
            <a:r>
              <a:rPr lang="en-US" sz="1600" dirty="0"/>
              <a:t> produce chemicals, dyes, metals, and other harmful substances every day. Instead of treating these wastes properly, many industries release them directly into nearby rivers. This untreated waste mixes with river water and makes it dirty and toxic. The water becomes black, thick, and smelly. The harmful chemicals destroy fish, shrimps, and other aquatic animals. They also damage aquatic plants and make the river lose its natural balance. When people use polluted river water for bathing or washing clothes, they suffer from skin diseases, allergies, and infections. Some chemicals are so dangerous that they can cause long-term health problems like kidney damage, liver disease, and even cancer.</a:t>
            </a:r>
          </a:p>
          <a:p>
            <a:pPr algn="just"/>
            <a:endParaRPr lang="en-US" sz="1600" dirty="0"/>
          </a:p>
          <a:p>
            <a:pPr algn="just"/>
            <a:r>
              <a:rPr lang="en-US" sz="1600" dirty="0"/>
              <a:t>Another important cause of water pollution is </a:t>
            </a:r>
            <a:r>
              <a:rPr lang="en-US" sz="1600" b="1" dirty="0"/>
              <a:t>agricultural runoff</a:t>
            </a:r>
            <a:r>
              <a:rPr lang="en-US" sz="1600" dirty="0"/>
              <a:t>. Farmers often use a large amount of chemical fertilizers and pesticides to grow crops. During heavy rain, these chemicals wash away from the fields and enter rivers, ponds, and canals. This polluted water harms fish, kills helpful insects, and reduces the natural fertility of the soil. It also affects drinking water sources and increases the risk of diseases like diarrhea and stomach infections.</a:t>
            </a:r>
          </a:p>
          <a:p>
            <a:pPr algn="just"/>
            <a:endParaRPr lang="en-US" sz="1600" dirty="0"/>
          </a:p>
          <a:p>
            <a:pPr algn="just"/>
            <a:r>
              <a:rPr lang="en-US" sz="1600" b="1" dirty="0"/>
              <a:t>Oil pollution</a:t>
            </a:r>
            <a:r>
              <a:rPr lang="en-US" sz="1600" dirty="0"/>
              <a:t> is also a growing problem. Oil spills from boats, launches, and ships mix with river water and create a thick layer on the surface. This layer blocks sunlight and reduces the amount of oxygen in the water. As a result, many fish, birds, and aquatic plants die because they cannot breathe or grow properly. Oil pollution also makes river water unsafe for fishing, bathing, and other human activities.</a:t>
            </a:r>
          </a:p>
          <a:p>
            <a:pPr algn="just"/>
            <a:endParaRPr lang="en-US" sz="1600" dirty="0"/>
          </a:p>
          <a:p>
            <a:pPr algn="just"/>
            <a:r>
              <a:rPr lang="en-US" sz="1600" dirty="0"/>
              <a:t>In many areas of Bangladesh, </a:t>
            </a:r>
            <a:r>
              <a:rPr lang="en-US" sz="1600" b="1" dirty="0"/>
              <a:t>arsenic contamination</a:t>
            </a:r>
            <a:r>
              <a:rPr lang="en-US" sz="1600" dirty="0"/>
              <a:t> is another major cause. Arsenic naturally comes from underground rocks and mixes with groundwater. When people use arsenic-contaminated tube-well water, they suffer from skin spots, breathing problems, and serious diseases like cancer. Arsenic also harms crops and reduces food production. This makes life difficult for villagers who depend on tube-well water every day.</a:t>
            </a:r>
          </a:p>
          <a:p>
            <a:pPr algn="just"/>
            <a:endParaRPr lang="en-US" sz="1600" dirty="0"/>
          </a:p>
          <a:p>
            <a:pPr algn="just"/>
            <a:r>
              <a:rPr lang="en-US" sz="1600" dirty="0"/>
              <a:t>Thus, industrial waste, agricultural runoff, oil pollution, and arsenic contamination all contribute to severe water pollution in Bangladesh. These causes create dangerous effects on human health, aquatic life, and the natural environment, putting millions of lives at risk.</a:t>
            </a:r>
          </a:p>
        </p:txBody>
      </p:sp>
    </p:spTree>
    <p:extLst>
      <p:ext uri="{BB962C8B-B14F-4D97-AF65-F5344CB8AC3E}">
        <p14:creationId xmlns:p14="http://schemas.microsoft.com/office/powerpoint/2010/main" val="797918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815</Words>
  <Application>Microsoft Office PowerPoint</Application>
  <PresentationFormat>Widescreen</PresentationFormat>
  <Paragraphs>58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HASIBUL HASAN HASIB</dc:creator>
  <cp:lastModifiedBy>MD. HASIBUL HASAN HASIB</cp:lastModifiedBy>
  <cp:revision>10</cp:revision>
  <dcterms:created xsi:type="dcterms:W3CDTF">2025-12-05T16:18:51Z</dcterms:created>
  <dcterms:modified xsi:type="dcterms:W3CDTF">2025-12-05T17:51:18Z</dcterms:modified>
</cp:coreProperties>
</file>