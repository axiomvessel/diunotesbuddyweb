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D. HASIBUL HASAN HASIB" initials="MHHH" lastIdx="1" clrIdx="0">
    <p:extLst>
      <p:ext uri="{19B8F6BF-5375-455C-9EA6-DF929625EA0E}">
        <p15:presenceInfo xmlns:p15="http://schemas.microsoft.com/office/powerpoint/2012/main" userId="bc3bd1801a82d7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9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18T20:53:41.365" idx="1">
    <p:pos x="10" y="10"/>
    <p:text>BRI-China's Belt and Road Initiative.</p:text>
    <p:extLst>
      <p:ext uri="{C676402C-5697-4E1C-873F-D02D1690AC5C}">
        <p15:threadingInfo xmlns:p15="http://schemas.microsoft.com/office/powerpoint/2012/main" timeZoneBias="-3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1BE48-E39A-4D7B-9F55-B1EB597C0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5F4CA-9AE5-487F-9BFC-2C09015A9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36655-8113-48D6-A820-2794B30A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69E1-745C-4E6F-8744-AAF4C74E663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2FF33-D39F-4A33-A521-0B2DA3386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1067A-5ED2-4729-A525-390FBC76C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67DF6-107E-4F21-BC64-E31B3A37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918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E811-4EA9-4F79-9778-BB97A7B8A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26858-559D-4878-A7BA-186501360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2DC02-D0B0-4858-BB26-2D4846CC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69E1-745C-4E6F-8744-AAF4C74E663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C0E81-A12B-4012-AD32-72E92058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8FBB0-885B-4013-9059-8C81699D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67DF6-107E-4F21-BC64-E31B3A37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7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DE15A-922D-4F44-BC33-7DBD4A50C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1C12B-ACAF-43BF-B316-27E574DFC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09CF8-F2F1-4812-92DB-CB1103E4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69E1-745C-4E6F-8744-AAF4C74E663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C7BC-E4CC-4DB9-A17A-EFF38ED71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1C759-35C7-47F0-8AAF-43D92CD88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67DF6-107E-4F21-BC64-E31B3A37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06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31494-AFB3-45F1-92DA-2FE67F893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5AF03-5444-4481-AB46-4FC28D6C8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62614-CC3C-4DC4-B577-13014678E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7921-9949-4D76-9455-2EC6A37D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69E1-745C-4E6F-8744-AAF4C74E663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2A427-66C8-4336-B0A2-A5C2ADFFB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A6AB6-3152-4DAB-9199-B811F3F8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67DF6-107E-4F21-BC64-E31B3A37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86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193A-2D59-4391-9465-D6F3EBA5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D084F-692D-4E6A-934C-F1DDE0733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46DD8F-DE6B-4FBE-AFFB-C41F74A02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54B981-E446-4B04-B8B4-B77ECFC42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C6E60F-83CF-4E58-851C-F81BDAC632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F10B75-9DAE-43FD-80EE-2009BA9EC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69E1-745C-4E6F-8744-AAF4C74E663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0706E-9E43-44F6-8F6F-4DCF2FD68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BBE14A-E29D-4D1C-BB43-1F1C6F6B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67DF6-107E-4F21-BC64-E31B3A37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4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84807-7A42-450C-8397-8CB66601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4B3A8-A324-4028-B311-32CA9DCD8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69E1-745C-4E6F-8744-AAF4C74E663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9586D-8DC5-4B0E-A616-B3DFB245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E867C-852B-4110-A642-269FADEA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67DF6-107E-4F21-BC64-E31B3A37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2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87652A-A6CB-422A-893B-E340858B8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69E1-745C-4E6F-8744-AAF4C74E663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4BB24-7396-4DED-849C-99BC7923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6CCEF-9E94-4364-938B-C238CFA4A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67DF6-107E-4F21-BC64-E31B3A37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4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E4D9-0840-4016-B6BE-AC2470894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7AD4B-7D05-45EF-B6E9-719699096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AA595-45F7-42AA-8724-1EE576DD5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DAEE4-C3E5-42C6-A4CB-A83B285D8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69E1-745C-4E6F-8744-AAF4C74E663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88AD7-19E1-4B05-902E-1F74CA9C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F78F8-C59E-410E-809A-5256C8EE3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67DF6-107E-4F21-BC64-E31B3A37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03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C6835-F0C2-4E0B-8E5C-A08AE9F5D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783486-2C04-4647-8B9A-75CDC6621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62031-8B9A-4D35-BDFB-11637E1A2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400F6-DD32-4D7B-B14C-5484364C2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69E1-745C-4E6F-8744-AAF4C74E663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AD711-C327-4C0A-A769-83084227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98350-668A-4E18-AEA9-453F22A33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67DF6-107E-4F21-BC64-E31B3A37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17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012F-39BD-4BFD-A446-7656CE207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5E136-F6C9-4C61-982C-D9FAEE429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9BB3A-37CE-4EBC-9A16-24769830F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69E1-745C-4E6F-8744-AAF4C74E663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F81B8-1893-49BF-90D2-9C310CEE7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082B8-7E8E-47E0-87A5-EB19E86C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67DF6-107E-4F21-BC64-E31B3A37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4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40F0B-AD74-45AD-B91C-BE6DD33EB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8584A-5C42-4051-9FE8-417A072DF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19D47-CFAF-4EF3-8282-53AFBE788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69E1-745C-4E6F-8744-AAF4C74E663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8937C-FDF7-4B81-9C41-F065943D0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C8BA2-6389-4B49-A901-BBAD00A0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67DF6-107E-4F21-BC64-E31B3A37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24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93DB9-C7D3-4C7F-9414-1778ECF1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FD4BA-3B18-4CC1-AD65-FDCC4EE1F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998C0-28F7-4BAE-88C1-381CBEBA6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569E1-745C-4E6F-8744-AAF4C74E6633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B0E2-EF91-41EB-8A0B-6E454B6F6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334AF-923B-4B4D-9F95-C8C41B1A8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67DF6-107E-4F21-BC64-E31B3A37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9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26DAFA-1CAE-4C77-9ADB-1AAD28DADD3F}"/>
              </a:ext>
            </a:extLst>
          </p:cNvPr>
          <p:cNvSpPr txBox="1"/>
          <p:nvPr/>
        </p:nvSpPr>
        <p:spPr>
          <a:xfrm>
            <a:off x="3269673" y="360218"/>
            <a:ext cx="5320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u="sng" dirty="0">
                <a:solidFill>
                  <a:srgbClr val="FF0000"/>
                </a:solidFill>
              </a:rPr>
              <a:t>Economic Perspective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6C94E-6C2B-4643-A36B-A6B14A616B8A}"/>
              </a:ext>
            </a:extLst>
          </p:cNvPr>
          <p:cNvSpPr txBox="1"/>
          <p:nvPr/>
        </p:nvSpPr>
        <p:spPr>
          <a:xfrm>
            <a:off x="762000" y="1593273"/>
            <a:ext cx="94903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A. Strength:</a:t>
            </a:r>
          </a:p>
          <a:p>
            <a:r>
              <a:rPr lang="en-US" sz="3200" dirty="0"/>
              <a:t>	1.Access to major trade routes.</a:t>
            </a:r>
          </a:p>
          <a:p>
            <a:r>
              <a:rPr lang="en-US" sz="3200" dirty="0"/>
              <a:t>	2.Proximity to large economics( 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india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 and china</a:t>
            </a:r>
            <a:r>
              <a:rPr lang="en-US" sz="3200" dirty="0"/>
              <a:t>).</a:t>
            </a:r>
          </a:p>
          <a:p>
            <a:r>
              <a:rPr lang="en-US" sz="3200" dirty="0"/>
              <a:t>	3.Agricultural Productivity.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CE3A4-6F2A-4FED-B39F-6991B58AC14C}"/>
              </a:ext>
            </a:extLst>
          </p:cNvPr>
          <p:cNvSpPr txBox="1"/>
          <p:nvPr/>
        </p:nvSpPr>
        <p:spPr>
          <a:xfrm>
            <a:off x="803564" y="4003964"/>
            <a:ext cx="96012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B. Weakness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r>
              <a:rPr lang="en-US" sz="2800" dirty="0"/>
              <a:t>	1.Natural Disaster Vulnerability.(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cyclone, flood, river erosion</a:t>
            </a:r>
            <a:r>
              <a:rPr lang="en-US" sz="2400" dirty="0"/>
              <a:t>)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800" dirty="0"/>
              <a:t>	2.Overdependence on textiles and garments.</a:t>
            </a:r>
          </a:p>
          <a:p>
            <a:r>
              <a:rPr lang="en-US" sz="2800" dirty="0"/>
              <a:t>	3.Underdeveloped Infrastructure.(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Road 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network,energy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supply and ports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3478241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C58B2F-6EFA-4EEC-B913-59FB292C6499}"/>
              </a:ext>
            </a:extLst>
          </p:cNvPr>
          <p:cNvSpPr txBox="1"/>
          <p:nvPr/>
        </p:nvSpPr>
        <p:spPr>
          <a:xfrm>
            <a:off x="332509" y="360218"/>
            <a:ext cx="117070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</a:rPr>
              <a:t>C.Opportunities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r>
              <a:rPr lang="en-US" sz="2800" dirty="0"/>
              <a:t>	1.Trade and connectivity Initiative.(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BRI</a:t>
            </a:r>
            <a:r>
              <a:rPr lang="en-US" sz="2800" dirty="0"/>
              <a:t>)</a:t>
            </a:r>
          </a:p>
          <a:p>
            <a:r>
              <a:rPr lang="en-US" sz="2800" dirty="0"/>
              <a:t>	2.Renewable Energy.</a:t>
            </a:r>
          </a:p>
          <a:p>
            <a:r>
              <a:rPr lang="en-US" sz="2800" dirty="0"/>
              <a:t>	3.Tourism.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693A1-D428-48BB-A360-0265ACB6294F}"/>
              </a:ext>
            </a:extLst>
          </p:cNvPr>
          <p:cNvSpPr txBox="1"/>
          <p:nvPr/>
        </p:nvSpPr>
        <p:spPr>
          <a:xfrm>
            <a:off x="329380" y="3443749"/>
            <a:ext cx="115332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D. Threats:</a:t>
            </a:r>
          </a:p>
          <a:p>
            <a:r>
              <a:rPr lang="en-US" sz="2800" dirty="0"/>
              <a:t>	1.Dependence on global supply chain.</a:t>
            </a:r>
          </a:p>
          <a:p>
            <a:r>
              <a:rPr lang="en-US" sz="2800" dirty="0"/>
              <a:t>	2.Economic </a:t>
            </a:r>
            <a:r>
              <a:rPr lang="en-US" sz="2800" dirty="0" err="1"/>
              <a:t>disparty</a:t>
            </a:r>
            <a:r>
              <a:rPr lang="en-US" sz="2800" dirty="0"/>
              <a:t> and income inequality.</a:t>
            </a:r>
          </a:p>
        </p:txBody>
      </p:sp>
    </p:spTree>
    <p:extLst>
      <p:ext uri="{BB962C8B-B14F-4D97-AF65-F5344CB8AC3E}">
        <p14:creationId xmlns:p14="http://schemas.microsoft.com/office/powerpoint/2010/main" val="3160554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5A449C-06F0-4415-9F29-AAD81EAD40C2}"/>
              </a:ext>
            </a:extLst>
          </p:cNvPr>
          <p:cNvSpPr txBox="1"/>
          <p:nvPr/>
        </p:nvSpPr>
        <p:spPr>
          <a:xfrm>
            <a:off x="1288473" y="886691"/>
            <a:ext cx="9351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</a:t>
            </a:r>
            <a:r>
              <a:rPr lang="en-US" sz="2000" b="1" i="1" dirty="0"/>
              <a:t>Regional Cooperation</a:t>
            </a:r>
            <a:r>
              <a:rPr lang="en-US" dirty="0"/>
              <a:t>-SAFTA,BBIN</a:t>
            </a:r>
          </a:p>
        </p:txBody>
      </p:sp>
    </p:spTree>
    <p:extLst>
      <p:ext uri="{BB962C8B-B14F-4D97-AF65-F5344CB8AC3E}">
        <p14:creationId xmlns:p14="http://schemas.microsoft.com/office/powerpoint/2010/main" val="390191778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19D07B-73EB-44D7-9925-2B3E5AE1005E}"/>
              </a:ext>
            </a:extLst>
          </p:cNvPr>
          <p:cNvSpPr txBox="1"/>
          <p:nvPr/>
        </p:nvSpPr>
        <p:spPr>
          <a:xfrm>
            <a:off x="2893477" y="315974"/>
            <a:ext cx="6405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u="sng" dirty="0">
                <a:solidFill>
                  <a:srgbClr val="FF0000"/>
                </a:solidFill>
                <a:latin typeface="Arial Black" panose="020B0A04020102020204" pitchFamily="34" charset="0"/>
              </a:rPr>
              <a:t>Cultural Perspective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D52636-F3A7-4ADE-B2E2-1FFEC9631075}"/>
              </a:ext>
            </a:extLst>
          </p:cNvPr>
          <p:cNvSpPr txBox="1"/>
          <p:nvPr/>
        </p:nvSpPr>
        <p:spPr>
          <a:xfrm>
            <a:off x="589935" y="1114732"/>
            <a:ext cx="104659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Strength :</a:t>
            </a:r>
          </a:p>
          <a:p>
            <a:pPr lvl="1"/>
            <a:r>
              <a:rPr lang="en-US" sz="2400" dirty="0"/>
              <a:t>1.Rich Cultural Heritage.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Mughal era monuments and Sundarbans mangrove forest.</a:t>
            </a:r>
            <a:r>
              <a:rPr lang="en-US" sz="2400" dirty="0"/>
              <a:t>		</a:t>
            </a:r>
          </a:p>
          <a:p>
            <a:pPr lvl="1"/>
            <a:r>
              <a:rPr lang="en-US" sz="2400" dirty="0"/>
              <a:t>2.Strong sense of national identity.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The Language movement of 1952.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1971.</a:t>
            </a:r>
          </a:p>
          <a:p>
            <a:pPr lvl="1"/>
            <a:r>
              <a:rPr lang="en-US" sz="2400" dirty="0"/>
              <a:t>3.Popular Cultural Exports.(e.g. arts ,music ,film)</a:t>
            </a:r>
          </a:p>
          <a:p>
            <a:pPr lvl="1"/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0251C-D5FE-4AB2-8A4A-6D11BAAD99CD}"/>
              </a:ext>
            </a:extLst>
          </p:cNvPr>
          <p:cNvSpPr txBox="1"/>
          <p:nvPr/>
        </p:nvSpPr>
        <p:spPr>
          <a:xfrm>
            <a:off x="454295" y="3829238"/>
            <a:ext cx="107372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B. Weaknesses: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1.Cultural Division and tensions.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	Ethnic , religious and political division.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Religious and secular group.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2.Limited international cultural diplomacy.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Lag behind in terms of soft global power and cultural influence .</a:t>
            </a:r>
          </a:p>
        </p:txBody>
      </p:sp>
    </p:spTree>
    <p:extLst>
      <p:ext uri="{BB962C8B-B14F-4D97-AF65-F5344CB8AC3E}">
        <p14:creationId xmlns:p14="http://schemas.microsoft.com/office/powerpoint/2010/main" val="333214993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D644D5-9029-43B2-8101-AFDECBEC3E8C}"/>
              </a:ext>
            </a:extLst>
          </p:cNvPr>
          <p:cNvSpPr txBox="1"/>
          <p:nvPr/>
        </p:nvSpPr>
        <p:spPr>
          <a:xfrm>
            <a:off x="235526" y="228601"/>
            <a:ext cx="118040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C. Opportunities: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1.promoting Cultural Tourism.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Showcasing diverse heritage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ancient historical sites ,tradition ,festivals like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pohela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Boishakh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UNESCO world heritage sites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sundarban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,Bagerhat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).</a:t>
            </a:r>
          </a:p>
          <a:p>
            <a:pPr lvl="2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r>
              <a:rPr lang="en-US" sz="2400" dirty="0"/>
              <a:t> Leveraging Digital Platforms for Cultural Expansion.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Film and entertainment industry(like Netflix ,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Youtube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, social media sites)		</a:t>
            </a:r>
          </a:p>
        </p:txBody>
      </p:sp>
    </p:spTree>
    <p:extLst>
      <p:ext uri="{BB962C8B-B14F-4D97-AF65-F5344CB8AC3E}">
        <p14:creationId xmlns:p14="http://schemas.microsoft.com/office/powerpoint/2010/main" val="4064902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F6852C-5D9F-4A13-8EB5-183B92295449}"/>
              </a:ext>
            </a:extLst>
          </p:cNvPr>
          <p:cNvSpPr txBox="1"/>
          <p:nvPr/>
        </p:nvSpPr>
        <p:spPr>
          <a:xfrm>
            <a:off x="2321169" y="422031"/>
            <a:ext cx="7779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u="sng" dirty="0">
                <a:solidFill>
                  <a:srgbClr val="FF0000"/>
                </a:solidFill>
                <a:latin typeface="Arial Black" panose="020B0A04020102020204" pitchFamily="34" charset="0"/>
              </a:rPr>
              <a:t>Political Perspective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71877-47CA-4F23-B813-A8BCA747CD09}"/>
              </a:ext>
            </a:extLst>
          </p:cNvPr>
          <p:cNvSpPr txBox="1"/>
          <p:nvPr/>
        </p:nvSpPr>
        <p:spPr>
          <a:xfrm>
            <a:off x="759655" y="1533378"/>
            <a:ext cx="107758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Strengths:</a:t>
            </a:r>
          </a:p>
          <a:p>
            <a:pPr marL="914400" lvl="1" indent="-457200">
              <a:buAutoNum type="arabicPeriod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Strategic Regional Importance.(Trade , security ,diplomacy)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Member of UN,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SAARC,Commonwealth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2.     Relationship with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india</a:t>
            </a:r>
            <a:r>
              <a:rPr lang="en-US" sz="240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263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310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HASIBUL HASAN HASIB</dc:creator>
  <cp:lastModifiedBy>MD. HASIBUL HASAN HASIB</cp:lastModifiedBy>
  <cp:revision>18</cp:revision>
  <dcterms:created xsi:type="dcterms:W3CDTF">2025-09-18T14:19:17Z</dcterms:created>
  <dcterms:modified xsi:type="dcterms:W3CDTF">2025-09-19T04:33:58Z</dcterms:modified>
</cp:coreProperties>
</file>