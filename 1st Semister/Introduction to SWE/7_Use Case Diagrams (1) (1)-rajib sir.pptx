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Nunito" panose="020B0604020202020204" charset="0"/>
      <p:regular r:id="rId18"/>
      <p:bold r:id="rId19"/>
      <p:italic r:id="rId20"/>
      <p:boldItalic r:id="rId21"/>
    </p:embeddedFont>
    <p:embeddedFont>
      <p:font typeface="Source Sans 3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EslA1fiK2paLIWEZfPCg2h2nn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98820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6560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8713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55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3224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88755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6383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617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5507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2478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7702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9b216c8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g369b216c8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6095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Source Sans 3"/>
              <a:buNone/>
            </a:pPr>
            <a:r>
              <a:rPr lang="en-US" b="1" i="0">
                <a:solidFill>
                  <a:srgbClr val="0070C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 Case Diagrams | Unified Modeling Language (UML)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4095078" y="370961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i="1" dirty="0" err="1" smtClean="0"/>
              <a:t>Md</a:t>
            </a:r>
            <a:r>
              <a:rPr lang="en-US" i="1" dirty="0" smtClean="0"/>
              <a:t> </a:t>
            </a:r>
            <a:r>
              <a:rPr lang="en-US" i="1" dirty="0" err="1" smtClean="0"/>
              <a:t>Rajib</a:t>
            </a:r>
            <a:r>
              <a:rPr lang="en-US" i="1" dirty="0" smtClean="0"/>
              <a:t> Mia</a:t>
            </a:r>
            <a:endParaRPr i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i="1" dirty="0" smtClean="0">
                <a:latin typeface="Nunito"/>
                <a:ea typeface="Nunito"/>
                <a:cs typeface="Nunito"/>
                <a:sym typeface="Nunito"/>
              </a:rPr>
              <a:t>Lecture (Senior Scale) </a:t>
            </a:r>
            <a:r>
              <a:rPr lang="en-US" i="1" dirty="0">
                <a:latin typeface="Nunito"/>
                <a:ea typeface="Nunito"/>
                <a:cs typeface="Nunito"/>
                <a:sym typeface="Nunito"/>
              </a:rPr>
              <a:t/>
            </a:r>
            <a:br>
              <a:rPr lang="en-US" i="1" dirty="0">
                <a:latin typeface="Nunito"/>
                <a:ea typeface="Nunito"/>
                <a:cs typeface="Nunito"/>
                <a:sym typeface="Nunito"/>
              </a:rPr>
            </a:br>
            <a:r>
              <a:rPr lang="en-US" i="1" dirty="0">
                <a:latin typeface="Nunito"/>
                <a:ea typeface="Nunito"/>
                <a:cs typeface="Nunito"/>
                <a:sym typeface="Nunito"/>
              </a:rPr>
              <a:t>SWE, DIU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Nunito"/>
              <a:buNone/>
            </a:pPr>
            <a:r>
              <a:rPr lang="en-US" b="1" i="0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Use Case Diagram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 Use Case Diagram is a vital tool in system design, it provides a visual representation of how users interact with a system.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serves as a blueprint for understanding the functional requirements of a system from a user’s perspective, aiding in the communication between stakeholders and guiding the development process.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Nunito"/>
              <a:buNone/>
            </a:pPr>
            <a:r>
              <a:rPr lang="en-US" b="1" i="0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Use Case Diagram Notations</a:t>
            </a:r>
            <a:endParaRPr>
              <a:solidFill>
                <a:srgbClr val="0070C0"/>
              </a:solidFill>
            </a:endParaRPr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9110" y="2076975"/>
            <a:ext cx="7161336" cy="295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Nunito"/>
              <a:buNone/>
            </a:pPr>
            <a:r>
              <a:rPr lang="en-US" b="1" i="0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Use Case Diagram Relationships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romanLcPeriod"/>
            </a:pPr>
            <a:r>
              <a:rPr lang="en-US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Association Relationship</a:t>
            </a:r>
            <a:endParaRPr/>
          </a:p>
          <a:p>
            <a:pPr marL="571500" lvl="0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romanLcPeriod"/>
            </a:pPr>
            <a:r>
              <a:rPr lang="en-US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Include Relationship</a:t>
            </a:r>
            <a:endParaRPr/>
          </a:p>
          <a:p>
            <a:pPr marL="571500" lvl="0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romanLcPeriod"/>
            </a:pPr>
            <a:r>
              <a:rPr lang="en-US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Extend Relationship</a:t>
            </a:r>
            <a:endParaRPr/>
          </a:p>
          <a:p>
            <a:pPr marL="571500" lvl="0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romanLcPeriod"/>
            </a:pPr>
            <a:r>
              <a:rPr lang="en-US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Generalization Relationship</a:t>
            </a:r>
            <a:endParaRPr/>
          </a:p>
          <a:p>
            <a:pPr marL="571500" lvl="0" indent="-393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Nunito"/>
              <a:buNone/>
            </a:pPr>
            <a:r>
              <a:rPr lang="en-US" b="1" i="0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Association Relationship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The</a:t>
            </a:r>
            <a:r>
              <a:rPr lang="en-US" b="1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 </a:t>
            </a: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Association Relationship represents a communication or interaction between an actor and a use case.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is depicted by a line connecting the actor to the use case.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This relationship signifies that the actor is involved in the functionality described by the use case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Nunito"/>
              <a:buNone/>
            </a:pPr>
            <a:r>
              <a:rPr lang="en-US" b="1" i="0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Include Relationship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The Include Relationship indicates that a use case includes the functionality of another use case.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is denoted by a dashed arrow pointing </a:t>
            </a:r>
            <a:r>
              <a:rPr lang="en-US" b="1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from the including use case to the included use case</a:t>
            </a: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. This relationship promotes modular and reusable design.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5104" y="4353339"/>
            <a:ext cx="7068947" cy="1311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Nunito"/>
              <a:buNone/>
            </a:pPr>
            <a:r>
              <a:rPr lang="en-US" b="1" i="0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 Extend Relationship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The Extend Relationship illustrates that a use case can be extended by another use case under specific conditions. It is represented by a dashed arrow with the keyword “extend.” This relationship is useful for handling optional or exceptional behavior.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410" y="4253043"/>
            <a:ext cx="9693180" cy="1325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Nunito"/>
              <a:buNone/>
            </a:pPr>
            <a:r>
              <a:rPr lang="en-US" b="1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Include vs Extend</a:t>
            </a:r>
            <a:endParaRPr/>
          </a:p>
        </p:txBody>
      </p:sp>
      <p:pic>
        <p:nvPicPr>
          <p:cNvPr id="129" name="Google Shape;129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65829" y="2286173"/>
            <a:ext cx="8747070" cy="3895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Nunito"/>
              <a:buNone/>
            </a:pPr>
            <a:r>
              <a:rPr lang="en-US" b="1" i="0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Generalization Relationship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35" name="Google Shape;13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The Generalization Relationship establishes an “is-a” connection between two use cases, indicating that one use case is a specialized version of another.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is represented by an arrow pointing from the specialized use case to the general use case.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7516" y="4233592"/>
            <a:ext cx="5182323" cy="1943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700" y="152400"/>
            <a:ext cx="6889264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9b216c82d_0_0"/>
          <p:cNvSpPr/>
          <p:nvPr/>
        </p:nvSpPr>
        <p:spPr>
          <a:xfrm>
            <a:off x="5137850" y="235375"/>
            <a:ext cx="5557800" cy="6526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69b216c82d_0_0"/>
          <p:cNvSpPr/>
          <p:nvPr/>
        </p:nvSpPr>
        <p:spPr>
          <a:xfrm>
            <a:off x="7023800" y="502950"/>
            <a:ext cx="1676400" cy="705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Login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69b216c82d_0_0"/>
          <p:cNvSpPr/>
          <p:nvPr/>
        </p:nvSpPr>
        <p:spPr>
          <a:xfrm>
            <a:off x="7023800" y="2248388"/>
            <a:ext cx="1676400" cy="705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Check Clearance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69b216c82d_0_0"/>
          <p:cNvSpPr/>
          <p:nvPr/>
        </p:nvSpPr>
        <p:spPr>
          <a:xfrm>
            <a:off x="7023800" y="1375663"/>
            <a:ext cx="1676400" cy="705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Check Payment Status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69b216c82d_0_0"/>
          <p:cNvSpPr/>
          <p:nvPr/>
        </p:nvSpPr>
        <p:spPr>
          <a:xfrm>
            <a:off x="7023800" y="3146113"/>
            <a:ext cx="1676400" cy="705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Assign Course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69b216c82d_0_0"/>
          <p:cNvSpPr/>
          <p:nvPr/>
        </p:nvSpPr>
        <p:spPr>
          <a:xfrm>
            <a:off x="7023800" y="4093850"/>
            <a:ext cx="1676400" cy="705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Check Live Result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69b216c82d_0_0"/>
          <p:cNvSpPr/>
          <p:nvPr/>
        </p:nvSpPr>
        <p:spPr>
          <a:xfrm>
            <a:off x="7023800" y="5027300"/>
            <a:ext cx="1676400" cy="705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Check SGPA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69b216c82d_0_0"/>
          <p:cNvSpPr/>
          <p:nvPr/>
        </p:nvSpPr>
        <p:spPr>
          <a:xfrm>
            <a:off x="7023800" y="5932175"/>
            <a:ext cx="1676400" cy="705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Provide Feedback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69b216c82d_0_0"/>
          <p:cNvSpPr/>
          <p:nvPr/>
        </p:nvSpPr>
        <p:spPr>
          <a:xfrm>
            <a:off x="2689850" y="1813550"/>
            <a:ext cx="666900" cy="571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g369b216c82d_0_0"/>
          <p:cNvCxnSpPr>
            <a:stCxn id="154" idx="4"/>
          </p:cNvCxnSpPr>
          <p:nvPr/>
        </p:nvCxnSpPr>
        <p:spPr>
          <a:xfrm>
            <a:off x="3023300" y="2385050"/>
            <a:ext cx="9600" cy="87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" name="Google Shape;156;g369b216c82d_0_0"/>
          <p:cNvCxnSpPr/>
          <p:nvPr/>
        </p:nvCxnSpPr>
        <p:spPr>
          <a:xfrm flipH="1">
            <a:off x="2480300" y="2708900"/>
            <a:ext cx="533400" cy="11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g369b216c82d_0_0"/>
          <p:cNvCxnSpPr/>
          <p:nvPr/>
        </p:nvCxnSpPr>
        <p:spPr>
          <a:xfrm>
            <a:off x="3013700" y="2708900"/>
            <a:ext cx="419100" cy="1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g369b216c82d_0_0"/>
          <p:cNvCxnSpPr/>
          <p:nvPr/>
        </p:nvCxnSpPr>
        <p:spPr>
          <a:xfrm flipH="1">
            <a:off x="2213750" y="3242300"/>
            <a:ext cx="819000" cy="40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g369b216c82d_0_0"/>
          <p:cNvCxnSpPr/>
          <p:nvPr/>
        </p:nvCxnSpPr>
        <p:spPr>
          <a:xfrm>
            <a:off x="3032750" y="3280400"/>
            <a:ext cx="514500" cy="43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" name="Google Shape;160;g369b216c82d_0_0"/>
          <p:cNvSpPr txBox="1"/>
          <p:nvPr/>
        </p:nvSpPr>
        <p:spPr>
          <a:xfrm>
            <a:off x="1642100" y="4556750"/>
            <a:ext cx="2476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Actor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69b216c82d_0_0"/>
          <p:cNvSpPr/>
          <p:nvPr/>
        </p:nvSpPr>
        <p:spPr>
          <a:xfrm>
            <a:off x="11681450" y="1356350"/>
            <a:ext cx="666900" cy="705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g369b216c82d_0_0"/>
          <p:cNvCxnSpPr>
            <a:stCxn id="161" idx="4"/>
          </p:cNvCxnSpPr>
          <p:nvPr/>
        </p:nvCxnSpPr>
        <p:spPr>
          <a:xfrm>
            <a:off x="12014900" y="2061350"/>
            <a:ext cx="28500" cy="104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g369b216c82d_0_0"/>
          <p:cNvCxnSpPr>
            <a:stCxn id="161" idx="4"/>
          </p:cNvCxnSpPr>
          <p:nvPr/>
        </p:nvCxnSpPr>
        <p:spPr>
          <a:xfrm flipH="1">
            <a:off x="11567300" y="2061350"/>
            <a:ext cx="447600" cy="51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g369b216c82d_0_0"/>
          <p:cNvCxnSpPr>
            <a:stCxn id="161" idx="4"/>
          </p:cNvCxnSpPr>
          <p:nvPr/>
        </p:nvCxnSpPr>
        <p:spPr>
          <a:xfrm>
            <a:off x="12014900" y="2061350"/>
            <a:ext cx="523800" cy="45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g369b216c82d_0_0"/>
          <p:cNvCxnSpPr/>
          <p:nvPr/>
        </p:nvCxnSpPr>
        <p:spPr>
          <a:xfrm flipH="1">
            <a:off x="11319500" y="3032750"/>
            <a:ext cx="685800" cy="32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166;g369b216c82d_0_0"/>
          <p:cNvCxnSpPr/>
          <p:nvPr/>
        </p:nvCxnSpPr>
        <p:spPr>
          <a:xfrm>
            <a:off x="12062450" y="2994650"/>
            <a:ext cx="705000" cy="41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" name="Google Shape;167;g369b216c82d_0_0"/>
          <p:cNvSpPr txBox="1"/>
          <p:nvPr/>
        </p:nvSpPr>
        <p:spPr>
          <a:xfrm>
            <a:off x="11038550" y="3889850"/>
            <a:ext cx="24765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Secondary Actor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g369b216c82d_0_0"/>
          <p:cNvCxnSpPr>
            <a:endCxn id="147" idx="3"/>
          </p:cNvCxnSpPr>
          <p:nvPr/>
        </p:nvCxnSpPr>
        <p:spPr>
          <a:xfrm rot="10800000" flipH="1">
            <a:off x="3413703" y="1104705"/>
            <a:ext cx="3855600" cy="181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g369b216c82d_0_0"/>
          <p:cNvCxnSpPr>
            <a:endCxn id="149" idx="2"/>
          </p:cNvCxnSpPr>
          <p:nvPr/>
        </p:nvCxnSpPr>
        <p:spPr>
          <a:xfrm rot="10800000" flipH="1">
            <a:off x="3394700" y="1728163"/>
            <a:ext cx="3629100" cy="115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g369b216c82d_0_0"/>
          <p:cNvCxnSpPr>
            <a:endCxn id="148" idx="2"/>
          </p:cNvCxnSpPr>
          <p:nvPr/>
        </p:nvCxnSpPr>
        <p:spPr>
          <a:xfrm rot="10800000" flipH="1">
            <a:off x="3489800" y="2600888"/>
            <a:ext cx="3534000" cy="24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g369b216c82d_0_0"/>
          <p:cNvCxnSpPr>
            <a:endCxn id="150" idx="2"/>
          </p:cNvCxnSpPr>
          <p:nvPr/>
        </p:nvCxnSpPr>
        <p:spPr>
          <a:xfrm>
            <a:off x="3547100" y="2823313"/>
            <a:ext cx="3476700" cy="67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" name="Google Shape;172;g369b216c82d_0_0"/>
          <p:cNvCxnSpPr>
            <a:endCxn id="151" idx="2"/>
          </p:cNvCxnSpPr>
          <p:nvPr/>
        </p:nvCxnSpPr>
        <p:spPr>
          <a:xfrm>
            <a:off x="3489800" y="2861150"/>
            <a:ext cx="3534000" cy="158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" name="Google Shape;173;g369b216c82d_0_0"/>
          <p:cNvCxnSpPr>
            <a:endCxn id="152" idx="2"/>
          </p:cNvCxnSpPr>
          <p:nvPr/>
        </p:nvCxnSpPr>
        <p:spPr>
          <a:xfrm>
            <a:off x="3470900" y="2861300"/>
            <a:ext cx="3552900" cy="251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" name="Google Shape;174;g369b216c82d_0_0"/>
          <p:cNvCxnSpPr>
            <a:endCxn id="153" idx="2"/>
          </p:cNvCxnSpPr>
          <p:nvPr/>
        </p:nvCxnSpPr>
        <p:spPr>
          <a:xfrm>
            <a:off x="3451700" y="2842175"/>
            <a:ext cx="3572100" cy="344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g369b216c82d_0_0"/>
          <p:cNvCxnSpPr>
            <a:stCxn id="147" idx="5"/>
          </p:cNvCxnSpPr>
          <p:nvPr/>
        </p:nvCxnSpPr>
        <p:spPr>
          <a:xfrm>
            <a:off x="8454697" y="1104705"/>
            <a:ext cx="3188700" cy="143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g369b216c82d_0_0"/>
          <p:cNvCxnSpPr>
            <a:stCxn id="148" idx="6"/>
          </p:cNvCxnSpPr>
          <p:nvPr/>
        </p:nvCxnSpPr>
        <p:spPr>
          <a:xfrm rot="10800000" flipH="1">
            <a:off x="8700200" y="2556488"/>
            <a:ext cx="2847900" cy="4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g369b216c82d_0_0"/>
          <p:cNvCxnSpPr>
            <a:stCxn id="150" idx="7"/>
          </p:cNvCxnSpPr>
          <p:nvPr/>
        </p:nvCxnSpPr>
        <p:spPr>
          <a:xfrm rot="10800000" flipH="1">
            <a:off x="8454697" y="2575557"/>
            <a:ext cx="3207600" cy="67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g369b216c82d_0_0"/>
          <p:cNvCxnSpPr>
            <a:stCxn id="151" idx="6"/>
          </p:cNvCxnSpPr>
          <p:nvPr/>
        </p:nvCxnSpPr>
        <p:spPr>
          <a:xfrm rot="10800000" flipH="1">
            <a:off x="8700200" y="2556650"/>
            <a:ext cx="2905200" cy="18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g369b216c82d_0_0"/>
          <p:cNvCxnSpPr>
            <a:stCxn id="152" idx="6"/>
          </p:cNvCxnSpPr>
          <p:nvPr/>
        </p:nvCxnSpPr>
        <p:spPr>
          <a:xfrm rot="10800000" flipH="1">
            <a:off x="8700200" y="2518400"/>
            <a:ext cx="2905200" cy="286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g369b216c82d_0_0"/>
          <p:cNvSpPr/>
          <p:nvPr/>
        </p:nvSpPr>
        <p:spPr>
          <a:xfrm>
            <a:off x="9033500" y="803900"/>
            <a:ext cx="1676400" cy="571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User Athentication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69b216c82d_0_0"/>
          <p:cNvSpPr/>
          <p:nvPr/>
        </p:nvSpPr>
        <p:spPr>
          <a:xfrm>
            <a:off x="8938250" y="5379800"/>
            <a:ext cx="1676400" cy="571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Help Desk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g369b216c82d_0_0"/>
          <p:cNvCxnSpPr>
            <a:stCxn id="147" idx="7"/>
            <a:endCxn id="180" idx="1"/>
          </p:cNvCxnSpPr>
          <p:nvPr/>
        </p:nvCxnSpPr>
        <p:spPr>
          <a:xfrm>
            <a:off x="8454697" y="606195"/>
            <a:ext cx="824400" cy="281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g369b216c82d_0_0"/>
          <p:cNvCxnSpPr>
            <a:stCxn id="181" idx="4"/>
            <a:endCxn id="153" idx="6"/>
          </p:cNvCxnSpPr>
          <p:nvPr/>
        </p:nvCxnSpPr>
        <p:spPr>
          <a:xfrm flipH="1">
            <a:off x="8700350" y="5951300"/>
            <a:ext cx="1076100" cy="333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84" name="Google Shape;184;g369b216c82d_0_0"/>
          <p:cNvSpPr txBox="1"/>
          <p:nvPr/>
        </p:nvSpPr>
        <p:spPr>
          <a:xfrm>
            <a:off x="8478350" y="346850"/>
            <a:ext cx="334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&lt;&lt;include&gt;&gt;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69b216c82d_0_0"/>
          <p:cNvSpPr txBox="1"/>
          <p:nvPr/>
        </p:nvSpPr>
        <p:spPr>
          <a:xfrm>
            <a:off x="8843100" y="6284600"/>
            <a:ext cx="1295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&lt;&lt;exclude&gt;&gt;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Widescreen</PresentationFormat>
  <Paragraphs>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Nunito</vt:lpstr>
      <vt:lpstr>Source Sans 3</vt:lpstr>
      <vt:lpstr>Arial</vt:lpstr>
      <vt:lpstr>Office Theme</vt:lpstr>
      <vt:lpstr>Use Case Diagrams | Unified Modeling Language (UML)</vt:lpstr>
      <vt:lpstr>Use Case Diagram</vt:lpstr>
      <vt:lpstr>Use Case Diagram Notations</vt:lpstr>
      <vt:lpstr>Use Case Diagram Relationships</vt:lpstr>
      <vt:lpstr>Association Relationship</vt:lpstr>
      <vt:lpstr>Include Relationship</vt:lpstr>
      <vt:lpstr> Extend Relationship</vt:lpstr>
      <vt:lpstr>Include vs Extend</vt:lpstr>
      <vt:lpstr>Generalization Relationship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Diagrams | Unified Modeling Language (UML)</dc:title>
  <dc:creator>ACER</dc:creator>
  <cp:lastModifiedBy>DIU</cp:lastModifiedBy>
  <cp:revision>1</cp:revision>
  <dcterms:created xsi:type="dcterms:W3CDTF">2024-09-19T07:27:15Z</dcterms:created>
  <dcterms:modified xsi:type="dcterms:W3CDTF">2025-07-29T03:40:46Z</dcterms:modified>
</cp:coreProperties>
</file>