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jXAd72eqglKGRi+WI0r+RBnjPm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7" name="Google Shape;8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4" name="Google Shape;9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1" name="Google Shape;10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 name="Google Shape;10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5" name="Google Shape;11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0" name="Google Shape;15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8" name="Google Shape;15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 name="Google Shape;16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 name="Google Shape;17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8" name="Google Shape;17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4" name="Google Shape;18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0" name="Google Shape;19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8" name="Google Shape;19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6" name="Google Shape;20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4" name="Google Shape;21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9" name="Google Shape;19;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22"/>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rgbClr val="46424D"/>
              </a:buClr>
              <a:buSzPts val="2400"/>
              <a:buFont typeface="Noto Sans Symbols"/>
              <a:buChar char="✧"/>
              <a:defRPr b="0" i="0" sz="2400" u="none" cap="none" strike="noStrike">
                <a:solidFill>
                  <a:srgbClr val="46424D"/>
                </a:solidFill>
                <a:latin typeface="Arial"/>
                <a:ea typeface="Arial"/>
                <a:cs typeface="Arial"/>
                <a:sym typeface="Arial"/>
              </a:defRPr>
            </a:lvl1pPr>
            <a:lvl2pPr indent="-355600" lvl="1" marL="914400" marR="0" rtl="0" algn="l">
              <a:spcBef>
                <a:spcPts val="600"/>
              </a:spcBef>
              <a:spcAft>
                <a:spcPts val="0"/>
              </a:spcAft>
              <a:buClr>
                <a:srgbClr val="46424D"/>
              </a:buClr>
              <a:buSzPts val="2000"/>
              <a:buFont typeface="Noto Sans Symbols"/>
              <a:buChar char="▪"/>
              <a:defRPr b="0" i="0" sz="2000" u="none" cap="none" strike="noStrike">
                <a:solidFill>
                  <a:srgbClr val="46424D"/>
                </a:solidFill>
                <a:latin typeface="Arial"/>
                <a:ea typeface="Arial"/>
                <a:cs typeface="Arial"/>
                <a:sym typeface="Arial"/>
              </a:defRPr>
            </a:lvl2pPr>
            <a:lvl3pPr indent="-342900" lvl="2" marL="13716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3pPr>
            <a:lvl4pPr indent="-342900" lvl="3" marL="18288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4pPr>
            <a:lvl5pPr indent="-342900" lvl="4" marL="22860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31" name="Google Shape;3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4"/>
          <p:cNvSpPr txBox="1"/>
          <p:nvPr>
            <p:ph type="title"/>
          </p:nvPr>
        </p:nvSpPr>
        <p:spPr>
          <a:xfrm>
            <a:off x="457200" y="274638"/>
            <a:ext cx="7292975"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spcBef>
                <a:spcPts val="480"/>
              </a:spcBef>
              <a:spcAft>
                <a:spcPts val="0"/>
              </a:spcAft>
              <a:buSzPts val="1400"/>
              <a:buNone/>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spcBef>
                <a:spcPts val="480"/>
              </a:spcBef>
              <a:spcAft>
                <a:spcPts val="0"/>
              </a:spcAft>
              <a:buSzPts val="1400"/>
              <a:buNone/>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25"/>
          <p:cNvSpPr txBox="1"/>
          <p:nvPr>
            <p:ph type="title"/>
          </p:nvPr>
        </p:nvSpPr>
        <p:spPr>
          <a:xfrm>
            <a:off x="457200" y="274638"/>
            <a:ext cx="7292975"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4" name="Google Shape;44;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SzPts val="1400"/>
              <a:buNone/>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5" name="Google Shape;45;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6" name="Google Shape;46;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SzPts val="1400"/>
              <a:buNone/>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7" name="Google Shape;4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6"/>
          <p:cNvSpPr txBox="1"/>
          <p:nvPr>
            <p:ph type="title"/>
          </p:nvPr>
        </p:nvSpPr>
        <p:spPr>
          <a:xfrm>
            <a:off x="457200" y="274638"/>
            <a:ext cx="7292975"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2" name="Google Shape;62;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3" name="Google Shape;63;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29"/>
          <p:cNvSpPr/>
          <p:nvPr>
            <p:ph idx="2" type="pic"/>
          </p:nvPr>
        </p:nvSpPr>
        <p:spPr>
          <a:xfrm>
            <a:off x="1792288" y="612775"/>
            <a:ext cx="5486400" cy="4114800"/>
          </a:xfrm>
          <a:prstGeom prst="rect">
            <a:avLst/>
          </a:prstGeom>
          <a:noFill/>
          <a:ln>
            <a:noFill/>
          </a:ln>
        </p:spPr>
      </p:sp>
      <p:sp>
        <p:nvSpPr>
          <p:cNvPr id="69" name="Google Shape;69;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70" name="Google Shape;7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30"/>
          <p:cNvSpPr txBox="1"/>
          <p:nvPr>
            <p:ph type="title"/>
          </p:nvPr>
        </p:nvSpPr>
        <p:spPr>
          <a:xfrm>
            <a:off x="457200" y="274638"/>
            <a:ext cx="7292975"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3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6" name="Google Shape;7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2" name="Google Shape;8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274638"/>
            <a:ext cx="7292975"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400" u="none" cap="none" strike="noStrike">
                <a:solidFill>
                  <a:srgbClr val="46424D"/>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rgbClr val="46424D"/>
                </a:solidFill>
                <a:latin typeface="Arial"/>
                <a:ea typeface="Arial"/>
                <a:cs typeface="Arial"/>
                <a:sym typeface="Arial"/>
              </a:defRPr>
            </a:lvl2pPr>
            <a:lvl3pPr lvl="2" marR="0" rtl="0" algn="l">
              <a:spcBef>
                <a:spcPts val="0"/>
              </a:spcBef>
              <a:spcAft>
                <a:spcPts val="0"/>
              </a:spcAft>
              <a:buSzPts val="1400"/>
              <a:buNone/>
              <a:defRPr b="1" i="0" sz="2400" u="none" cap="none" strike="noStrike">
                <a:solidFill>
                  <a:srgbClr val="46424D"/>
                </a:solidFill>
                <a:latin typeface="Arial"/>
                <a:ea typeface="Arial"/>
                <a:cs typeface="Arial"/>
                <a:sym typeface="Arial"/>
              </a:defRPr>
            </a:lvl3pPr>
            <a:lvl4pPr lvl="3" marR="0" rtl="0" algn="l">
              <a:spcBef>
                <a:spcPts val="0"/>
              </a:spcBef>
              <a:spcAft>
                <a:spcPts val="0"/>
              </a:spcAft>
              <a:buSzPts val="1400"/>
              <a:buNone/>
              <a:defRPr b="1" i="0" sz="2400" u="none" cap="none" strike="noStrike">
                <a:solidFill>
                  <a:srgbClr val="46424D"/>
                </a:solidFill>
                <a:latin typeface="Arial"/>
                <a:ea typeface="Arial"/>
                <a:cs typeface="Arial"/>
                <a:sym typeface="Arial"/>
              </a:defRPr>
            </a:lvl4pPr>
            <a:lvl5pPr lvl="4" marR="0" rtl="0" algn="l">
              <a:spcBef>
                <a:spcPts val="0"/>
              </a:spcBef>
              <a:spcAft>
                <a:spcPts val="0"/>
              </a:spcAft>
              <a:buSzPts val="1400"/>
              <a:buNone/>
              <a:defRPr b="1" i="0" sz="2400" u="none" cap="none" strike="noStrike">
                <a:solidFill>
                  <a:srgbClr val="46424D"/>
                </a:solidFill>
                <a:latin typeface="Arial"/>
                <a:ea typeface="Arial"/>
                <a:cs typeface="Arial"/>
                <a:sym typeface="Arial"/>
              </a:defRPr>
            </a:lvl5pPr>
            <a:lvl6pPr lvl="5"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1" name="Google Shape;1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 name="Google Shape;1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cxnSp>
        <p:nvCxnSpPr>
          <p:cNvPr id="14" name="Google Shape;14;p20"/>
          <p:cNvCxnSpPr/>
          <p:nvPr/>
        </p:nvCxnSpPr>
        <p:spPr>
          <a:xfrm>
            <a:off x="457200" y="1419225"/>
            <a:ext cx="7305675" cy="1588"/>
          </a:xfrm>
          <a:prstGeom prst="straightConnector1">
            <a:avLst/>
          </a:prstGeom>
          <a:noFill/>
          <a:ln cap="flat" cmpd="sng" w="25400">
            <a:solidFill>
              <a:srgbClr val="3F3F3F"/>
            </a:solidFill>
            <a:prstDash val="solid"/>
            <a:round/>
            <a:headEnd len="sm" w="sm" type="none"/>
            <a:tailEnd len="sm" w="sm" type="none"/>
          </a:ln>
          <a:effectLst>
            <a:outerShdw blurRad="40000" rotWithShape="0" dir="5400000" dist="20000">
              <a:srgbClr val="000000">
                <a:alpha val="37647"/>
              </a:srgbClr>
            </a:outerShdw>
          </a:effectLst>
        </p:spPr>
      </p:cxnSp>
      <p:cxnSp>
        <p:nvCxnSpPr>
          <p:cNvPr id="15" name="Google Shape;15;p20"/>
          <p:cNvCxnSpPr/>
          <p:nvPr/>
        </p:nvCxnSpPr>
        <p:spPr>
          <a:xfrm>
            <a:off x="457200" y="1419225"/>
            <a:ext cx="7305675" cy="1588"/>
          </a:xfrm>
          <a:prstGeom prst="straightConnector1">
            <a:avLst/>
          </a:prstGeom>
          <a:noFill/>
          <a:ln cap="flat" cmpd="sng" w="25400">
            <a:solidFill>
              <a:srgbClr val="3F3F3F"/>
            </a:solidFill>
            <a:prstDash val="solid"/>
            <a:round/>
            <a:headEnd len="sm" w="sm" type="none"/>
            <a:tailEnd len="sm" w="sm" type="none"/>
          </a:ln>
          <a:effectLst>
            <a:outerShdw blurRad="40000" rotWithShape="0" dir="5400000" dist="20000">
              <a:srgbClr val="000000">
                <a:alpha val="37647"/>
              </a:srgbClr>
            </a:outerShdw>
          </a:effectLst>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Arial"/>
                <a:ea typeface="Arial"/>
                <a:cs typeface="Arial"/>
                <a:sym typeface="Arial"/>
              </a:rPr>
              <a:t>Lecture 2</a:t>
            </a:r>
            <a:br>
              <a:rPr lang="en-GB">
                <a:latin typeface="Arial"/>
                <a:ea typeface="Arial"/>
                <a:cs typeface="Arial"/>
                <a:sym typeface="Arial"/>
              </a:rPr>
            </a:br>
            <a:r>
              <a:rPr lang="en-GB">
                <a:latin typeface="Arial"/>
                <a:ea typeface="Arial"/>
                <a:cs typeface="Arial"/>
                <a:sym typeface="Arial"/>
              </a:rPr>
              <a:t>Software Process</a:t>
            </a:r>
            <a:endParaRPr/>
          </a:p>
        </p:txBody>
      </p:sp>
      <p:sp>
        <p:nvSpPr>
          <p:cNvPr id="90" name="Google Shape;90;p1"/>
          <p:cNvSpPr txBox="1"/>
          <p:nvPr/>
        </p:nvSpPr>
        <p:spPr>
          <a:xfrm>
            <a:off x="1524000" y="4038600"/>
            <a:ext cx="6400800" cy="1752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Arial"/>
              <a:buNone/>
            </a:pPr>
            <a:r>
              <a:rPr b="1" lang="en-GB" sz="2000">
                <a:solidFill>
                  <a:schemeClr val="dk1"/>
                </a:solidFill>
                <a:latin typeface="Calibri"/>
                <a:ea typeface="Calibri"/>
                <a:cs typeface="Calibri"/>
                <a:sym typeface="Calibri"/>
              </a:rPr>
              <a:t>Izaz Ahmmed Tuhin</a:t>
            </a:r>
            <a:endParaRPr/>
          </a:p>
          <a:p>
            <a:pPr indent="0" lvl="0" marL="0" marR="0" rtl="0" algn="ctr">
              <a:spcBef>
                <a:spcPts val="400"/>
              </a:spcBef>
              <a:spcAft>
                <a:spcPts val="0"/>
              </a:spcAft>
              <a:buClr>
                <a:schemeClr val="dk1"/>
              </a:buClr>
              <a:buSzPts val="2000"/>
              <a:buFont typeface="Arial"/>
              <a:buNone/>
            </a:pPr>
            <a:r>
              <a:rPr lang="en-GB" sz="2000">
                <a:solidFill>
                  <a:schemeClr val="dk1"/>
                </a:solidFill>
                <a:latin typeface="Calibri"/>
                <a:ea typeface="Calibri"/>
                <a:cs typeface="Calibri"/>
                <a:sym typeface="Calibri"/>
              </a:rPr>
              <a:t>Lecturer</a:t>
            </a:r>
            <a:endParaRPr/>
          </a:p>
          <a:p>
            <a:pPr indent="0" lvl="0" marL="0" marR="0" rtl="0" algn="ctr">
              <a:spcBef>
                <a:spcPts val="400"/>
              </a:spcBef>
              <a:spcAft>
                <a:spcPts val="0"/>
              </a:spcAft>
              <a:buClr>
                <a:schemeClr val="dk1"/>
              </a:buClr>
              <a:buSzPts val="2000"/>
              <a:buFont typeface="Arial"/>
              <a:buNone/>
            </a:pPr>
            <a:r>
              <a:rPr b="0" i="0" lang="en-GB" sz="2000" u="none" cap="none" strike="noStrike">
                <a:solidFill>
                  <a:schemeClr val="dk1"/>
                </a:solidFill>
                <a:latin typeface="Calibri"/>
                <a:ea typeface="Calibri"/>
                <a:cs typeface="Calibri"/>
                <a:sym typeface="Calibri"/>
              </a:rPr>
              <a:t>Department of Software Engineering </a:t>
            </a:r>
            <a:endParaRPr/>
          </a:p>
          <a:p>
            <a:pPr indent="0" lvl="0" marL="0" marR="0" rtl="0" algn="ctr">
              <a:spcBef>
                <a:spcPts val="400"/>
              </a:spcBef>
              <a:spcAft>
                <a:spcPts val="0"/>
              </a:spcAft>
              <a:buClr>
                <a:schemeClr val="dk1"/>
              </a:buClr>
              <a:buSzPts val="2000"/>
              <a:buFont typeface="Arial"/>
              <a:buNone/>
            </a:pPr>
            <a:r>
              <a:rPr b="0" i="0" lang="en-GB" sz="2000" u="none" cap="none" strike="noStrike">
                <a:solidFill>
                  <a:schemeClr val="dk1"/>
                </a:solidFill>
                <a:latin typeface="Calibri"/>
                <a:ea typeface="Calibri"/>
                <a:cs typeface="Calibri"/>
                <a:sym typeface="Calibri"/>
              </a:rPr>
              <a:t>Daffodil International University  </a:t>
            </a:r>
            <a:endParaRPr b="0" i="0" sz="2000" u="none" cap="none" strike="noStrike">
              <a:solidFill>
                <a:schemeClr val="dk1"/>
              </a:solidFill>
              <a:latin typeface="Calibri"/>
              <a:ea typeface="Calibri"/>
              <a:cs typeface="Calibri"/>
              <a:sym typeface="Calibri"/>
            </a:endParaRPr>
          </a:p>
        </p:txBody>
      </p:sp>
      <p:sp>
        <p:nvSpPr>
          <p:cNvPr id="91" name="Google Shape;91;p1"/>
          <p:cNvSpPr txBox="1"/>
          <p:nvPr/>
        </p:nvSpPr>
        <p:spPr>
          <a:xfrm>
            <a:off x="1219200" y="636494"/>
            <a:ext cx="625736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GB" sz="1800" u="none" cap="none" strike="noStrike">
                <a:solidFill>
                  <a:schemeClr val="dk1"/>
                </a:solidFill>
                <a:latin typeface="Arial"/>
                <a:ea typeface="Arial"/>
                <a:cs typeface="Arial"/>
                <a:sym typeface="Arial"/>
              </a:rPr>
              <a:t>SE113 Introduction to Software Engineering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Software process activities</a:t>
            </a:r>
            <a:endParaRPr/>
          </a:p>
        </p:txBody>
      </p:sp>
      <p:sp>
        <p:nvSpPr>
          <p:cNvPr id="97" name="Google Shape;9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Software specification, where customers and engineers define the software that is to be produced and the constraints on its operation.</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Software development, where the software is designed and programmed.</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Software validation, where the software is checked to ensure that it is what the customer requires.</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Software evolution, where the software is modified to reflect changing customer and market requirements.</a:t>
            </a:r>
            <a:endParaRPr/>
          </a:p>
          <a:p>
            <a:pPr indent="-190500" lvl="0" marL="342900" rtl="0" algn="l">
              <a:spcBef>
                <a:spcPts val="1200"/>
              </a:spcBef>
              <a:spcAft>
                <a:spcPts val="0"/>
              </a:spcAft>
              <a:buClr>
                <a:srgbClr val="46424D"/>
              </a:buClr>
              <a:buSzPts val="2400"/>
              <a:buFont typeface="Noto Sans Symbols"/>
              <a:buNone/>
            </a:pPr>
            <a:r>
              <a:t/>
            </a:r>
            <a:endParaRPr>
              <a:latin typeface="Arial"/>
              <a:ea typeface="Arial"/>
              <a:cs typeface="Arial"/>
              <a:sym typeface="Arial"/>
            </a:endParaRPr>
          </a:p>
        </p:txBody>
      </p:sp>
      <p:sp>
        <p:nvSpPr>
          <p:cNvPr id="98" name="Google Shape;9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General issues that affect most software</a:t>
            </a:r>
            <a:endParaRPr/>
          </a:p>
        </p:txBody>
      </p:sp>
      <p:sp>
        <p:nvSpPr>
          <p:cNvPr id="104" name="Google Shape;104;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Heterogeneity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Increasingly, systems are required to operate as distributed systems across networks that include different types of computer and mobile devices. </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Business and social change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Business and society are changing incredibly quickly as emerging economies develop and new technologies become available. They need to be able to change their existing software and to rapidly develop new software. </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Security and trust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As software is intertwined with all aspects of our lives, it is essential that we can trust that software. </a:t>
            </a:r>
            <a:endParaRPr>
              <a:latin typeface="Arial"/>
              <a:ea typeface="Arial"/>
              <a:cs typeface="Arial"/>
              <a:sym typeface="Arial"/>
            </a:endParaRPr>
          </a:p>
        </p:txBody>
      </p:sp>
      <p:sp>
        <p:nvSpPr>
          <p:cNvPr id="105" name="Google Shape;105;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Software engineering diversity</a:t>
            </a:r>
            <a:endParaRPr/>
          </a:p>
        </p:txBody>
      </p:sp>
      <p:sp>
        <p:nvSpPr>
          <p:cNvPr id="111" name="Google Shape;111;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There are many different types of software system and there is no universal set of software techniques that is applicable to all of these.</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The software engineering methods and tools used depend on the type of application being developed, the requirements of the customer and the background of the development team.</a:t>
            </a:r>
            <a:endParaRPr/>
          </a:p>
        </p:txBody>
      </p:sp>
      <p:sp>
        <p:nvSpPr>
          <p:cNvPr id="112" name="Google Shape;11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Application types</a:t>
            </a:r>
            <a:endParaRPr/>
          </a:p>
        </p:txBody>
      </p:sp>
      <p:sp>
        <p:nvSpPr>
          <p:cNvPr id="118" name="Google Shape;118;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Stand-alone applications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These are application systems that run on a local computer, such as a PC. They include all necessary functionality and do not need to be connected to a network. </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Interactive transaction-based applications</a:t>
            </a:r>
            <a:r>
              <a:rPr i="1" lang="en-GB">
                <a:latin typeface="Arial"/>
                <a:ea typeface="Arial"/>
                <a:cs typeface="Arial"/>
                <a:sym typeface="Arial"/>
              </a:rPr>
              <a:t>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Applications that execute on a remote computer and are accessed by users from their own PCs or terminals. These include web applications such as e-commerce applications. </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Embedded control systems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These are software control systems that control and manage hardware devices. Numerically, there are probably more embedded systems than any other type of system. </a:t>
            </a:r>
            <a:endParaRPr>
              <a:latin typeface="Arial"/>
              <a:ea typeface="Arial"/>
              <a:cs typeface="Arial"/>
              <a:sym typeface="Arial"/>
            </a:endParaRPr>
          </a:p>
        </p:txBody>
      </p:sp>
      <p:sp>
        <p:nvSpPr>
          <p:cNvPr id="119" name="Google Shape;11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Application types</a:t>
            </a:r>
            <a:endParaRPr/>
          </a:p>
        </p:txBody>
      </p:sp>
      <p:sp>
        <p:nvSpPr>
          <p:cNvPr id="125" name="Google Shape;125;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Batch processing systems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These are business systems that are designed to process data in large batches. They process large numbers of individual inputs to create corresponding outputs. </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Entertainment systems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These are systems that are primarily for personal use and which are intended to entertain the user. </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Systems for modeling and simulation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These are systems that are developed by scientists and engineers to model physical processes or situations, which include many, separate, interacting objects. </a:t>
            </a:r>
            <a:endParaRPr>
              <a:latin typeface="Arial"/>
              <a:ea typeface="Arial"/>
              <a:cs typeface="Arial"/>
              <a:sym typeface="Arial"/>
            </a:endParaRPr>
          </a:p>
        </p:txBody>
      </p:sp>
      <p:sp>
        <p:nvSpPr>
          <p:cNvPr id="126" name="Google Shape;12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Application types</a:t>
            </a:r>
            <a:endParaRPr/>
          </a:p>
        </p:txBody>
      </p:sp>
      <p:sp>
        <p:nvSpPr>
          <p:cNvPr id="132" name="Google Shape;132;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Data collection systems </a:t>
            </a:r>
            <a:r>
              <a:rPr i="1" lang="en-GB">
                <a:latin typeface="Arial"/>
                <a:ea typeface="Arial"/>
                <a:cs typeface="Arial"/>
                <a:sym typeface="Arial"/>
              </a:rPr>
              <a:t>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These are systems that collect data from their environment using a set of sensors and send that data to other systems for processing. </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Systems of systems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These are systems that are composed of a number of other software systems. </a:t>
            </a:r>
            <a:endParaRPr>
              <a:latin typeface="Arial"/>
              <a:ea typeface="Arial"/>
              <a:cs typeface="Arial"/>
              <a:sym typeface="Arial"/>
            </a:endParaRPr>
          </a:p>
        </p:txBody>
      </p:sp>
      <p:sp>
        <p:nvSpPr>
          <p:cNvPr id="133" name="Google Shape;13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Software engineering fundamentals</a:t>
            </a:r>
            <a:endParaRPr/>
          </a:p>
        </p:txBody>
      </p:sp>
      <p:sp>
        <p:nvSpPr>
          <p:cNvPr id="139" name="Google Shape;139;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Some fundamental principles apply to all types of software system, irrespective of the development techniques used:</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Systems should be developed using a managed and understood development process. Of course, different processes are used for different types of software.</a:t>
            </a:r>
            <a:endParaRPr/>
          </a:p>
          <a:p>
            <a:pPr indent="-285750" lvl="1" marL="742950" rtl="0" algn="l">
              <a:spcBef>
                <a:spcPts val="600"/>
              </a:spcBef>
              <a:spcAft>
                <a:spcPts val="0"/>
              </a:spcAft>
              <a:buClr>
                <a:srgbClr val="46424D"/>
              </a:buClr>
              <a:buSzPts val="2000"/>
              <a:buFont typeface="Noto Sans Symbols"/>
              <a:buChar char="▪"/>
            </a:pPr>
            <a:r>
              <a:rPr lang="en-GB">
                <a:latin typeface="Arial"/>
                <a:ea typeface="Arial"/>
                <a:cs typeface="Arial"/>
                <a:sym typeface="Arial"/>
              </a:rPr>
              <a:t>Dependability and performance are important for all types of system. </a:t>
            </a:r>
            <a:endParaRPr/>
          </a:p>
          <a:p>
            <a:pPr indent="-285750" lvl="1" marL="742950" rtl="0" algn="l">
              <a:spcBef>
                <a:spcPts val="600"/>
              </a:spcBef>
              <a:spcAft>
                <a:spcPts val="0"/>
              </a:spcAft>
              <a:buClr>
                <a:srgbClr val="46424D"/>
              </a:buClr>
              <a:buSzPts val="2000"/>
              <a:buFont typeface="Noto Sans Symbols"/>
              <a:buChar char="▪"/>
            </a:pPr>
            <a:r>
              <a:rPr lang="en-GB">
                <a:latin typeface="Arial"/>
                <a:ea typeface="Arial"/>
                <a:cs typeface="Arial"/>
                <a:sym typeface="Arial"/>
              </a:rPr>
              <a:t>Understanding and managing the software specification and requirements (what the software should do) are important. </a:t>
            </a:r>
            <a:endParaRPr/>
          </a:p>
          <a:p>
            <a:pPr indent="-285750" lvl="1" marL="742950" rtl="0" algn="l">
              <a:spcBef>
                <a:spcPts val="600"/>
              </a:spcBef>
              <a:spcAft>
                <a:spcPts val="0"/>
              </a:spcAft>
              <a:buClr>
                <a:srgbClr val="46424D"/>
              </a:buClr>
              <a:buSzPts val="2000"/>
              <a:buFont typeface="Noto Sans Symbols"/>
              <a:buChar char="▪"/>
            </a:pPr>
            <a:r>
              <a:rPr lang="en-GB">
                <a:latin typeface="Arial"/>
                <a:ea typeface="Arial"/>
                <a:cs typeface="Arial"/>
                <a:sym typeface="Arial"/>
              </a:rPr>
              <a:t>Where appropriate, you should reuse software that has already been developed rather than write new software.</a:t>
            </a:r>
            <a:endParaRPr/>
          </a:p>
          <a:p>
            <a:pPr indent="-158750" lvl="1" marL="742950" rtl="0" algn="l">
              <a:spcBef>
                <a:spcPts val="600"/>
              </a:spcBef>
              <a:spcAft>
                <a:spcPts val="0"/>
              </a:spcAft>
              <a:buClr>
                <a:srgbClr val="46424D"/>
              </a:buClr>
              <a:buSzPts val="2000"/>
              <a:buFont typeface="Noto Sans Symbols"/>
              <a:buNone/>
            </a:pPr>
            <a:r>
              <a:t/>
            </a:r>
            <a:endParaRPr>
              <a:latin typeface="Arial"/>
              <a:ea typeface="Arial"/>
              <a:cs typeface="Arial"/>
              <a:sym typeface="Arial"/>
            </a:endParaRPr>
          </a:p>
        </p:txBody>
      </p:sp>
      <p:sp>
        <p:nvSpPr>
          <p:cNvPr id="140" name="Google Shape;14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Software engineering and the web</a:t>
            </a:r>
            <a:endParaRPr/>
          </a:p>
        </p:txBody>
      </p:sp>
      <p:sp>
        <p:nvSpPr>
          <p:cNvPr id="146" name="Google Shape;146;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The Web is now a platform for running application and organizations are increasingly developing web-based systems rather than local systems.</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Web services allow application functionality to be accessed over the web.</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Cloud computing is an approach to the provision of computer services where applications run remotely on the ‘cloud’.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Users do not buy software buy pay according to use.</a:t>
            </a:r>
            <a:endParaRPr/>
          </a:p>
        </p:txBody>
      </p:sp>
      <p:sp>
        <p:nvSpPr>
          <p:cNvPr id="147" name="Google Shape;147;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Web software engineering</a:t>
            </a:r>
            <a:endParaRPr/>
          </a:p>
        </p:txBody>
      </p:sp>
      <p:sp>
        <p:nvSpPr>
          <p:cNvPr id="153" name="Google Shape;153;p10"/>
          <p:cNvSpPr txBox="1"/>
          <p:nvPr>
            <p:ph idx="1" type="body"/>
          </p:nvPr>
        </p:nvSpPr>
        <p:spPr>
          <a:xfrm>
            <a:off x="257175" y="1558925"/>
            <a:ext cx="8659813"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Software reuse is the dominant approach for constructing web-based systems.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When building these systems, you think about how you can assemble them from pre-existing software components and systems.</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Web-based systems should be developed and delivered incrementally.</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It is now generally recognized that it is impractical to specify all the requirements for such systems in advance. </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User interfaces are constrained by the capabilities of web browsers.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Technologies such as AJAX allow rich interfaces to be created within a web browser but are still difficult to use. Web forms with local scripting are more commonly used. </a:t>
            </a:r>
            <a:endParaRPr/>
          </a:p>
          <a:p>
            <a:pPr indent="-190500" lvl="0" marL="342900" rtl="0" algn="l">
              <a:spcBef>
                <a:spcPts val="900"/>
              </a:spcBef>
              <a:spcAft>
                <a:spcPts val="0"/>
              </a:spcAft>
              <a:buClr>
                <a:srgbClr val="46424D"/>
              </a:buClr>
              <a:buSzPts val="2400"/>
              <a:buFont typeface="Noto Sans Symbols"/>
              <a:buNone/>
            </a:pPr>
            <a:r>
              <a:t/>
            </a:r>
            <a:endParaRPr>
              <a:latin typeface="Arial"/>
              <a:ea typeface="Arial"/>
              <a:cs typeface="Arial"/>
              <a:sym typeface="Arial"/>
            </a:endParaRPr>
          </a:p>
        </p:txBody>
      </p:sp>
      <p:sp>
        <p:nvSpPr>
          <p:cNvPr id="154" name="Google Shape;154;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Chapter 1  Introduction</a:t>
            </a:r>
            <a:endParaRPr/>
          </a:p>
        </p:txBody>
      </p:sp>
      <p:sp>
        <p:nvSpPr>
          <p:cNvPr id="155" name="Google Shape;155;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Web-based software engineering</a:t>
            </a:r>
            <a:endParaRPr/>
          </a:p>
        </p:txBody>
      </p:sp>
      <p:sp>
        <p:nvSpPr>
          <p:cNvPr id="161" name="Google Shape;161;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Web-based systems are complex distributed systems but the fundamental principles of software engineering discussed previously are as applicable to them as they are to any other types of system.</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The fundamental ideas of software engineering, discussed in the previous section, apply to web-based software in the same way that they apply to other types of software system. </a:t>
            </a:r>
            <a:endParaRPr>
              <a:latin typeface="Arial"/>
              <a:ea typeface="Arial"/>
              <a:cs typeface="Arial"/>
              <a:sym typeface="Arial"/>
            </a:endParaRPr>
          </a:p>
        </p:txBody>
      </p:sp>
      <p:sp>
        <p:nvSpPr>
          <p:cNvPr id="162" name="Google Shape;16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63" name="Google Shape;16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type="title"/>
          </p:nvPr>
        </p:nvSpPr>
        <p:spPr>
          <a:xfrm>
            <a:off x="474663" y="304800"/>
            <a:ext cx="8193087" cy="9175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Software engineering ethics</a:t>
            </a:r>
            <a:endParaRPr/>
          </a:p>
        </p:txBody>
      </p:sp>
      <p:sp>
        <p:nvSpPr>
          <p:cNvPr id="169" name="Google Shape;169;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Software engineering involves wider responsibilities than simply the application of technical skills.</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Software engineers must behave in an honest and ethically responsible way if they are to be respected as professionals.</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Ethical behaviour is more than simply upholding the law but involves following a set of principles that are morally correct.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Issues of professional responsibility</a:t>
            </a:r>
            <a:endParaRPr/>
          </a:p>
        </p:txBody>
      </p:sp>
      <p:sp>
        <p:nvSpPr>
          <p:cNvPr id="175" name="Google Shape;175;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Font typeface="Noto Sans Symbols"/>
              <a:buChar char="✧"/>
            </a:pPr>
            <a:r>
              <a:rPr lang="en-GB">
                <a:latin typeface="Arial"/>
                <a:ea typeface="Arial"/>
                <a:cs typeface="Arial"/>
                <a:sym typeface="Arial"/>
              </a:rPr>
              <a:t>Confidentiality </a:t>
            </a:r>
            <a:endParaRPr/>
          </a:p>
          <a:p>
            <a:pPr indent="-285750" lvl="1" marL="742950" rtl="0" algn="l">
              <a:lnSpc>
                <a:spcPct val="90000"/>
              </a:lnSpc>
              <a:spcBef>
                <a:spcPts val="900"/>
              </a:spcBef>
              <a:spcAft>
                <a:spcPts val="0"/>
              </a:spcAft>
              <a:buClr>
                <a:srgbClr val="46424D"/>
              </a:buClr>
              <a:buSzPts val="2000"/>
              <a:buFont typeface="Noto Sans Symbols"/>
              <a:buChar char="▪"/>
            </a:pPr>
            <a:r>
              <a:rPr lang="en-GB">
                <a:latin typeface="Arial"/>
                <a:ea typeface="Arial"/>
                <a:cs typeface="Arial"/>
                <a:sym typeface="Arial"/>
              </a:rPr>
              <a:t>Engineers should normally respect the confidentiality of their employers or clients irrespective of whether or not a formal confidentiality agreement has been signed.</a:t>
            </a:r>
            <a:endParaRPr/>
          </a:p>
          <a:p>
            <a:pPr indent="-342900" lvl="0" marL="342900" rtl="0" algn="l">
              <a:lnSpc>
                <a:spcPct val="90000"/>
              </a:lnSpc>
              <a:spcBef>
                <a:spcPts val="900"/>
              </a:spcBef>
              <a:spcAft>
                <a:spcPts val="0"/>
              </a:spcAft>
              <a:buClr>
                <a:srgbClr val="46424D"/>
              </a:buClr>
              <a:buSzPts val="2400"/>
              <a:buFont typeface="Noto Sans Symbols"/>
              <a:buChar char="✧"/>
            </a:pPr>
            <a:r>
              <a:rPr lang="en-GB">
                <a:latin typeface="Arial"/>
                <a:ea typeface="Arial"/>
                <a:cs typeface="Arial"/>
                <a:sym typeface="Arial"/>
              </a:rPr>
              <a:t>Competence </a:t>
            </a:r>
            <a:endParaRPr/>
          </a:p>
          <a:p>
            <a:pPr indent="-285750" lvl="1" marL="742950" rtl="0" algn="l">
              <a:lnSpc>
                <a:spcPct val="90000"/>
              </a:lnSpc>
              <a:spcBef>
                <a:spcPts val="900"/>
              </a:spcBef>
              <a:spcAft>
                <a:spcPts val="0"/>
              </a:spcAft>
              <a:buClr>
                <a:srgbClr val="46424D"/>
              </a:buClr>
              <a:buSzPts val="2000"/>
              <a:buFont typeface="Noto Sans Symbols"/>
              <a:buChar char="▪"/>
            </a:pPr>
            <a:r>
              <a:rPr lang="en-GB">
                <a:latin typeface="Arial"/>
                <a:ea typeface="Arial"/>
                <a:cs typeface="Arial"/>
                <a:sym typeface="Arial"/>
              </a:rPr>
              <a:t>Engineers should not misrepresent their level of competence. They should not knowingly accept work which is outwith their competence.</a:t>
            </a:r>
            <a:endParaRPr/>
          </a:p>
          <a:p>
            <a:pPr indent="-190500" lvl="0" marL="342900" rtl="0" algn="l">
              <a:lnSpc>
                <a:spcPct val="90000"/>
              </a:lnSpc>
              <a:spcBef>
                <a:spcPts val="900"/>
              </a:spcBef>
              <a:spcAft>
                <a:spcPts val="0"/>
              </a:spcAft>
              <a:buClr>
                <a:srgbClr val="46424D"/>
              </a:buClr>
              <a:buSzPts val="2400"/>
              <a:buFont typeface="Noto Sans Symbols"/>
              <a:buNone/>
            </a:pPr>
            <a:r>
              <a:t/>
            </a:r>
            <a:endParaRPr>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Issues of professional responsibility</a:t>
            </a:r>
            <a:endParaRPr/>
          </a:p>
        </p:txBody>
      </p:sp>
      <p:sp>
        <p:nvSpPr>
          <p:cNvPr id="181" name="Google Shape;18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Intellectual property rights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Engineers should be aware of local laws governing the use of intellectual property such as patents, copyright, etc. They should be careful to ensure that the intellectual property of employers and clients is protected.</a:t>
            </a:r>
            <a:endParaRPr/>
          </a:p>
          <a:p>
            <a:pPr indent="-342900" lvl="0" marL="342900" rtl="0" algn="l">
              <a:spcBef>
                <a:spcPts val="900"/>
              </a:spcBef>
              <a:spcAft>
                <a:spcPts val="0"/>
              </a:spcAft>
              <a:buClr>
                <a:srgbClr val="46424D"/>
              </a:buClr>
              <a:buSzPts val="2400"/>
              <a:buFont typeface="Noto Sans Symbols"/>
              <a:buChar char="✧"/>
            </a:pPr>
            <a:r>
              <a:rPr lang="en-GB">
                <a:latin typeface="Arial"/>
                <a:ea typeface="Arial"/>
                <a:cs typeface="Arial"/>
                <a:sym typeface="Arial"/>
              </a:rPr>
              <a:t>Computer misuse </a:t>
            </a:r>
            <a:endParaRPr/>
          </a:p>
          <a:p>
            <a:pPr indent="-285750" lvl="1" marL="742950" rtl="0" algn="l">
              <a:spcBef>
                <a:spcPts val="900"/>
              </a:spcBef>
              <a:spcAft>
                <a:spcPts val="0"/>
              </a:spcAft>
              <a:buClr>
                <a:srgbClr val="46424D"/>
              </a:buClr>
              <a:buSzPts val="2000"/>
              <a:buFont typeface="Noto Sans Symbols"/>
              <a:buChar char="▪"/>
            </a:pPr>
            <a:r>
              <a:rPr lang="en-GB">
                <a:latin typeface="Arial"/>
                <a:ea typeface="Arial"/>
                <a:cs typeface="Arial"/>
                <a:sym typeface="Arial"/>
              </a:rPr>
              <a:t>Software engineers should not use their technical skills to misuse other people’s computers. Computer misuse ranges from relatively trivial (game playing on an employer’s machine, say) to extremely serious (dissemination of viruses).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ACM/IEEE Code of Ethics</a:t>
            </a:r>
            <a:endParaRPr/>
          </a:p>
        </p:txBody>
      </p:sp>
      <p:sp>
        <p:nvSpPr>
          <p:cNvPr id="187" name="Google Shape;18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Font typeface="Noto Sans Symbols"/>
              <a:buChar char="✧"/>
            </a:pPr>
            <a:r>
              <a:rPr lang="en-GB">
                <a:latin typeface="Arial"/>
                <a:ea typeface="Arial"/>
                <a:cs typeface="Arial"/>
                <a:sym typeface="Arial"/>
              </a:rPr>
              <a:t>The professional societies in the US have cooperated to produce a code of ethical practice.</a:t>
            </a:r>
            <a:endParaRPr/>
          </a:p>
          <a:p>
            <a:pPr indent="-342900" lvl="0" marL="342900" rtl="0" algn="l">
              <a:lnSpc>
                <a:spcPct val="90000"/>
              </a:lnSpc>
              <a:spcBef>
                <a:spcPts val="1200"/>
              </a:spcBef>
              <a:spcAft>
                <a:spcPts val="0"/>
              </a:spcAft>
              <a:buClr>
                <a:srgbClr val="46424D"/>
              </a:buClr>
              <a:buSzPts val="2400"/>
              <a:buFont typeface="Noto Sans Symbols"/>
              <a:buChar char="✧"/>
            </a:pPr>
            <a:r>
              <a:rPr lang="en-GB">
                <a:latin typeface="Arial"/>
                <a:ea typeface="Arial"/>
                <a:cs typeface="Arial"/>
                <a:sym typeface="Arial"/>
              </a:rPr>
              <a:t>Members of these organisations sign up to the code of practice when they join.</a:t>
            </a:r>
            <a:endParaRPr/>
          </a:p>
          <a:p>
            <a:pPr indent="-342900" lvl="0" marL="342900" rtl="0" algn="l">
              <a:lnSpc>
                <a:spcPct val="90000"/>
              </a:lnSpc>
              <a:spcBef>
                <a:spcPts val="1200"/>
              </a:spcBef>
              <a:spcAft>
                <a:spcPts val="0"/>
              </a:spcAft>
              <a:buClr>
                <a:srgbClr val="46424D"/>
              </a:buClr>
              <a:buSzPts val="2400"/>
              <a:buFont typeface="Noto Sans Symbols"/>
              <a:buChar char="✧"/>
            </a:pPr>
            <a:r>
              <a:rPr lang="en-GB">
                <a:latin typeface="Arial"/>
                <a:ea typeface="Arial"/>
                <a:cs typeface="Arial"/>
                <a:sym typeface="Arial"/>
              </a:rPr>
              <a:t>The Code contains eight Principles related to the behaviour of and decisions made by professional software engineers, including practitioners, educators, managers, supervisors and policy makers, as well as trainees and students of the profession.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Rationale for the code of ethics</a:t>
            </a:r>
            <a:endParaRPr/>
          </a:p>
        </p:txBody>
      </p:sp>
      <p:sp>
        <p:nvSpPr>
          <p:cNvPr id="193" name="Google Shape;19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285750" lvl="1" marL="742950" rtl="0" algn="l">
              <a:spcBef>
                <a:spcPts val="0"/>
              </a:spcBef>
              <a:spcAft>
                <a:spcPts val="0"/>
              </a:spcAft>
              <a:buClr>
                <a:srgbClr val="46424D"/>
              </a:buClr>
              <a:buSzPts val="2000"/>
              <a:buFont typeface="Noto Sans Symbols"/>
              <a:buChar char="▪"/>
            </a:pPr>
            <a:r>
              <a:rPr i="1" lang="en-GB">
                <a:latin typeface="Arial"/>
                <a:ea typeface="Arial"/>
                <a:cs typeface="Arial"/>
                <a:sym typeface="Arial"/>
              </a:rPr>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endParaRPr/>
          </a:p>
          <a:p>
            <a:pPr indent="-285750" lvl="1" marL="742950" rtl="0" algn="l">
              <a:spcBef>
                <a:spcPts val="600"/>
              </a:spcBef>
              <a:spcAft>
                <a:spcPts val="0"/>
              </a:spcAft>
              <a:buClr>
                <a:srgbClr val="46424D"/>
              </a:buClr>
              <a:buSzPts val="2000"/>
              <a:buFont typeface="Noto Sans Symbols"/>
              <a:buChar char="▪"/>
            </a:pPr>
            <a:r>
              <a:rPr i="1" lang="en-GB">
                <a:latin typeface="Arial"/>
                <a:ea typeface="Arial"/>
                <a:cs typeface="Arial"/>
                <a:sym typeface="Arial"/>
              </a:rPr>
              <a:t>Because of their roles in developing software systems, software engineers have significant</a:t>
            </a:r>
            <a:r>
              <a:rPr lang="en-GB">
                <a:latin typeface="Arial"/>
                <a:ea typeface="Arial"/>
                <a:cs typeface="Arial"/>
                <a:sym typeface="Arial"/>
              </a:rPr>
              <a:t> </a:t>
            </a:r>
            <a:r>
              <a:rPr i="1" lang="en-GB">
                <a:latin typeface="Arial"/>
                <a:ea typeface="Arial"/>
                <a:cs typeface="Arial"/>
                <a:sym typeface="Arial"/>
              </a:rPr>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a:latin typeface="Arial"/>
              <a:ea typeface="Arial"/>
              <a:cs typeface="Arial"/>
              <a:sym typeface="Arial"/>
            </a:endParaRPr>
          </a:p>
        </p:txBody>
      </p:sp>
      <p:sp>
        <p:nvSpPr>
          <p:cNvPr id="194" name="Google Shape;194;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95" name="Google Shape;195;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type="title"/>
          </p:nvPr>
        </p:nvSpPr>
        <p:spPr>
          <a:xfrm>
            <a:off x="457200" y="331788"/>
            <a:ext cx="6873875" cy="83661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The ACM/IEEE Code of Ethics </a:t>
            </a:r>
            <a:endParaRPr>
              <a:latin typeface="Arial"/>
              <a:ea typeface="Arial"/>
              <a:cs typeface="Arial"/>
              <a:sym typeface="Arial"/>
            </a:endParaRPr>
          </a:p>
        </p:txBody>
      </p:sp>
      <p:sp>
        <p:nvSpPr>
          <p:cNvPr id="201" name="Google Shape;20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02" name="Google Shape;20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03" name="Google Shape;203;p17"/>
          <p:cNvSpPr txBox="1"/>
          <p:nvPr/>
        </p:nvSpPr>
        <p:spPr>
          <a:xfrm>
            <a:off x="457200" y="1616075"/>
            <a:ext cx="8461375" cy="4232275"/>
          </a:xfrm>
          <a:prstGeom prst="rect">
            <a:avLst/>
          </a:prstGeom>
          <a:solidFill>
            <a:srgbClr val="FFFF00">
              <a:alpha val="33725"/>
            </a:srgb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600" u="none" cap="none" strike="noStrike">
                <a:solidFill>
                  <a:schemeClr val="dk1"/>
                </a:solidFill>
                <a:latin typeface="Arial"/>
                <a:ea typeface="Arial"/>
                <a:cs typeface="Arial"/>
                <a:sym typeface="Arial"/>
              </a:rPr>
              <a:t>Software Engineering Code of Ethics and Professional Practice</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GB" sz="1600">
                <a:solidFill>
                  <a:schemeClr val="dk1"/>
                </a:solidFill>
                <a:latin typeface="Arial"/>
                <a:ea typeface="Arial"/>
                <a:cs typeface="Arial"/>
                <a:sym typeface="Arial"/>
              </a:rPr>
              <a:t>ACM/IEEE-CS Joint Task Force on Software Engineering Ethics and Professional Practices</a:t>
            </a:r>
            <a:endParaRPr/>
          </a:p>
          <a:p>
            <a:pPr indent="0" lvl="0" marL="0" marR="0" rtl="0" algn="l">
              <a:spcBef>
                <a:spcPts val="0"/>
              </a:spcBef>
              <a:spcAft>
                <a:spcPts val="0"/>
              </a:spcAft>
              <a:buNone/>
            </a:pPr>
            <a:r>
              <a:rPr b="1" lang="en-GB"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en-GB" sz="1600">
                <a:solidFill>
                  <a:schemeClr val="dk1"/>
                </a:solidFill>
                <a:latin typeface="Arial"/>
                <a:ea typeface="Arial"/>
                <a:cs typeface="Arial"/>
                <a:sym typeface="Arial"/>
              </a:rPr>
              <a:t>PREAMBLE</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GB" sz="1600">
                <a:solidFill>
                  <a:schemeClr val="dk1"/>
                </a:solidFill>
                <a:latin typeface="Arial"/>
                <a:ea typeface="Arial"/>
                <a:cs typeface="Arial"/>
                <a:sym typeface="Arial"/>
              </a:rPr>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GB"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8"/>
          <p:cNvSpPr txBox="1"/>
          <p:nvPr>
            <p:ph type="title"/>
          </p:nvPr>
        </p:nvSpPr>
        <p:spPr>
          <a:xfrm>
            <a:off x="457200" y="331788"/>
            <a:ext cx="6873875" cy="83661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Ethical principles</a:t>
            </a:r>
            <a:endParaRPr>
              <a:latin typeface="Arial"/>
              <a:ea typeface="Arial"/>
              <a:cs typeface="Arial"/>
              <a:sym typeface="Arial"/>
            </a:endParaRPr>
          </a:p>
        </p:txBody>
      </p:sp>
      <p:sp>
        <p:nvSpPr>
          <p:cNvPr id="209" name="Google Shape;20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10" name="Google Shape;2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11" name="Google Shape;211;p18"/>
          <p:cNvSpPr txBox="1"/>
          <p:nvPr/>
        </p:nvSpPr>
        <p:spPr>
          <a:xfrm>
            <a:off x="457200" y="1616075"/>
            <a:ext cx="8461375" cy="4770438"/>
          </a:xfrm>
          <a:prstGeom prst="rect">
            <a:avLst/>
          </a:prstGeom>
          <a:solidFill>
            <a:srgbClr val="FFFF00">
              <a:alpha val="33725"/>
            </a:srgb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GB" sz="1600">
                <a:solidFill>
                  <a:schemeClr val="dk1"/>
                </a:solidFill>
                <a:latin typeface="Arial"/>
                <a:ea typeface="Arial"/>
                <a:cs typeface="Arial"/>
                <a:sym typeface="Arial"/>
              </a:rPr>
              <a:t>1. PUBLIC - Software engineers shall act consistently with the public interest.</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2. CLIENT AND EMPLOYER - Software engineers shall act in a manner that is in the best interests of their client and employer consistent with the public interest.</a:t>
            </a:r>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3. PRODUCT - Software engineers shall ensure that their products and related modifications meet the highest professional standards possible.</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4. JUDGMENT - Software engineers shall maintain integrity and independence in their professional judgment.</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5. MANAGEMENT - Software engineering managers and leaders shall subscribe to and promote an ethical approach to the management of software development and maintenance.</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6. PROFESSION - Software engineers shall advance the integrity and reputation of the profession consistent with the public interest.</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7. COLLEAGUES - Software engineers shall be fair to and supportive of their colleagues.</a:t>
            </a:r>
            <a:endParaRPr sz="1600">
              <a:solidFill>
                <a:schemeClr val="dk1"/>
              </a:solidFill>
              <a:latin typeface="Arial"/>
              <a:ea typeface="Arial"/>
              <a:cs typeface="Arial"/>
              <a:sym typeface="Arial"/>
            </a:endParaRPr>
          </a:p>
          <a:p>
            <a:pPr indent="0" lvl="0" marL="0" marR="0" rtl="0" algn="l">
              <a:spcBef>
                <a:spcPts val="600"/>
              </a:spcBef>
              <a:spcAft>
                <a:spcPts val="0"/>
              </a:spcAft>
              <a:buNone/>
            </a:pPr>
            <a:r>
              <a:rPr lang="en-GB" sz="1600">
                <a:solidFill>
                  <a:schemeClr val="dk1"/>
                </a:solidFill>
                <a:latin typeface="Arial"/>
                <a:ea typeface="Arial"/>
                <a:cs typeface="Arial"/>
                <a:sym typeface="Arial"/>
              </a:rPr>
              <a:t>8. SELF - Software engineers shall participate in lifelong learning regarding the practice of their profession and shall promote an ethical approach to the practice of the profession.</a:t>
            </a:r>
            <a:endParaRPr/>
          </a:p>
          <a:p>
            <a:pPr indent="0" lvl="0" marL="0" marR="0" rtl="0" algn="l">
              <a:spcBef>
                <a:spcPts val="600"/>
              </a:spcBef>
              <a:spcAft>
                <a:spcPts val="0"/>
              </a:spcAft>
              <a:buNone/>
            </a:pPr>
            <a:r>
              <a:t/>
            </a:r>
            <a:endParaRPr sz="12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9"/>
          <p:cNvSpPr txBox="1"/>
          <p:nvPr>
            <p:ph type="title"/>
          </p:nvPr>
        </p:nvSpPr>
        <p:spPr>
          <a:xfrm>
            <a:off x="762000" y="281487"/>
            <a:ext cx="72929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Arial"/>
                <a:ea typeface="Arial"/>
                <a:cs typeface="Arial"/>
                <a:sym typeface="Arial"/>
              </a:rPr>
              <a:t>Ethical dilemmas</a:t>
            </a:r>
            <a:endParaRPr/>
          </a:p>
        </p:txBody>
      </p:sp>
      <p:sp>
        <p:nvSpPr>
          <p:cNvPr id="217" name="Google Shape;21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GB">
                <a:latin typeface="Arial"/>
                <a:ea typeface="Arial"/>
                <a:cs typeface="Arial"/>
                <a:sym typeface="Arial"/>
              </a:rPr>
              <a:t>Disagreement in principle with the policies of senior management.</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Your employer acts in an unethical way and releases a safety-critical system without finishing the testing of the system.</a:t>
            </a:r>
            <a:endParaRPr/>
          </a:p>
          <a:p>
            <a:pPr indent="-342900" lvl="0" marL="342900" rtl="0" algn="l">
              <a:spcBef>
                <a:spcPts val="1200"/>
              </a:spcBef>
              <a:spcAft>
                <a:spcPts val="0"/>
              </a:spcAft>
              <a:buClr>
                <a:srgbClr val="46424D"/>
              </a:buClr>
              <a:buSzPts val="2400"/>
              <a:buFont typeface="Noto Sans Symbols"/>
              <a:buChar char="✧"/>
            </a:pPr>
            <a:r>
              <a:rPr lang="en-GB">
                <a:latin typeface="Arial"/>
                <a:ea typeface="Arial"/>
                <a:cs typeface="Arial"/>
                <a:sym typeface="Arial"/>
              </a:rPr>
              <a:t>Participation in the development of military weapons systems or nuclear systems.</a:t>
            </a:r>
            <a:endParaRPr/>
          </a:p>
          <a:p>
            <a:pPr indent="-190500" lvl="0" marL="342900" rtl="0" algn="l">
              <a:spcBef>
                <a:spcPts val="1200"/>
              </a:spcBef>
              <a:spcAft>
                <a:spcPts val="0"/>
              </a:spcAft>
              <a:buClr>
                <a:srgbClr val="46424D"/>
              </a:buClr>
              <a:buSzPts val="2400"/>
              <a:buFont typeface="Noto Sans Symbols"/>
              <a:buNone/>
            </a:pPr>
            <a:r>
              <a:t/>
            </a:r>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2009-12-29T10:39:27Z</dcterms:created>
  <dc:creator>Ian Sommerville</dc:creator>
</cp:coreProperties>
</file>