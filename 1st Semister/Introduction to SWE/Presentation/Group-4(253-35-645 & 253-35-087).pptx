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Bold Italics" charset="1" panose="00000800000000000000"/>
      <p:regular r:id="rId17"/>
    </p:embeddedFont>
    <p:embeddedFont>
      <p:font typeface="Times New Roman Italics" charset="1" panose="02020503050405090304"/>
      <p:regular r:id="rId18"/>
    </p:embeddedFont>
    <p:embeddedFont>
      <p:font typeface="Raleway Italics" charset="1" panose="00000000000000000000"/>
      <p:regular r:id="rId19"/>
    </p:embeddedFont>
    <p:embeddedFont>
      <p:font typeface="Open Sauce Bold" charset="1" panose="00000800000000000000"/>
      <p:regular r:id="rId20"/>
    </p:embeddedFont>
    <p:embeddedFont>
      <p:font typeface="Raleway Bold" charset="1" panose="00000000000000000000"/>
      <p:regular r:id="rId21"/>
    </p:embeddedFont>
    <p:embeddedFont>
      <p:font typeface="Times New Roman Bold" charset="1" panose="02020803070505020304"/>
      <p:regular r:id="rId22"/>
    </p:embeddedFont>
    <p:embeddedFont>
      <p:font typeface="Times New Roman MT Italics" charset="1" panose="02030502070405090303"/>
      <p:regular r:id="rId23"/>
    </p:embeddedFont>
    <p:embeddedFont>
      <p:font typeface="Montserrat Ultra-Bold" charset="1" panose="00000900000000000000"/>
      <p:regular r:id="rId24"/>
    </p:embeddedFont>
    <p:embeddedFont>
      <p:font typeface="Times New Roman" charset="1" panose="02020603050405020304"/>
      <p:regular r:id="rId25"/>
    </p:embeddedFont>
    <p:embeddedFont>
      <p:font typeface="Aileron Bold" charset="1" panose="00000800000000000000"/>
      <p:regular r:id="rId26"/>
    </p:embeddedFont>
    <p:embeddedFont>
      <p:font typeface="Gilda Display" charset="1" panose="02000000000000000000"/>
      <p:regular r:id="rId27"/>
    </p:embeddedFont>
    <p:embeddedFont>
      <p:font typeface="Canva Sans" charset="1" panose="020B0503030501040103"/>
      <p:regular r:id="rId28"/>
    </p:embeddedFont>
    <p:embeddedFont>
      <p:font typeface="Open Sauce Medium" charset="1" panose="00000600000000000000"/>
      <p:regular r:id="rId29"/>
    </p:embeddedFont>
    <p:embeddedFont>
      <p:font typeface="Archivo Black" charset="1" panose="020B0A03020202020B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jpe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2607" y="2731843"/>
            <a:ext cx="11482787" cy="27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1"/>
              </a:lnSpc>
            </a:pPr>
            <a:r>
              <a:rPr lang="en-US" b="true" sz="10867" i="true">
                <a:solidFill>
                  <a:srgbClr val="121111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Group Presentation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813454" y="321167"/>
            <a:ext cx="2478930" cy="2458384"/>
          </a:xfrm>
          <a:custGeom>
            <a:avLst/>
            <a:gdLst/>
            <a:ahLst/>
            <a:cxnLst/>
            <a:rect r="r" b="b" t="t" l="l"/>
            <a:pathLst>
              <a:path h="2458384" w="2478930">
                <a:moveTo>
                  <a:pt x="0" y="0"/>
                </a:moveTo>
                <a:lnTo>
                  <a:pt x="2478930" y="0"/>
                </a:lnTo>
                <a:lnTo>
                  <a:pt x="2478930" y="2458384"/>
                </a:lnTo>
                <a:lnTo>
                  <a:pt x="0" y="2458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3" t="0" r="-5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78981" y="6015856"/>
            <a:ext cx="4209019" cy="4271144"/>
          </a:xfrm>
          <a:custGeom>
            <a:avLst/>
            <a:gdLst/>
            <a:ahLst/>
            <a:cxnLst/>
            <a:rect r="r" b="b" t="t" l="l"/>
            <a:pathLst>
              <a:path h="4271144" w="4209019">
                <a:moveTo>
                  <a:pt x="0" y="0"/>
                </a:moveTo>
                <a:lnTo>
                  <a:pt x="4209019" y="0"/>
                </a:lnTo>
                <a:lnTo>
                  <a:pt x="4209019" y="4271144"/>
                </a:lnTo>
                <a:lnTo>
                  <a:pt x="0" y="4271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04883" y="-11933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95478" y="6812692"/>
            <a:ext cx="3998084" cy="4114800"/>
          </a:xfrm>
          <a:custGeom>
            <a:avLst/>
            <a:gdLst/>
            <a:ahLst/>
            <a:cxnLst/>
            <a:rect r="r" b="b" t="t" l="l"/>
            <a:pathLst>
              <a:path h="4114800" w="3998084">
                <a:moveTo>
                  <a:pt x="0" y="0"/>
                </a:moveTo>
                <a:lnTo>
                  <a:pt x="3998085" y="0"/>
                </a:lnTo>
                <a:lnTo>
                  <a:pt x="39980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95644" y="0"/>
            <a:ext cx="4092356" cy="4114800"/>
          </a:xfrm>
          <a:custGeom>
            <a:avLst/>
            <a:gdLst/>
            <a:ahLst/>
            <a:cxnLst/>
            <a:rect r="r" b="b" t="t" l="l"/>
            <a:pathLst>
              <a:path h="4114800" w="4092356">
                <a:moveTo>
                  <a:pt x="0" y="0"/>
                </a:moveTo>
                <a:lnTo>
                  <a:pt x="4092356" y="0"/>
                </a:lnTo>
                <a:lnTo>
                  <a:pt x="40923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729301" y="5299290"/>
            <a:ext cx="8616255" cy="357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4"/>
              </a:lnSpc>
            </a:pPr>
            <a:r>
              <a:rPr lang="en-US" sz="6967" i="true" spc="76">
                <a:solidFill>
                  <a:srgbClr val="121111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of</a:t>
            </a:r>
          </a:p>
          <a:p>
            <a:pPr algn="ctr">
              <a:lnSpc>
                <a:spcPts val="6114"/>
              </a:lnSpc>
            </a:pPr>
            <a:r>
              <a:rPr lang="en-US" sz="4367" i="true" spc="48">
                <a:solidFill>
                  <a:srgbClr val="121111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Introduction To Software Engineering</a:t>
            </a:r>
          </a:p>
          <a:p>
            <a:pPr algn="ctr">
              <a:lnSpc>
                <a:spcPts val="6114"/>
              </a:lnSpc>
            </a:pPr>
            <a:r>
              <a:rPr lang="en-US" sz="4367" i="true" spc="48">
                <a:solidFill>
                  <a:srgbClr val="121111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Course Code : SE113</a:t>
            </a:r>
          </a:p>
          <a:p>
            <a:pPr algn="ctr">
              <a:lnSpc>
                <a:spcPts val="6114"/>
              </a:lnSpc>
              <a:spcBef>
                <a:spcPct val="0"/>
              </a:spcBef>
            </a:pPr>
            <a:r>
              <a:rPr lang="en-US" sz="4367" i="true" spc="48">
                <a:solidFill>
                  <a:srgbClr val="121111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Teacher: Mr. Md Rajib Mia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76715" y="0"/>
            <a:ext cx="3965171" cy="4114800"/>
          </a:xfrm>
          <a:custGeom>
            <a:avLst/>
            <a:gdLst/>
            <a:ahLst/>
            <a:cxnLst/>
            <a:rect r="r" b="b" t="t" l="l"/>
            <a:pathLst>
              <a:path h="4114800" w="3965171">
                <a:moveTo>
                  <a:pt x="0" y="0"/>
                </a:moveTo>
                <a:lnTo>
                  <a:pt x="3965170" y="0"/>
                </a:lnTo>
                <a:lnTo>
                  <a:pt x="39651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3812" y="6391137"/>
            <a:ext cx="4292194" cy="4114800"/>
          </a:xfrm>
          <a:custGeom>
            <a:avLst/>
            <a:gdLst/>
            <a:ahLst/>
            <a:cxnLst/>
            <a:rect r="r" b="b" t="t" l="l"/>
            <a:pathLst>
              <a:path h="4114800" w="4292194">
                <a:moveTo>
                  <a:pt x="0" y="0"/>
                </a:moveTo>
                <a:lnTo>
                  <a:pt x="4292194" y="0"/>
                </a:lnTo>
                <a:lnTo>
                  <a:pt x="42921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21578" y="6172200"/>
            <a:ext cx="2536213" cy="4114800"/>
          </a:xfrm>
          <a:custGeom>
            <a:avLst/>
            <a:gdLst/>
            <a:ahLst/>
            <a:cxnLst/>
            <a:rect r="r" b="b" t="t" l="l"/>
            <a:pathLst>
              <a:path h="4114800" w="2536213">
                <a:moveTo>
                  <a:pt x="0" y="0"/>
                </a:moveTo>
                <a:lnTo>
                  <a:pt x="2536213" y="0"/>
                </a:lnTo>
                <a:lnTo>
                  <a:pt x="25362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3812" y="-2203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2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11461" y="7382337"/>
            <a:ext cx="5480951" cy="3190266"/>
          </a:xfrm>
          <a:custGeom>
            <a:avLst/>
            <a:gdLst/>
            <a:ahLst/>
            <a:cxnLst/>
            <a:rect r="r" b="b" t="t" l="l"/>
            <a:pathLst>
              <a:path h="3190266" w="5480951">
                <a:moveTo>
                  <a:pt x="0" y="0"/>
                </a:moveTo>
                <a:lnTo>
                  <a:pt x="5480950" y="0"/>
                </a:lnTo>
                <a:lnTo>
                  <a:pt x="5480950" y="3190266"/>
                </a:lnTo>
                <a:lnTo>
                  <a:pt x="0" y="3190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1798" y="3467381"/>
            <a:ext cx="11724404" cy="120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4"/>
              </a:lnSpc>
            </a:pPr>
            <a:r>
              <a:rPr lang="en-US" sz="6967" i="true" spc="76">
                <a:solidFill>
                  <a:srgbClr val="121111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OCEAN MALLIK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1030" y="1186142"/>
            <a:ext cx="6545941" cy="885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b="true" sz="6846">
                <a:solidFill>
                  <a:srgbClr val="12111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Group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18970" y="2406084"/>
            <a:ext cx="11724404" cy="120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4"/>
              </a:lnSpc>
            </a:pPr>
            <a:r>
              <a:rPr lang="en-US" sz="6967" i="true" spc="76">
                <a:solidFill>
                  <a:srgbClr val="121111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MD. HASIBUL HASAN HASIB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8367" y="5676617"/>
            <a:ext cx="12945611" cy="170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3"/>
              </a:lnSpc>
            </a:pPr>
            <a:r>
              <a:rPr lang="en-US" b="true" sz="5495" spc="60">
                <a:solidFill>
                  <a:srgbClr val="2B5098"/>
                </a:solidFill>
                <a:latin typeface="Raleway Bold"/>
                <a:ea typeface="Raleway Bold"/>
                <a:cs typeface="Raleway Bold"/>
                <a:sym typeface="Raleway Bold"/>
              </a:rPr>
              <a:t>Extreme Programming (XP) </a:t>
            </a:r>
          </a:p>
          <a:p>
            <a:pPr algn="ctr">
              <a:lnSpc>
                <a:spcPts val="5873"/>
              </a:lnSpc>
            </a:pPr>
            <a:r>
              <a:rPr lang="en-US" b="true" sz="4195" spc="46">
                <a:solidFill>
                  <a:srgbClr val="2B50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 Agile Software Development Methodology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18806" y="4807794"/>
            <a:ext cx="8891695" cy="98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4"/>
              </a:lnSpc>
              <a:spcBef>
                <a:spcPct val="0"/>
              </a:spcBef>
            </a:pPr>
            <a:r>
              <a:rPr lang="en-US" sz="5167" i="true" spc="56">
                <a:solidFill>
                  <a:srgbClr val="293F6D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PRESENTS YOU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Horizontal Scroll Icon"/>
          <p:cNvSpPr/>
          <p:nvPr/>
        </p:nvSpPr>
        <p:spPr>
          <a:xfrm flipH="false" flipV="false" rot="-2139134">
            <a:off x="15893138" y="8058983"/>
            <a:ext cx="2732324" cy="1579780"/>
          </a:xfrm>
          <a:custGeom>
            <a:avLst/>
            <a:gdLst/>
            <a:ahLst/>
            <a:cxnLst/>
            <a:rect r="r" b="b" t="t" l="l"/>
            <a:pathLst>
              <a:path h="1579780" w="2732324">
                <a:moveTo>
                  <a:pt x="0" y="0"/>
                </a:moveTo>
                <a:lnTo>
                  <a:pt x="2732324" y="0"/>
                </a:lnTo>
                <a:lnTo>
                  <a:pt x="2732324" y="1579780"/>
                </a:lnTo>
                <a:lnTo>
                  <a:pt x="0" y="1579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 descr="Programmer, Monitor, Setting, Level, Code Language Icon"/>
          <p:cNvSpPr/>
          <p:nvPr/>
        </p:nvSpPr>
        <p:spPr>
          <a:xfrm flipH="false" flipV="false" rot="0">
            <a:off x="-1028700" y="-13740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Software, Code, Coding, Html Icon. Gray Vector Graphics."/>
          <p:cNvSpPr/>
          <p:nvPr/>
        </p:nvSpPr>
        <p:spPr>
          <a:xfrm flipH="false" flipV="false" rot="0">
            <a:off x="-809565" y="8246882"/>
            <a:ext cx="2885622" cy="2885622"/>
          </a:xfrm>
          <a:custGeom>
            <a:avLst/>
            <a:gdLst/>
            <a:ahLst/>
            <a:cxnLst/>
            <a:rect r="r" b="b" t="t" l="l"/>
            <a:pathLst>
              <a:path h="2885622" w="2885622">
                <a:moveTo>
                  <a:pt x="0" y="0"/>
                </a:moveTo>
                <a:lnTo>
                  <a:pt x="2885622" y="0"/>
                </a:lnTo>
                <a:lnTo>
                  <a:pt x="2885622" y="2885622"/>
                </a:lnTo>
                <a:lnTo>
                  <a:pt x="0" y="288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 descr="Reasoning Blue"/>
          <p:cNvSpPr/>
          <p:nvPr/>
        </p:nvSpPr>
        <p:spPr>
          <a:xfrm flipH="false" flipV="false" rot="0">
            <a:off x="15882712" y="-1374061"/>
            <a:ext cx="2753175" cy="4114800"/>
          </a:xfrm>
          <a:custGeom>
            <a:avLst/>
            <a:gdLst/>
            <a:ahLst/>
            <a:cxnLst/>
            <a:rect r="r" b="b" t="t" l="l"/>
            <a:pathLst>
              <a:path h="4114800" w="2753175">
                <a:moveTo>
                  <a:pt x="0" y="0"/>
                </a:moveTo>
                <a:lnTo>
                  <a:pt x="2753176" y="0"/>
                </a:lnTo>
                <a:lnTo>
                  <a:pt x="27531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 descr="forward icon"/>
          <p:cNvSpPr/>
          <p:nvPr/>
        </p:nvSpPr>
        <p:spPr>
          <a:xfrm flipH="false" flipV="false" rot="0">
            <a:off x="-481812" y="4281864"/>
            <a:ext cx="2230117" cy="1723272"/>
          </a:xfrm>
          <a:custGeom>
            <a:avLst/>
            <a:gdLst/>
            <a:ahLst/>
            <a:cxnLst/>
            <a:rect r="r" b="b" t="t" l="l"/>
            <a:pathLst>
              <a:path h="1723272" w="2230117">
                <a:moveTo>
                  <a:pt x="0" y="0"/>
                </a:moveTo>
                <a:lnTo>
                  <a:pt x="2230117" y="0"/>
                </a:lnTo>
                <a:lnTo>
                  <a:pt x="2230117" y="1723272"/>
                </a:lnTo>
                <a:lnTo>
                  <a:pt x="0" y="17232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1628070" y="40198"/>
            <a:ext cx="11092305" cy="11092305"/>
          </a:xfrm>
          <a:custGeom>
            <a:avLst/>
            <a:gdLst/>
            <a:ahLst/>
            <a:cxnLst/>
            <a:rect r="r" b="b" t="t" l="l"/>
            <a:pathLst>
              <a:path h="11092305" w="11092305">
                <a:moveTo>
                  <a:pt x="0" y="0"/>
                </a:moveTo>
                <a:lnTo>
                  <a:pt x="11092305" y="0"/>
                </a:lnTo>
                <a:lnTo>
                  <a:pt x="11092305" y="11092306"/>
                </a:lnTo>
                <a:lnTo>
                  <a:pt x="0" y="110923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5781" y="2430030"/>
            <a:ext cx="5264584" cy="5412189"/>
          </a:xfrm>
          <a:custGeom>
            <a:avLst/>
            <a:gdLst/>
            <a:ahLst/>
            <a:cxnLst/>
            <a:rect r="r" b="b" t="t" l="l"/>
            <a:pathLst>
              <a:path h="5412189" w="5264584">
                <a:moveTo>
                  <a:pt x="0" y="0"/>
                </a:moveTo>
                <a:lnTo>
                  <a:pt x="5264584" y="0"/>
                </a:lnTo>
                <a:lnTo>
                  <a:pt x="5264584" y="5412189"/>
                </a:lnTo>
                <a:lnTo>
                  <a:pt x="0" y="54121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63060" y="2379554"/>
            <a:ext cx="10205890" cy="5513140"/>
            <a:chOff x="0" y="0"/>
            <a:chExt cx="13607853" cy="735085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2483367"/>
              <a:ext cx="13607853" cy="48674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6" indent="-302258" lvl="1">
                <a:lnSpc>
                  <a:spcPts val="3639"/>
                </a:lnSpc>
                <a:buFont typeface="Arial"/>
                <a:buChar char="•"/>
              </a:pPr>
              <a:r>
                <a:rPr lang="en-US" sz="2799" i="true" spc="30">
                  <a:solidFill>
                    <a:srgbClr val="0A1629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Extreme Programming (XP) is an Agile software development methodology.</a:t>
              </a:r>
            </a:p>
            <a:p>
              <a:pPr algn="l" marL="604516" indent="-302258" lvl="1">
                <a:lnSpc>
                  <a:spcPts val="3639"/>
                </a:lnSpc>
                <a:buFont typeface="Arial"/>
                <a:buChar char="•"/>
              </a:pPr>
              <a:r>
                <a:rPr lang="en-US" sz="2799" i="true" spc="30">
                  <a:solidFill>
                    <a:srgbClr val="0A1629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It focuses on flexibility, team collaboration, and quick customer feedback.</a:t>
              </a:r>
            </a:p>
            <a:p>
              <a:pPr algn="l" marL="604516" indent="-302258" lvl="1">
                <a:lnSpc>
                  <a:spcPts val="3639"/>
                </a:lnSpc>
                <a:buFont typeface="Arial"/>
                <a:buChar char="•"/>
              </a:pPr>
              <a:r>
                <a:rPr lang="en-US" sz="2799" i="true" spc="30">
                  <a:solidFill>
                    <a:srgbClr val="0A1629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XP aims to produce high-quality software and adapt rapidly to changing requirements.</a:t>
              </a:r>
            </a:p>
            <a:p>
              <a:pPr algn="l" marL="604516" indent="-302258" lvl="1">
                <a:lnSpc>
                  <a:spcPts val="3639"/>
                </a:lnSpc>
                <a:buFont typeface="Arial"/>
                <a:buChar char="•"/>
              </a:pPr>
              <a:r>
                <a:rPr lang="en-US" sz="2799" i="true" spc="30">
                  <a:solidFill>
                    <a:srgbClr val="0A1629"/>
                  </a:solidFill>
                  <a:latin typeface="Raleway Italics"/>
                  <a:ea typeface="Raleway Italics"/>
                  <a:cs typeface="Raleway Italics"/>
                  <a:sym typeface="Raleway Italics"/>
                </a:rPr>
                <a:t>It pushes common programming practices—like testing, communication, and simplicity—to an extreme level.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13607853" cy="1139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720"/>
                </a:lnSpc>
              </a:pPr>
              <a:r>
                <a:rPr lang="en-US" b="true" sz="5600">
                  <a:solidFill>
                    <a:srgbClr val="0A162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INTRODUCTION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6959" y="2756863"/>
            <a:ext cx="14248284" cy="655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5289" indent="-502645" lvl="1">
              <a:lnSpc>
                <a:spcPts val="6518"/>
              </a:lnSpc>
              <a:buFont typeface="Arial"/>
              <a:buChar char="•"/>
            </a:pPr>
            <a:r>
              <a:rPr lang="en-US" sz="4656" i="true" spc="51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XP was created by Kent Beck in the late 1990s.</a:t>
            </a:r>
          </a:p>
          <a:p>
            <a:pPr algn="l" marL="1005289" indent="-502645" lvl="1">
              <a:lnSpc>
                <a:spcPts val="6518"/>
              </a:lnSpc>
              <a:buFont typeface="Arial"/>
              <a:buChar char="•"/>
            </a:pPr>
            <a:r>
              <a:rPr lang="en-US" sz="4656" i="true" spc="51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It </a:t>
            </a:r>
            <a:r>
              <a:rPr lang="en-US" sz="4656" i="true" spc="51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originated during the Chrysler C3 payroll system project.</a:t>
            </a:r>
          </a:p>
          <a:p>
            <a:pPr algn="l" marL="1005289" indent="-502645" lvl="1">
              <a:lnSpc>
                <a:spcPts val="6518"/>
              </a:lnSpc>
              <a:buFont typeface="Arial"/>
              <a:buChar char="•"/>
            </a:pPr>
            <a:r>
              <a:rPr lang="en-US" sz="4656" i="true" spc="51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The team faced frequent requirement changes, so Beck introduced XP to handle these changes effectively.</a:t>
            </a:r>
          </a:p>
          <a:p>
            <a:pPr algn="l" marL="1005289" indent="-502645" lvl="1">
              <a:lnSpc>
                <a:spcPts val="6518"/>
              </a:lnSpc>
              <a:buFont typeface="Arial"/>
              <a:buChar char="•"/>
            </a:pPr>
            <a:r>
              <a:rPr lang="en-US" sz="4656" i="true" spc="51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XP later became a major Agile method alongside Scrum.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498109" y="7795066"/>
            <a:ext cx="7315200" cy="3945539"/>
          </a:xfrm>
          <a:custGeom>
            <a:avLst/>
            <a:gdLst/>
            <a:ahLst/>
            <a:cxnLst/>
            <a:rect r="r" b="b" t="t" l="l"/>
            <a:pathLst>
              <a:path h="3945539" w="7315200">
                <a:moveTo>
                  <a:pt x="0" y="0"/>
                </a:moveTo>
                <a:lnTo>
                  <a:pt x="7315200" y="0"/>
                </a:lnTo>
                <a:lnTo>
                  <a:pt x="7315200" y="3945538"/>
                </a:lnTo>
                <a:lnTo>
                  <a:pt x="0" y="3945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38620" y="246104"/>
            <a:ext cx="2457552" cy="2457552"/>
          </a:xfrm>
          <a:custGeom>
            <a:avLst/>
            <a:gdLst/>
            <a:ahLst/>
            <a:cxnLst/>
            <a:rect r="r" b="b" t="t" l="l"/>
            <a:pathLst>
              <a:path h="2457552" w="2457552">
                <a:moveTo>
                  <a:pt x="0" y="0"/>
                </a:moveTo>
                <a:lnTo>
                  <a:pt x="2457551" y="0"/>
                </a:lnTo>
                <a:lnTo>
                  <a:pt x="2457551" y="2457552"/>
                </a:lnTo>
                <a:lnTo>
                  <a:pt x="0" y="245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48594" y="3052457"/>
            <a:ext cx="380052" cy="4675789"/>
          </a:xfrm>
          <a:custGeom>
            <a:avLst/>
            <a:gdLst/>
            <a:ahLst/>
            <a:cxnLst/>
            <a:rect r="r" b="b" t="t" l="l"/>
            <a:pathLst>
              <a:path h="4675789" w="380052">
                <a:moveTo>
                  <a:pt x="0" y="0"/>
                </a:moveTo>
                <a:lnTo>
                  <a:pt x="380052" y="0"/>
                </a:lnTo>
                <a:lnTo>
                  <a:pt x="380052" y="4675788"/>
                </a:lnTo>
                <a:lnTo>
                  <a:pt x="0" y="4675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25519">
            <a:off x="-972951" y="-1056063"/>
            <a:ext cx="3028557" cy="4678950"/>
          </a:xfrm>
          <a:custGeom>
            <a:avLst/>
            <a:gdLst/>
            <a:ahLst/>
            <a:cxnLst/>
            <a:rect r="r" b="b" t="t" l="l"/>
            <a:pathLst>
              <a:path h="4678950" w="3028557">
                <a:moveTo>
                  <a:pt x="0" y="0"/>
                </a:moveTo>
                <a:lnTo>
                  <a:pt x="3028557" y="0"/>
                </a:lnTo>
                <a:lnTo>
                  <a:pt x="3028557" y="4678951"/>
                </a:lnTo>
                <a:lnTo>
                  <a:pt x="0" y="46789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56113" y="885825"/>
            <a:ext cx="5118605" cy="120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4"/>
              </a:lnSpc>
              <a:spcBef>
                <a:spcPct val="0"/>
              </a:spcBef>
            </a:pPr>
            <a:r>
              <a:rPr lang="en-US" sz="6967" i="true" spc="76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History of XP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28646" y="4906474"/>
            <a:ext cx="1762724" cy="86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2"/>
              </a:lnSpc>
              <a:spcBef>
                <a:spcPct val="0"/>
              </a:spcBef>
            </a:pPr>
            <a:r>
              <a:rPr lang="en-US" sz="5023" i="true" spc="55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1996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64468" y="6966173"/>
            <a:ext cx="1805855" cy="872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6"/>
              </a:lnSpc>
              <a:spcBef>
                <a:spcPct val="0"/>
              </a:spcBef>
            </a:pPr>
            <a:r>
              <a:rPr lang="en-US" sz="5040" i="true" spc="55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1999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38620" y="2976257"/>
            <a:ext cx="2977005" cy="138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3973" i="true" spc="43">
                <a:solidFill>
                  <a:srgbClr val="0A1629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Late 1990s</a:t>
            </a:r>
          </a:p>
          <a:p>
            <a:pPr algn="ctr">
              <a:lnSpc>
                <a:spcPts val="5562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4409" y="839293"/>
            <a:ext cx="5799638" cy="1614426"/>
            <a:chOff x="0" y="0"/>
            <a:chExt cx="1527477" cy="4251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7477" cy="425199"/>
            </a:xfrm>
            <a:custGeom>
              <a:avLst/>
              <a:gdLst/>
              <a:ahLst/>
              <a:cxnLst/>
              <a:rect r="r" b="b" t="t" l="l"/>
              <a:pathLst>
                <a:path h="425199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46987" y="1116612"/>
            <a:ext cx="1605216" cy="1059788"/>
            <a:chOff x="0" y="0"/>
            <a:chExt cx="823551" cy="543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07582" y="1045288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USER STORIES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7582" y="1374158"/>
            <a:ext cx="4185816" cy="92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sz="24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ustomer explains requirements in short, clear stories.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30408" y="1268687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-10800000">
            <a:off x="11053477" y="839293"/>
            <a:ext cx="5799638" cy="1614426"/>
            <a:chOff x="0" y="0"/>
            <a:chExt cx="1527477" cy="4251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7477" cy="425199"/>
            </a:xfrm>
            <a:custGeom>
              <a:avLst/>
              <a:gdLst/>
              <a:ahLst/>
              <a:cxnLst/>
              <a:rect r="r" b="b" t="t" l="l"/>
              <a:pathLst>
                <a:path h="425199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10345323" y="1116612"/>
            <a:ext cx="1605216" cy="1059788"/>
            <a:chOff x="0" y="0"/>
            <a:chExt cx="823551" cy="543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723994" y="1268687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29"/>
              </a:lnSpc>
            </a:pPr>
            <a:r>
              <a:rPr lang="en-US" b="true" sz="3949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69960" y="1045288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PAIR PROGRAMMING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69960" y="1293196"/>
            <a:ext cx="4760297" cy="110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19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</a:t>
            </a:r>
            <a:r>
              <a:rPr lang="en-US" sz="19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developers work together at one computer to write better and more reliable code.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62290" y="3139971"/>
            <a:ext cx="5799638" cy="1614426"/>
            <a:chOff x="0" y="0"/>
            <a:chExt cx="1527477" cy="4251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7477" cy="425199"/>
            </a:xfrm>
            <a:custGeom>
              <a:avLst/>
              <a:gdLst/>
              <a:ahLst/>
              <a:cxnLst/>
              <a:rect r="r" b="b" t="t" l="l"/>
              <a:pathLst>
                <a:path h="425199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64867" y="3417290"/>
            <a:ext cx="1605216" cy="1059788"/>
            <a:chOff x="0" y="0"/>
            <a:chExt cx="823551" cy="543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648288" y="3569366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5462" y="3366479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PLANNING GAME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5462" y="3704875"/>
            <a:ext cx="4339404" cy="8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</a:pPr>
            <a:r>
              <a:rPr lang="en-US" sz="23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3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eam and customer decide priorities and what to develop first.</a:t>
            </a:r>
          </a:p>
        </p:txBody>
      </p:sp>
      <p:grpSp>
        <p:nvGrpSpPr>
          <p:cNvPr name="Group 29" id="29"/>
          <p:cNvGrpSpPr/>
          <p:nvPr/>
        </p:nvGrpSpPr>
        <p:grpSpPr>
          <a:xfrm rot="-10800000">
            <a:off x="12038820" y="3139971"/>
            <a:ext cx="5799638" cy="1614426"/>
            <a:chOff x="0" y="0"/>
            <a:chExt cx="1527477" cy="4251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7477" cy="425199"/>
            </a:xfrm>
            <a:custGeom>
              <a:avLst/>
              <a:gdLst/>
              <a:ahLst/>
              <a:cxnLst/>
              <a:rect r="r" b="b" t="t" l="l"/>
              <a:pathLst>
                <a:path h="425199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11330665" y="3417290"/>
            <a:ext cx="1605216" cy="1059788"/>
            <a:chOff x="0" y="0"/>
            <a:chExt cx="823551" cy="543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1709337" y="3569366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55303" y="3366479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TESTING(TDD)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55303" y="3695350"/>
            <a:ext cx="4185816" cy="85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9"/>
              </a:lnSpc>
            </a:pPr>
            <a:r>
              <a:rPr lang="en-US" sz="22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2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ests are written before coding and run continuously.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462290" y="5440650"/>
            <a:ext cx="5799638" cy="1614426"/>
            <a:chOff x="0" y="0"/>
            <a:chExt cx="1527477" cy="4251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7477" cy="425199"/>
            </a:xfrm>
            <a:custGeom>
              <a:avLst/>
              <a:gdLst/>
              <a:ahLst/>
              <a:cxnLst/>
              <a:rect r="r" b="b" t="t" l="l"/>
              <a:pathLst>
                <a:path h="425199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64867" y="5717969"/>
            <a:ext cx="1605216" cy="1059788"/>
            <a:chOff x="0" y="0"/>
            <a:chExt cx="823551" cy="5437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5648288" y="5870045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5462" y="5667158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SHORT INTERATION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5462" y="5996029"/>
            <a:ext cx="4185816" cy="92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</a:pPr>
            <a:r>
              <a:rPr lang="en-US" sz="24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</a:t>
            </a:r>
            <a:r>
              <a:rPr lang="en-US" sz="24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cycle delivers a small, working version of the product.</a:t>
            </a:r>
          </a:p>
        </p:txBody>
      </p:sp>
      <p:grpSp>
        <p:nvGrpSpPr>
          <p:cNvPr name="Group 47" id="47"/>
          <p:cNvGrpSpPr/>
          <p:nvPr/>
        </p:nvGrpSpPr>
        <p:grpSpPr>
          <a:xfrm rot="-10800000">
            <a:off x="12038820" y="5440650"/>
            <a:ext cx="5799638" cy="1614426"/>
            <a:chOff x="0" y="0"/>
            <a:chExt cx="1527477" cy="4251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27477" cy="425199"/>
            </a:xfrm>
            <a:custGeom>
              <a:avLst/>
              <a:gdLst/>
              <a:ahLst/>
              <a:cxnLst/>
              <a:rect r="r" b="b" t="t" l="l"/>
              <a:pathLst>
                <a:path h="425199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10800000">
            <a:off x="11330665" y="5717969"/>
            <a:ext cx="1605216" cy="1059788"/>
            <a:chOff x="0" y="0"/>
            <a:chExt cx="823551" cy="543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709337" y="5870045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07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55303" y="5667158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CONTINOUS INTE</a:t>
            </a: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GRATION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55303" y="6005554"/>
            <a:ext cx="4185816" cy="88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</a:pPr>
            <a:r>
              <a:rPr lang="en-US" sz="23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3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ode is frequently merged and tested to detect errors early.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444409" y="7741329"/>
            <a:ext cx="5799638" cy="1614426"/>
            <a:chOff x="0" y="0"/>
            <a:chExt cx="1527477" cy="42519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27477" cy="425199"/>
            </a:xfrm>
            <a:custGeom>
              <a:avLst/>
              <a:gdLst/>
              <a:ahLst/>
              <a:cxnLst/>
              <a:rect r="r" b="b" t="t" l="l"/>
              <a:pathLst>
                <a:path h="425199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49109"/>
                  </a:lnTo>
                  <a:cubicBezTo>
                    <a:pt x="1527477" y="391132"/>
                    <a:pt x="1493411" y="425199"/>
                    <a:pt x="1451388" y="425199"/>
                  </a:cubicBezTo>
                  <a:lnTo>
                    <a:pt x="76089" y="425199"/>
                  </a:lnTo>
                  <a:cubicBezTo>
                    <a:pt x="34066" y="425199"/>
                    <a:pt x="0" y="391132"/>
                    <a:pt x="0" y="349109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FFE8A3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527477" cy="472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46987" y="8018648"/>
            <a:ext cx="1605216" cy="1059788"/>
            <a:chOff x="0" y="0"/>
            <a:chExt cx="823551" cy="543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630408" y="8170723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007582" y="7990100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SIMPLE DESIGN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07582" y="8328495"/>
            <a:ext cx="4185816" cy="70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9"/>
              </a:lnSpc>
            </a:pPr>
            <a:r>
              <a:rPr lang="en-US" sz="18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esign only what is necessary right now to keep the code clean and easy to change.</a:t>
            </a:r>
          </a:p>
        </p:txBody>
      </p:sp>
      <p:grpSp>
        <p:nvGrpSpPr>
          <p:cNvPr name="Group 65" id="65"/>
          <p:cNvGrpSpPr/>
          <p:nvPr/>
        </p:nvGrpSpPr>
        <p:grpSpPr>
          <a:xfrm rot="-10800000">
            <a:off x="11053477" y="7741329"/>
            <a:ext cx="5799638" cy="1648252"/>
            <a:chOff x="0" y="0"/>
            <a:chExt cx="1527477" cy="4341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527477" cy="434108"/>
            </a:xfrm>
            <a:custGeom>
              <a:avLst/>
              <a:gdLst/>
              <a:ahLst/>
              <a:cxnLst/>
              <a:rect r="r" b="b" t="t" l="l"/>
              <a:pathLst>
                <a:path h="434108" w="1527477">
                  <a:moveTo>
                    <a:pt x="76089" y="0"/>
                  </a:moveTo>
                  <a:lnTo>
                    <a:pt x="1451388" y="0"/>
                  </a:lnTo>
                  <a:cubicBezTo>
                    <a:pt x="1493411" y="0"/>
                    <a:pt x="1527477" y="34066"/>
                    <a:pt x="1527477" y="76089"/>
                  </a:cubicBezTo>
                  <a:lnTo>
                    <a:pt x="1527477" y="358018"/>
                  </a:lnTo>
                  <a:cubicBezTo>
                    <a:pt x="1527477" y="400041"/>
                    <a:pt x="1493411" y="434108"/>
                    <a:pt x="1451388" y="434108"/>
                  </a:cubicBezTo>
                  <a:lnTo>
                    <a:pt x="76089" y="434108"/>
                  </a:lnTo>
                  <a:cubicBezTo>
                    <a:pt x="34066" y="434108"/>
                    <a:pt x="0" y="400041"/>
                    <a:pt x="0" y="358018"/>
                  </a:cubicBezTo>
                  <a:lnTo>
                    <a:pt x="0" y="76089"/>
                  </a:lnTo>
                  <a:cubicBezTo>
                    <a:pt x="0" y="34066"/>
                    <a:pt x="34066" y="0"/>
                    <a:pt x="76089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527477" cy="48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10800000">
            <a:off x="10345323" y="8018648"/>
            <a:ext cx="1605216" cy="1059788"/>
            <a:chOff x="0" y="0"/>
            <a:chExt cx="823551" cy="543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8878" y="0"/>
              <a:ext cx="775433" cy="543720"/>
            </a:xfrm>
            <a:custGeom>
              <a:avLst/>
              <a:gdLst/>
              <a:ahLst/>
              <a:cxnLst/>
              <a:rect r="r" b="b" t="t" l="l"/>
              <a:pathLst>
                <a:path h="543720" w="775433">
                  <a:moveTo>
                    <a:pt x="28998" y="0"/>
                  </a:moveTo>
                  <a:lnTo>
                    <a:pt x="533597" y="0"/>
                  </a:lnTo>
                  <a:cubicBezTo>
                    <a:pt x="570023" y="0"/>
                    <a:pt x="604314" y="17181"/>
                    <a:pt x="626122" y="46357"/>
                  </a:cubicBezTo>
                  <a:lnTo>
                    <a:pt x="760023" y="225503"/>
                  </a:lnTo>
                  <a:cubicBezTo>
                    <a:pt x="780570" y="252993"/>
                    <a:pt x="780570" y="290728"/>
                    <a:pt x="760023" y="318218"/>
                  </a:cubicBezTo>
                  <a:lnTo>
                    <a:pt x="626122" y="497363"/>
                  </a:lnTo>
                  <a:cubicBezTo>
                    <a:pt x="604314" y="526539"/>
                    <a:pt x="570023" y="543720"/>
                    <a:pt x="533597" y="543720"/>
                  </a:cubicBezTo>
                  <a:lnTo>
                    <a:pt x="28998" y="543720"/>
                  </a:lnTo>
                  <a:cubicBezTo>
                    <a:pt x="18023" y="543720"/>
                    <a:pt x="7989" y="537525"/>
                    <a:pt x="3073" y="527712"/>
                  </a:cubicBezTo>
                  <a:cubicBezTo>
                    <a:pt x="-1844" y="517900"/>
                    <a:pt x="-799" y="506154"/>
                    <a:pt x="5772" y="497363"/>
                  </a:cubicBezTo>
                  <a:lnTo>
                    <a:pt x="139672" y="318218"/>
                  </a:lnTo>
                  <a:cubicBezTo>
                    <a:pt x="160220" y="290728"/>
                    <a:pt x="160220" y="252993"/>
                    <a:pt x="139672" y="225503"/>
                  </a:cubicBezTo>
                  <a:lnTo>
                    <a:pt x="5772" y="46357"/>
                  </a:lnTo>
                  <a:cubicBezTo>
                    <a:pt x="-799" y="37567"/>
                    <a:pt x="-1844" y="25820"/>
                    <a:pt x="3073" y="16008"/>
                  </a:cubicBezTo>
                  <a:cubicBezTo>
                    <a:pt x="7989" y="6196"/>
                    <a:pt x="18023" y="0"/>
                    <a:pt x="28998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177800" y="-38100"/>
              <a:ext cx="569551" cy="581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10723994" y="8170723"/>
            <a:ext cx="924073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29"/>
              </a:lnSpc>
              <a:spcBef>
                <a:spcPct val="0"/>
              </a:spcBef>
            </a:pPr>
            <a:r>
              <a:rPr lang="en-US" b="true" sz="3949" spc="165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08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169960" y="7990100"/>
            <a:ext cx="4185816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CUSTOMER FEEDBACK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02938" y="8277060"/>
            <a:ext cx="4827319" cy="8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  <a:r>
              <a:rPr lang="en-US" sz="21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</a:t>
            </a:r>
            <a:r>
              <a:rPr lang="en-US" sz="2199">
                <a:solidFill>
                  <a:srgbClr val="1C1C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 each iteration, the customer reviews the product and suggests improvements.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7223427" y="3232127"/>
            <a:ext cx="3841146" cy="3841146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rnd">
              <a:solidFill>
                <a:srgbClr val="8D9193"/>
              </a:solidFill>
              <a:prstDash val="sysDot"/>
              <a:round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234665" y="3213727"/>
            <a:ext cx="381000" cy="381000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782665" y="3213727"/>
            <a:ext cx="381000" cy="381000"/>
            <a:chOff x="0" y="0"/>
            <a:chExt cx="812800" cy="812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234665" y="6720848"/>
            <a:ext cx="381000" cy="381000"/>
            <a:chOff x="0" y="0"/>
            <a:chExt cx="812800" cy="812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244048" y="5855732"/>
            <a:ext cx="381000" cy="381000"/>
            <a:chOff x="0" y="0"/>
            <a:chExt cx="812800" cy="812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610438" y="5855732"/>
            <a:ext cx="381000" cy="381000"/>
            <a:chOff x="0" y="0"/>
            <a:chExt cx="812800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223427" y="4181252"/>
            <a:ext cx="381000" cy="381000"/>
            <a:chOff x="0" y="0"/>
            <a:chExt cx="812800" cy="812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610438" y="4127541"/>
            <a:ext cx="381000" cy="381000"/>
            <a:chOff x="0" y="0"/>
            <a:chExt cx="812800" cy="812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709673" y="6720848"/>
            <a:ext cx="381000" cy="381000"/>
            <a:chOff x="0" y="0"/>
            <a:chExt cx="812800" cy="812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100" id="10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7680785" y="4574316"/>
            <a:ext cx="2929653" cy="112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24"/>
              </a:lnSpc>
            </a:pPr>
            <a:r>
              <a:rPr lang="en-US" b="true" sz="4174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WORKING PROCESS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6855" y="3280678"/>
            <a:ext cx="3762445" cy="1012519"/>
            <a:chOff x="0" y="0"/>
            <a:chExt cx="830210" cy="2234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0210" cy="223420"/>
            </a:xfrm>
            <a:custGeom>
              <a:avLst/>
              <a:gdLst/>
              <a:ahLst/>
              <a:cxnLst/>
              <a:rect r="r" b="b" t="t" l="l"/>
              <a:pathLst>
                <a:path h="223420" w="830210">
                  <a:moveTo>
                    <a:pt x="6173" y="0"/>
                  </a:moveTo>
                  <a:lnTo>
                    <a:pt x="824037" y="0"/>
                  </a:lnTo>
                  <a:cubicBezTo>
                    <a:pt x="825675" y="0"/>
                    <a:pt x="827245" y="650"/>
                    <a:pt x="828402" y="1808"/>
                  </a:cubicBezTo>
                  <a:cubicBezTo>
                    <a:pt x="829560" y="2966"/>
                    <a:pt x="830210" y="4536"/>
                    <a:pt x="830210" y="6173"/>
                  </a:cubicBezTo>
                  <a:lnTo>
                    <a:pt x="830210" y="217246"/>
                  </a:lnTo>
                  <a:cubicBezTo>
                    <a:pt x="830210" y="220656"/>
                    <a:pt x="827447" y="223420"/>
                    <a:pt x="824037" y="223420"/>
                  </a:cubicBezTo>
                  <a:lnTo>
                    <a:pt x="6173" y="223420"/>
                  </a:lnTo>
                  <a:cubicBezTo>
                    <a:pt x="4536" y="223420"/>
                    <a:pt x="2966" y="222769"/>
                    <a:pt x="1808" y="221611"/>
                  </a:cubicBezTo>
                  <a:cubicBezTo>
                    <a:pt x="650" y="220454"/>
                    <a:pt x="0" y="218884"/>
                    <a:pt x="0" y="217246"/>
                  </a:cubicBezTo>
                  <a:lnTo>
                    <a:pt x="0" y="6173"/>
                  </a:lnTo>
                  <a:cubicBezTo>
                    <a:pt x="0" y="2764"/>
                    <a:pt x="2764" y="0"/>
                    <a:pt x="6173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830210" cy="30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49"/>
                </a:lnSpc>
              </a:pPr>
              <a:r>
                <a:rPr lang="en-US" b="true" sz="2899" spc="144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Simple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50354" y="5544901"/>
            <a:ext cx="3762445" cy="1012519"/>
            <a:chOff x="0" y="0"/>
            <a:chExt cx="830210" cy="2234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0210" cy="223420"/>
            </a:xfrm>
            <a:custGeom>
              <a:avLst/>
              <a:gdLst/>
              <a:ahLst/>
              <a:cxnLst/>
              <a:rect r="r" b="b" t="t" l="l"/>
              <a:pathLst>
                <a:path h="223420" w="830210">
                  <a:moveTo>
                    <a:pt x="6173" y="0"/>
                  </a:moveTo>
                  <a:lnTo>
                    <a:pt x="824037" y="0"/>
                  </a:lnTo>
                  <a:cubicBezTo>
                    <a:pt x="825675" y="0"/>
                    <a:pt x="827245" y="650"/>
                    <a:pt x="828402" y="1808"/>
                  </a:cubicBezTo>
                  <a:cubicBezTo>
                    <a:pt x="829560" y="2966"/>
                    <a:pt x="830210" y="4536"/>
                    <a:pt x="830210" y="6173"/>
                  </a:cubicBezTo>
                  <a:lnTo>
                    <a:pt x="830210" y="217246"/>
                  </a:lnTo>
                  <a:cubicBezTo>
                    <a:pt x="830210" y="220656"/>
                    <a:pt x="827447" y="223420"/>
                    <a:pt x="824037" y="223420"/>
                  </a:cubicBezTo>
                  <a:lnTo>
                    <a:pt x="6173" y="223420"/>
                  </a:lnTo>
                  <a:cubicBezTo>
                    <a:pt x="4536" y="223420"/>
                    <a:pt x="2966" y="222769"/>
                    <a:pt x="1808" y="221611"/>
                  </a:cubicBezTo>
                  <a:cubicBezTo>
                    <a:pt x="650" y="220454"/>
                    <a:pt x="0" y="218884"/>
                    <a:pt x="0" y="217246"/>
                  </a:cubicBezTo>
                  <a:lnTo>
                    <a:pt x="0" y="6173"/>
                  </a:lnTo>
                  <a:cubicBezTo>
                    <a:pt x="0" y="2764"/>
                    <a:pt x="2764" y="0"/>
                    <a:pt x="6173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830210" cy="30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49"/>
                </a:lnSpc>
              </a:pPr>
              <a:r>
                <a:rPr lang="en-US" b="true" sz="2899" spc="144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On-Site Customer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69056" y="7387438"/>
            <a:ext cx="3762445" cy="1125220"/>
            <a:chOff x="0" y="0"/>
            <a:chExt cx="830210" cy="24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0210" cy="248288"/>
            </a:xfrm>
            <a:custGeom>
              <a:avLst/>
              <a:gdLst/>
              <a:ahLst/>
              <a:cxnLst/>
              <a:rect r="r" b="b" t="t" l="l"/>
              <a:pathLst>
                <a:path h="248288" w="830210">
                  <a:moveTo>
                    <a:pt x="6173" y="0"/>
                  </a:moveTo>
                  <a:lnTo>
                    <a:pt x="824037" y="0"/>
                  </a:lnTo>
                  <a:cubicBezTo>
                    <a:pt x="825675" y="0"/>
                    <a:pt x="827245" y="650"/>
                    <a:pt x="828402" y="1808"/>
                  </a:cubicBezTo>
                  <a:cubicBezTo>
                    <a:pt x="829560" y="2966"/>
                    <a:pt x="830210" y="4536"/>
                    <a:pt x="830210" y="6173"/>
                  </a:cubicBezTo>
                  <a:lnTo>
                    <a:pt x="830210" y="242115"/>
                  </a:lnTo>
                  <a:cubicBezTo>
                    <a:pt x="830210" y="245524"/>
                    <a:pt x="827447" y="248288"/>
                    <a:pt x="824037" y="248288"/>
                  </a:cubicBezTo>
                  <a:lnTo>
                    <a:pt x="6173" y="248288"/>
                  </a:lnTo>
                  <a:cubicBezTo>
                    <a:pt x="2764" y="248288"/>
                    <a:pt x="0" y="245524"/>
                    <a:pt x="0" y="242115"/>
                  </a:cubicBezTo>
                  <a:lnTo>
                    <a:pt x="0" y="6173"/>
                  </a:lnTo>
                  <a:cubicBezTo>
                    <a:pt x="0" y="2764"/>
                    <a:pt x="2764" y="0"/>
                    <a:pt x="6173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830210" cy="33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49"/>
                </a:lnSpc>
              </a:pPr>
              <a:r>
                <a:rPr lang="en-US" b="true" sz="2899" spc="144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Collective Code Ownership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7645" y="7387438"/>
            <a:ext cx="3762445" cy="1012519"/>
            <a:chOff x="0" y="0"/>
            <a:chExt cx="830210" cy="2234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0210" cy="223420"/>
            </a:xfrm>
            <a:custGeom>
              <a:avLst/>
              <a:gdLst/>
              <a:ahLst/>
              <a:cxnLst/>
              <a:rect r="r" b="b" t="t" l="l"/>
              <a:pathLst>
                <a:path h="223420" w="830210">
                  <a:moveTo>
                    <a:pt x="6173" y="0"/>
                  </a:moveTo>
                  <a:lnTo>
                    <a:pt x="824037" y="0"/>
                  </a:lnTo>
                  <a:cubicBezTo>
                    <a:pt x="825675" y="0"/>
                    <a:pt x="827245" y="650"/>
                    <a:pt x="828402" y="1808"/>
                  </a:cubicBezTo>
                  <a:cubicBezTo>
                    <a:pt x="829560" y="2966"/>
                    <a:pt x="830210" y="4536"/>
                    <a:pt x="830210" y="6173"/>
                  </a:cubicBezTo>
                  <a:lnTo>
                    <a:pt x="830210" y="217246"/>
                  </a:lnTo>
                  <a:cubicBezTo>
                    <a:pt x="830210" y="220656"/>
                    <a:pt x="827447" y="223420"/>
                    <a:pt x="824037" y="223420"/>
                  </a:cubicBezTo>
                  <a:lnTo>
                    <a:pt x="6173" y="223420"/>
                  </a:lnTo>
                  <a:cubicBezTo>
                    <a:pt x="4536" y="223420"/>
                    <a:pt x="2966" y="222769"/>
                    <a:pt x="1808" y="221611"/>
                  </a:cubicBezTo>
                  <a:cubicBezTo>
                    <a:pt x="650" y="220454"/>
                    <a:pt x="0" y="218884"/>
                    <a:pt x="0" y="217246"/>
                  </a:cubicBezTo>
                  <a:lnTo>
                    <a:pt x="0" y="6173"/>
                  </a:lnTo>
                  <a:cubicBezTo>
                    <a:pt x="0" y="2764"/>
                    <a:pt x="2764" y="0"/>
                    <a:pt x="6173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830210" cy="309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49"/>
                </a:lnSpc>
              </a:pPr>
              <a:r>
                <a:rPr lang="en-US" b="true" sz="2899" spc="144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Refactoring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3486" y="3280678"/>
            <a:ext cx="3762445" cy="1125220"/>
            <a:chOff x="0" y="0"/>
            <a:chExt cx="830210" cy="248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0210" cy="248288"/>
            </a:xfrm>
            <a:custGeom>
              <a:avLst/>
              <a:gdLst/>
              <a:ahLst/>
              <a:cxnLst/>
              <a:rect r="r" b="b" t="t" l="l"/>
              <a:pathLst>
                <a:path h="248288" w="830210">
                  <a:moveTo>
                    <a:pt x="6173" y="0"/>
                  </a:moveTo>
                  <a:lnTo>
                    <a:pt x="824037" y="0"/>
                  </a:lnTo>
                  <a:cubicBezTo>
                    <a:pt x="825675" y="0"/>
                    <a:pt x="827245" y="650"/>
                    <a:pt x="828402" y="1808"/>
                  </a:cubicBezTo>
                  <a:cubicBezTo>
                    <a:pt x="829560" y="2966"/>
                    <a:pt x="830210" y="4536"/>
                    <a:pt x="830210" y="6173"/>
                  </a:cubicBezTo>
                  <a:lnTo>
                    <a:pt x="830210" y="242115"/>
                  </a:lnTo>
                  <a:cubicBezTo>
                    <a:pt x="830210" y="245524"/>
                    <a:pt x="827447" y="248288"/>
                    <a:pt x="824037" y="248288"/>
                  </a:cubicBezTo>
                  <a:lnTo>
                    <a:pt x="6173" y="248288"/>
                  </a:lnTo>
                  <a:cubicBezTo>
                    <a:pt x="2764" y="248288"/>
                    <a:pt x="0" y="245524"/>
                    <a:pt x="0" y="242115"/>
                  </a:cubicBezTo>
                  <a:lnTo>
                    <a:pt x="0" y="6173"/>
                  </a:lnTo>
                  <a:cubicBezTo>
                    <a:pt x="0" y="2764"/>
                    <a:pt x="2764" y="0"/>
                    <a:pt x="6173" y="0"/>
                  </a:cubicBezTo>
                  <a:close/>
                </a:path>
              </a:pathLst>
            </a:custGeom>
            <a:solidFill>
              <a:srgbClr val="3EDA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830210" cy="33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49"/>
                </a:lnSpc>
              </a:pPr>
              <a:r>
                <a:rPr lang="en-US" b="true" sz="2899" spc="144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Continuous Integration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5544730"/>
            <a:ext cx="3762445" cy="1125220"/>
            <a:chOff x="0" y="0"/>
            <a:chExt cx="830210" cy="248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0210" cy="248288"/>
            </a:xfrm>
            <a:custGeom>
              <a:avLst/>
              <a:gdLst/>
              <a:ahLst/>
              <a:cxnLst/>
              <a:rect r="r" b="b" t="t" l="l"/>
              <a:pathLst>
                <a:path h="248288" w="830210">
                  <a:moveTo>
                    <a:pt x="6173" y="0"/>
                  </a:moveTo>
                  <a:lnTo>
                    <a:pt x="824037" y="0"/>
                  </a:lnTo>
                  <a:cubicBezTo>
                    <a:pt x="825675" y="0"/>
                    <a:pt x="827245" y="650"/>
                    <a:pt x="828402" y="1808"/>
                  </a:cubicBezTo>
                  <a:cubicBezTo>
                    <a:pt x="829560" y="2966"/>
                    <a:pt x="830210" y="4536"/>
                    <a:pt x="830210" y="6173"/>
                  </a:cubicBezTo>
                  <a:lnTo>
                    <a:pt x="830210" y="242115"/>
                  </a:lnTo>
                  <a:cubicBezTo>
                    <a:pt x="830210" y="245524"/>
                    <a:pt x="827447" y="248288"/>
                    <a:pt x="824037" y="248288"/>
                  </a:cubicBezTo>
                  <a:lnTo>
                    <a:pt x="6173" y="248288"/>
                  </a:lnTo>
                  <a:cubicBezTo>
                    <a:pt x="2764" y="248288"/>
                    <a:pt x="0" y="245524"/>
                    <a:pt x="0" y="242115"/>
                  </a:cubicBezTo>
                  <a:lnTo>
                    <a:pt x="0" y="6173"/>
                  </a:lnTo>
                  <a:cubicBezTo>
                    <a:pt x="0" y="2764"/>
                    <a:pt x="2764" y="0"/>
                    <a:pt x="6173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830210" cy="3340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49"/>
                </a:lnSpc>
              </a:pPr>
              <a:r>
                <a:rPr lang="en-US" b="true" sz="2899" spc="144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Small, Frequent Releases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5045931" y="3786937"/>
            <a:ext cx="3336509" cy="56351"/>
          </a:xfrm>
          <a:prstGeom prst="line">
            <a:avLst/>
          </a:prstGeom>
          <a:ln cap="flat" w="38100">
            <a:solidFill>
              <a:srgbClr val="A8A8A8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4791145" y="6080263"/>
            <a:ext cx="3545819" cy="27077"/>
          </a:xfrm>
          <a:prstGeom prst="line">
            <a:avLst/>
          </a:prstGeom>
          <a:ln cap="flat" w="38100">
            <a:solidFill>
              <a:srgbClr val="A8A8A8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2107645" y="1331412"/>
            <a:ext cx="6271107" cy="2451883"/>
            <a:chOff x="0" y="0"/>
            <a:chExt cx="8361475" cy="326917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016593" cy="1350025"/>
              <a:chOff x="0" y="0"/>
              <a:chExt cx="830210" cy="223419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30210" cy="223420"/>
              </a:xfrm>
              <a:custGeom>
                <a:avLst/>
                <a:gdLst/>
                <a:ahLst/>
                <a:cxnLst/>
                <a:rect r="r" b="b" t="t" l="l"/>
                <a:pathLst>
                  <a:path h="223420" w="830210">
                    <a:moveTo>
                      <a:pt x="6173" y="0"/>
                    </a:moveTo>
                    <a:lnTo>
                      <a:pt x="824037" y="0"/>
                    </a:lnTo>
                    <a:cubicBezTo>
                      <a:pt x="825675" y="0"/>
                      <a:pt x="827245" y="650"/>
                      <a:pt x="828402" y="1808"/>
                    </a:cubicBezTo>
                    <a:cubicBezTo>
                      <a:pt x="829560" y="2966"/>
                      <a:pt x="830210" y="4536"/>
                      <a:pt x="830210" y="6173"/>
                    </a:cubicBezTo>
                    <a:lnTo>
                      <a:pt x="830210" y="217246"/>
                    </a:lnTo>
                    <a:cubicBezTo>
                      <a:pt x="830210" y="220656"/>
                      <a:pt x="827447" y="223420"/>
                      <a:pt x="824037" y="223420"/>
                    </a:cubicBezTo>
                    <a:lnTo>
                      <a:pt x="6173" y="223420"/>
                    </a:lnTo>
                    <a:cubicBezTo>
                      <a:pt x="4536" y="223420"/>
                      <a:pt x="2966" y="222769"/>
                      <a:pt x="1808" y="221611"/>
                    </a:cubicBezTo>
                    <a:cubicBezTo>
                      <a:pt x="650" y="220454"/>
                      <a:pt x="0" y="218884"/>
                      <a:pt x="0" y="217246"/>
                    </a:cubicBezTo>
                    <a:lnTo>
                      <a:pt x="0" y="6173"/>
                    </a:lnTo>
                    <a:cubicBezTo>
                      <a:pt x="0" y="2764"/>
                      <a:pt x="2764" y="0"/>
                      <a:pt x="6173" y="0"/>
                    </a:cubicBezTo>
                    <a:close/>
                  </a:path>
                </a:pathLst>
              </a:custGeom>
              <a:solidFill>
                <a:srgbClr val="55C4D4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85725"/>
                <a:ext cx="830210" cy="3091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349"/>
                  </a:lnSpc>
                </a:pPr>
                <a:r>
                  <a:rPr lang="en-US" b="true" sz="2899" spc="144">
                    <a:solidFill>
                      <a:srgbClr val="FFFFFF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Pair Programming</a:t>
                </a:r>
              </a:p>
            </p:txBody>
          </p:sp>
        </p:grpSp>
        <p:sp>
          <p:nvSpPr>
            <p:cNvPr name="AutoShape 26" id="26"/>
            <p:cNvSpPr/>
            <p:nvPr/>
          </p:nvSpPr>
          <p:spPr>
            <a:xfrm flipV="true">
              <a:off x="5016593" y="675012"/>
              <a:ext cx="3319483" cy="0"/>
            </a:xfrm>
            <a:prstGeom prst="line">
              <a:avLst/>
            </a:prstGeom>
            <a:ln cap="flat" w="50800">
              <a:solidFill>
                <a:srgbClr val="A8A8A8"/>
              </a:solidFill>
              <a:prstDash val="solid"/>
              <a:headEnd type="triangle" len="med" w="lg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 flipV="true">
              <a:off x="8336075" y="644695"/>
              <a:ext cx="0" cy="2624483"/>
            </a:xfrm>
            <a:prstGeom prst="line">
              <a:avLst/>
            </a:prstGeom>
            <a:ln cap="flat" w="50800">
              <a:solidFill>
                <a:srgbClr val="A8A8A8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763651" y="1331412"/>
            <a:ext cx="6267850" cy="2403683"/>
            <a:chOff x="0" y="0"/>
            <a:chExt cx="8357133" cy="320491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3340540" y="0"/>
              <a:ext cx="5016593" cy="1350025"/>
              <a:chOff x="0" y="0"/>
              <a:chExt cx="830210" cy="22341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30210" cy="223420"/>
              </a:xfrm>
              <a:custGeom>
                <a:avLst/>
                <a:gdLst/>
                <a:ahLst/>
                <a:cxnLst/>
                <a:rect r="r" b="b" t="t" l="l"/>
                <a:pathLst>
                  <a:path h="223420" w="830210">
                    <a:moveTo>
                      <a:pt x="6173" y="0"/>
                    </a:moveTo>
                    <a:lnTo>
                      <a:pt x="824037" y="0"/>
                    </a:lnTo>
                    <a:cubicBezTo>
                      <a:pt x="825675" y="0"/>
                      <a:pt x="827245" y="650"/>
                      <a:pt x="828402" y="1808"/>
                    </a:cubicBezTo>
                    <a:cubicBezTo>
                      <a:pt x="829560" y="2966"/>
                      <a:pt x="830210" y="4536"/>
                      <a:pt x="830210" y="6173"/>
                    </a:cubicBezTo>
                    <a:lnTo>
                      <a:pt x="830210" y="217246"/>
                    </a:lnTo>
                    <a:cubicBezTo>
                      <a:pt x="830210" y="220656"/>
                      <a:pt x="827447" y="223420"/>
                      <a:pt x="824037" y="223420"/>
                    </a:cubicBezTo>
                    <a:lnTo>
                      <a:pt x="6173" y="223420"/>
                    </a:lnTo>
                    <a:cubicBezTo>
                      <a:pt x="4536" y="223420"/>
                      <a:pt x="2966" y="222769"/>
                      <a:pt x="1808" y="221611"/>
                    </a:cubicBezTo>
                    <a:cubicBezTo>
                      <a:pt x="650" y="220454"/>
                      <a:pt x="0" y="218884"/>
                      <a:pt x="0" y="217246"/>
                    </a:cubicBezTo>
                    <a:lnTo>
                      <a:pt x="0" y="6173"/>
                    </a:lnTo>
                    <a:cubicBezTo>
                      <a:pt x="0" y="2764"/>
                      <a:pt x="2764" y="0"/>
                      <a:pt x="6173" y="0"/>
                    </a:cubicBezTo>
                    <a:close/>
                  </a:path>
                </a:pathLst>
              </a:custGeom>
              <a:solidFill>
                <a:srgbClr val="55C4D4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76200"/>
                <a:ext cx="830210" cy="2996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49"/>
                  </a:lnSpc>
                </a:pPr>
                <a:r>
                  <a:rPr lang="en-US" b="true" sz="2499" spc="124">
                    <a:solidFill>
                      <a:srgbClr val="FFFFFF"/>
                    </a:solidFill>
                    <a:latin typeface="Aileron Bold"/>
                    <a:ea typeface="Aileron Bold"/>
                    <a:cs typeface="Aileron Bold"/>
                    <a:sym typeface="Aileron Bold"/>
                  </a:rPr>
                  <a:t>Test-Driven Development (TDD)</a:t>
                </a:r>
              </a:p>
            </p:txBody>
          </p:sp>
        </p:grpSp>
        <p:sp>
          <p:nvSpPr>
            <p:cNvPr name="AutoShape 32" id="32"/>
            <p:cNvSpPr/>
            <p:nvPr/>
          </p:nvSpPr>
          <p:spPr>
            <a:xfrm>
              <a:off x="25400" y="675012"/>
              <a:ext cx="3315140" cy="0"/>
            </a:xfrm>
            <a:prstGeom prst="line">
              <a:avLst/>
            </a:prstGeom>
            <a:ln cap="flat" w="50800">
              <a:solidFill>
                <a:srgbClr val="A8A8A8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3" id="33"/>
            <p:cNvSpPr/>
            <p:nvPr/>
          </p:nvSpPr>
          <p:spPr>
            <a:xfrm flipV="true">
              <a:off x="25400" y="644695"/>
              <a:ext cx="0" cy="2560216"/>
            </a:xfrm>
            <a:prstGeom prst="line">
              <a:avLst/>
            </a:prstGeom>
            <a:ln cap="flat" w="50800">
              <a:solidFill>
                <a:srgbClr val="A8A8A8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34" id="34"/>
          <p:cNvSpPr/>
          <p:nvPr/>
        </p:nvSpPr>
        <p:spPr>
          <a:xfrm>
            <a:off x="5870090" y="7893698"/>
            <a:ext cx="2489612" cy="0"/>
          </a:xfrm>
          <a:prstGeom prst="line">
            <a:avLst/>
          </a:prstGeom>
          <a:ln cap="flat" w="38100">
            <a:solidFill>
              <a:srgbClr val="A8A8A8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8359702" y="6438691"/>
            <a:ext cx="0" cy="1482116"/>
          </a:xfrm>
          <a:prstGeom prst="line">
            <a:avLst/>
          </a:prstGeom>
          <a:ln cap="flat" w="38100">
            <a:solidFill>
              <a:srgbClr val="A8A8A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9760079" y="3786937"/>
            <a:ext cx="3736776" cy="6366"/>
          </a:xfrm>
          <a:prstGeom prst="line">
            <a:avLst/>
          </a:prstGeom>
          <a:ln cap="flat" w="38100">
            <a:solidFill>
              <a:srgbClr val="A8A8A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9737226" y="6051160"/>
            <a:ext cx="3513129" cy="0"/>
          </a:xfrm>
          <a:prstGeom prst="line">
            <a:avLst/>
          </a:prstGeom>
          <a:ln cap="flat" w="38100">
            <a:solidFill>
              <a:srgbClr val="A8A8A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7015620" y="2547160"/>
            <a:ext cx="4010259" cy="4010259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149"/>
                </a:lnSpc>
              </a:pPr>
              <a:r>
                <a:rPr lang="en-US" b="true" sz="4099" spc="204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CORE PRACTICES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18176" y="6438691"/>
            <a:ext cx="2551357" cy="1530402"/>
            <a:chOff x="0" y="0"/>
            <a:chExt cx="3401809" cy="2040536"/>
          </a:xfrm>
        </p:grpSpPr>
        <p:sp>
          <p:nvSpPr>
            <p:cNvPr name="AutoShape 42" id="42"/>
            <p:cNvSpPr/>
            <p:nvPr/>
          </p:nvSpPr>
          <p:spPr>
            <a:xfrm flipV="true">
              <a:off x="25400" y="0"/>
              <a:ext cx="0" cy="1976155"/>
            </a:xfrm>
            <a:prstGeom prst="line">
              <a:avLst/>
            </a:prstGeom>
            <a:ln cap="flat" w="50800">
              <a:solidFill>
                <a:srgbClr val="A8A8A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55949" y="1931522"/>
              <a:ext cx="3345226" cy="83622"/>
            </a:xfrm>
            <a:prstGeom prst="line">
              <a:avLst/>
            </a:prstGeom>
            <a:ln cap="flat" w="50800">
              <a:solidFill>
                <a:srgbClr val="A8A8A8"/>
              </a:solidFill>
              <a:prstDash val="solid"/>
              <a:headEnd type="none" len="sm" w="sm"/>
              <a:tailEnd type="triangle" len="med" w="lg"/>
            </a:ln>
          </p:spPr>
        </p:sp>
      </p:grp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90526" y="2973996"/>
            <a:ext cx="5785834" cy="5199649"/>
          </a:xfrm>
          <a:custGeom>
            <a:avLst/>
            <a:gdLst/>
            <a:ahLst/>
            <a:cxnLst/>
            <a:rect r="r" b="b" t="t" l="l"/>
            <a:pathLst>
              <a:path h="5199649" w="5785834">
                <a:moveTo>
                  <a:pt x="0" y="0"/>
                </a:moveTo>
                <a:lnTo>
                  <a:pt x="5785834" y="0"/>
                </a:lnTo>
                <a:lnTo>
                  <a:pt x="5785834" y="5199649"/>
                </a:lnTo>
                <a:lnTo>
                  <a:pt x="0" y="5199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701" t="0" r="-2594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5210" y="1588466"/>
            <a:ext cx="9008380" cy="116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000000"/>
                </a:solidFill>
                <a:latin typeface="Gilda Display"/>
                <a:ea typeface="Gilda Display"/>
                <a:cs typeface="Gilda Display"/>
                <a:sym typeface="Gilda Display"/>
              </a:rPr>
              <a:t>The values of XP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50202" y="4030770"/>
            <a:ext cx="3781569" cy="1543050"/>
            <a:chOff x="0" y="0"/>
            <a:chExt cx="995969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5969" cy="406400"/>
            </a:xfrm>
            <a:custGeom>
              <a:avLst/>
              <a:gdLst/>
              <a:ahLst/>
              <a:cxnLst/>
              <a:rect r="r" b="b" t="t" l="l"/>
              <a:pathLst>
                <a:path h="406400" w="995969">
                  <a:moveTo>
                    <a:pt x="792769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792769" y="406400"/>
                  </a:lnTo>
                  <a:lnTo>
                    <a:pt x="995969" y="203200"/>
                  </a:lnTo>
                  <a:lnTo>
                    <a:pt x="792769" y="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52400" y="-57150"/>
              <a:ext cx="69116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Communication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59879" y="4030770"/>
            <a:ext cx="3086100" cy="1543050"/>
            <a:chOff x="0" y="0"/>
            <a:chExt cx="812800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52400" y="-57150"/>
              <a:ext cx="5080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Simplicity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16386" y="4030770"/>
            <a:ext cx="3086100" cy="1543050"/>
            <a:chOff x="0" y="0"/>
            <a:chExt cx="812800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-57150"/>
              <a:ext cx="5080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Feedback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055396" y="5792660"/>
            <a:ext cx="3086100" cy="1543050"/>
            <a:chOff x="0" y="0"/>
            <a:chExt cx="8128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0404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52400" y="-57150"/>
              <a:ext cx="5080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Courage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50321" y="5792660"/>
            <a:ext cx="3086100" cy="1543050"/>
            <a:chOff x="0" y="0"/>
            <a:chExt cx="81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812800" y="2032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52400" y="-57150"/>
              <a:ext cx="508000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Respect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4589130" y="-4418349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56130" y="659727"/>
            <a:ext cx="11175739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7"/>
              </a:lnSpc>
            </a:pPr>
            <a:r>
              <a:rPr lang="en-US" sz="10147">
                <a:solidFill>
                  <a:srgbClr val="000000"/>
                </a:solidFill>
                <a:latin typeface="Gilda Display"/>
                <a:ea typeface="Gilda Display"/>
                <a:cs typeface="Gilda Display"/>
                <a:sym typeface="Gilda Display"/>
              </a:rPr>
              <a:t>Advantages of XP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354658" y="4128482"/>
            <a:ext cx="4304530" cy="922083"/>
            <a:chOff x="0" y="0"/>
            <a:chExt cx="1133703" cy="2428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703" cy="242853"/>
            </a:xfrm>
            <a:custGeom>
              <a:avLst/>
              <a:gdLst/>
              <a:ahLst/>
              <a:cxnLst/>
              <a:rect r="r" b="b" t="t" l="l"/>
              <a:pathLst>
                <a:path h="242853" w="1133703">
                  <a:moveTo>
                    <a:pt x="89928" y="0"/>
                  </a:moveTo>
                  <a:lnTo>
                    <a:pt x="1043776" y="0"/>
                  </a:lnTo>
                  <a:cubicBezTo>
                    <a:pt x="1093441" y="0"/>
                    <a:pt x="1133703" y="40262"/>
                    <a:pt x="1133703" y="89928"/>
                  </a:cubicBezTo>
                  <a:lnTo>
                    <a:pt x="1133703" y="152926"/>
                  </a:lnTo>
                  <a:cubicBezTo>
                    <a:pt x="1133703" y="176776"/>
                    <a:pt x="1124229" y="199649"/>
                    <a:pt x="1107364" y="216514"/>
                  </a:cubicBezTo>
                  <a:cubicBezTo>
                    <a:pt x="1090500" y="233379"/>
                    <a:pt x="1067626" y="242853"/>
                    <a:pt x="1043776" y="242853"/>
                  </a:cubicBezTo>
                  <a:lnTo>
                    <a:pt x="89928" y="242853"/>
                  </a:lnTo>
                  <a:cubicBezTo>
                    <a:pt x="40262" y="242853"/>
                    <a:pt x="0" y="202591"/>
                    <a:pt x="0" y="152926"/>
                  </a:cubicBezTo>
                  <a:lnTo>
                    <a:pt x="0" y="89928"/>
                  </a:lnTo>
                  <a:cubicBezTo>
                    <a:pt x="0" y="40262"/>
                    <a:pt x="40262" y="0"/>
                    <a:pt x="89928" y="0"/>
                  </a:cubicBezTo>
                  <a:close/>
                </a:path>
              </a:pathLst>
            </a:custGeom>
            <a:solidFill>
              <a:srgbClr val="95CD4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1133703" cy="319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39"/>
                </a:lnSpc>
              </a:pPr>
              <a:r>
                <a:rPr lang="en-US" b="true" sz="3599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 </a:t>
              </a:r>
              <a:r>
                <a:rPr lang="en-US" b="true" sz="3599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High quality code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68139" y="2907264"/>
            <a:ext cx="3277568" cy="744968"/>
            <a:chOff x="0" y="0"/>
            <a:chExt cx="863228" cy="1962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228" cy="196206"/>
            </a:xfrm>
            <a:custGeom>
              <a:avLst/>
              <a:gdLst/>
              <a:ahLst/>
              <a:cxnLst/>
              <a:rect r="r" b="b" t="t" l="l"/>
              <a:pathLst>
                <a:path h="196206" w="863228">
                  <a:moveTo>
                    <a:pt x="98103" y="0"/>
                  </a:moveTo>
                  <a:lnTo>
                    <a:pt x="765125" y="0"/>
                  </a:lnTo>
                  <a:cubicBezTo>
                    <a:pt x="791143" y="0"/>
                    <a:pt x="816096" y="10336"/>
                    <a:pt x="834494" y="28734"/>
                  </a:cubicBezTo>
                  <a:cubicBezTo>
                    <a:pt x="852892" y="47131"/>
                    <a:pt x="863228" y="72084"/>
                    <a:pt x="863228" y="98103"/>
                  </a:cubicBezTo>
                  <a:lnTo>
                    <a:pt x="863228" y="98103"/>
                  </a:lnTo>
                  <a:cubicBezTo>
                    <a:pt x="863228" y="124121"/>
                    <a:pt x="852892" y="149074"/>
                    <a:pt x="834494" y="167472"/>
                  </a:cubicBezTo>
                  <a:cubicBezTo>
                    <a:pt x="816096" y="185870"/>
                    <a:pt x="791143" y="196206"/>
                    <a:pt x="765125" y="196206"/>
                  </a:cubicBezTo>
                  <a:lnTo>
                    <a:pt x="98103" y="196206"/>
                  </a:lnTo>
                  <a:cubicBezTo>
                    <a:pt x="72084" y="196206"/>
                    <a:pt x="47131" y="185870"/>
                    <a:pt x="28734" y="167472"/>
                  </a:cubicBezTo>
                  <a:cubicBezTo>
                    <a:pt x="10336" y="149074"/>
                    <a:pt x="0" y="124121"/>
                    <a:pt x="0" y="98103"/>
                  </a:cubicBezTo>
                  <a:lnTo>
                    <a:pt x="0" y="98103"/>
                  </a:lnTo>
                  <a:cubicBezTo>
                    <a:pt x="0" y="72084"/>
                    <a:pt x="10336" y="47131"/>
                    <a:pt x="28734" y="28734"/>
                  </a:cubicBezTo>
                  <a:cubicBezTo>
                    <a:pt x="47131" y="10336"/>
                    <a:pt x="72084" y="0"/>
                    <a:pt x="98103" y="0"/>
                  </a:cubicBezTo>
                  <a:close/>
                </a:path>
              </a:pathLst>
            </a:custGeom>
            <a:solidFill>
              <a:srgbClr val="FFDA6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863228" cy="262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Fewer</a:t>
              </a:r>
              <a:r>
                <a:rPr lang="en-US" b="true" sz="36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 bugs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67286" y="5526815"/>
            <a:ext cx="5279274" cy="922083"/>
            <a:chOff x="0" y="0"/>
            <a:chExt cx="1390426" cy="2428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426" cy="242853"/>
            </a:xfrm>
            <a:custGeom>
              <a:avLst/>
              <a:gdLst/>
              <a:ahLst/>
              <a:cxnLst/>
              <a:rect r="r" b="b" t="t" l="l"/>
              <a:pathLst>
                <a:path h="242853" w="1390426">
                  <a:moveTo>
                    <a:pt x="73324" y="0"/>
                  </a:moveTo>
                  <a:lnTo>
                    <a:pt x="1317102" y="0"/>
                  </a:lnTo>
                  <a:cubicBezTo>
                    <a:pt x="1336549" y="0"/>
                    <a:pt x="1355199" y="7725"/>
                    <a:pt x="1368950" y="21476"/>
                  </a:cubicBezTo>
                  <a:cubicBezTo>
                    <a:pt x="1382701" y="35227"/>
                    <a:pt x="1390426" y="53877"/>
                    <a:pt x="1390426" y="73324"/>
                  </a:cubicBezTo>
                  <a:lnTo>
                    <a:pt x="1390426" y="169529"/>
                  </a:lnTo>
                  <a:cubicBezTo>
                    <a:pt x="1390426" y="188976"/>
                    <a:pt x="1382701" y="207626"/>
                    <a:pt x="1368950" y="221377"/>
                  </a:cubicBezTo>
                  <a:cubicBezTo>
                    <a:pt x="1355199" y="235128"/>
                    <a:pt x="1336549" y="242853"/>
                    <a:pt x="1317102" y="242853"/>
                  </a:cubicBezTo>
                  <a:lnTo>
                    <a:pt x="73324" y="242853"/>
                  </a:lnTo>
                  <a:cubicBezTo>
                    <a:pt x="32828" y="242853"/>
                    <a:pt x="0" y="210025"/>
                    <a:pt x="0" y="169529"/>
                  </a:cubicBezTo>
                  <a:lnTo>
                    <a:pt x="0" y="73324"/>
                  </a:lnTo>
                  <a:cubicBezTo>
                    <a:pt x="0" y="32828"/>
                    <a:pt x="32828" y="0"/>
                    <a:pt x="73324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90426" cy="309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Constant improvement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831620" y="6927158"/>
            <a:ext cx="7350606" cy="901623"/>
            <a:chOff x="0" y="0"/>
            <a:chExt cx="1935962" cy="2374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5962" cy="237465"/>
            </a:xfrm>
            <a:custGeom>
              <a:avLst/>
              <a:gdLst/>
              <a:ahLst/>
              <a:cxnLst/>
              <a:rect r="r" b="b" t="t" l="l"/>
              <a:pathLst>
                <a:path h="237465" w="1935962">
                  <a:moveTo>
                    <a:pt x="52662" y="0"/>
                  </a:moveTo>
                  <a:lnTo>
                    <a:pt x="1883300" y="0"/>
                  </a:lnTo>
                  <a:cubicBezTo>
                    <a:pt x="1912385" y="0"/>
                    <a:pt x="1935962" y="23577"/>
                    <a:pt x="1935962" y="52662"/>
                  </a:cubicBezTo>
                  <a:lnTo>
                    <a:pt x="1935962" y="184803"/>
                  </a:lnTo>
                  <a:cubicBezTo>
                    <a:pt x="1935962" y="198770"/>
                    <a:pt x="1930414" y="212164"/>
                    <a:pt x="1920538" y="222040"/>
                  </a:cubicBezTo>
                  <a:cubicBezTo>
                    <a:pt x="1910662" y="231916"/>
                    <a:pt x="1897267" y="237465"/>
                    <a:pt x="1883300" y="237465"/>
                  </a:cubicBezTo>
                  <a:lnTo>
                    <a:pt x="52662" y="237465"/>
                  </a:lnTo>
                  <a:cubicBezTo>
                    <a:pt x="38695" y="237465"/>
                    <a:pt x="25300" y="231916"/>
                    <a:pt x="15424" y="222040"/>
                  </a:cubicBezTo>
                  <a:cubicBezTo>
                    <a:pt x="5548" y="212164"/>
                    <a:pt x="0" y="198770"/>
                    <a:pt x="0" y="184803"/>
                  </a:cubicBezTo>
                  <a:lnTo>
                    <a:pt x="0" y="52662"/>
                  </a:lnTo>
                  <a:cubicBezTo>
                    <a:pt x="0" y="38695"/>
                    <a:pt x="5548" y="25300"/>
                    <a:pt x="15424" y="15424"/>
                  </a:cubicBezTo>
                  <a:cubicBezTo>
                    <a:pt x="25300" y="5548"/>
                    <a:pt x="38695" y="0"/>
                    <a:pt x="52662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935962" cy="304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Fast feedback from customers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989045" y="8305031"/>
            <a:ext cx="9035757" cy="901623"/>
            <a:chOff x="0" y="0"/>
            <a:chExt cx="2379788" cy="2374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9788" cy="237465"/>
            </a:xfrm>
            <a:custGeom>
              <a:avLst/>
              <a:gdLst/>
              <a:ahLst/>
              <a:cxnLst/>
              <a:rect r="r" b="b" t="t" l="l"/>
              <a:pathLst>
                <a:path h="237465" w="2379788">
                  <a:moveTo>
                    <a:pt x="42840" y="0"/>
                  </a:moveTo>
                  <a:lnTo>
                    <a:pt x="2336947" y="0"/>
                  </a:lnTo>
                  <a:cubicBezTo>
                    <a:pt x="2348309" y="0"/>
                    <a:pt x="2359206" y="4514"/>
                    <a:pt x="2367240" y="12548"/>
                  </a:cubicBezTo>
                  <a:cubicBezTo>
                    <a:pt x="2375274" y="20582"/>
                    <a:pt x="2379788" y="31478"/>
                    <a:pt x="2379788" y="42840"/>
                  </a:cubicBezTo>
                  <a:lnTo>
                    <a:pt x="2379788" y="194624"/>
                  </a:lnTo>
                  <a:cubicBezTo>
                    <a:pt x="2379788" y="205986"/>
                    <a:pt x="2375274" y="216883"/>
                    <a:pt x="2367240" y="224917"/>
                  </a:cubicBezTo>
                  <a:cubicBezTo>
                    <a:pt x="2359206" y="232951"/>
                    <a:pt x="2348309" y="237465"/>
                    <a:pt x="2336947" y="237465"/>
                  </a:cubicBezTo>
                  <a:lnTo>
                    <a:pt x="42840" y="237465"/>
                  </a:lnTo>
                  <a:cubicBezTo>
                    <a:pt x="31478" y="237465"/>
                    <a:pt x="20582" y="232951"/>
                    <a:pt x="12548" y="224917"/>
                  </a:cubicBezTo>
                  <a:cubicBezTo>
                    <a:pt x="4514" y="216883"/>
                    <a:pt x="0" y="205986"/>
                    <a:pt x="0" y="194624"/>
                  </a:cubicBezTo>
                  <a:lnTo>
                    <a:pt x="0" y="42840"/>
                  </a:lnTo>
                  <a:cubicBezTo>
                    <a:pt x="0" y="31478"/>
                    <a:pt x="4514" y="20582"/>
                    <a:pt x="12548" y="12548"/>
                  </a:cubicBezTo>
                  <a:cubicBezTo>
                    <a:pt x="20582" y="4514"/>
                    <a:pt x="31478" y="0"/>
                    <a:pt x="42840" y="0"/>
                  </a:cubicBezTo>
                  <a:close/>
                </a:path>
              </a:pathLst>
            </a:custGeom>
            <a:solidFill>
              <a:srgbClr val="D4BC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379788" cy="304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Flexible with changing requirements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1973">
            <a:off x="13209612" y="5873510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9307" y="676816"/>
            <a:ext cx="12269387" cy="136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47"/>
              </a:lnSpc>
            </a:pPr>
            <a:r>
              <a:rPr lang="en-US" sz="10147">
                <a:solidFill>
                  <a:srgbClr val="000000"/>
                </a:solidFill>
                <a:latin typeface="Gilda Display"/>
                <a:ea typeface="Gilda Display"/>
                <a:cs typeface="Gilda Display"/>
                <a:sym typeface="Gilda Display"/>
              </a:rPr>
              <a:t>Disadvantages of XP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359" y="3632911"/>
            <a:ext cx="5400703" cy="1319975"/>
            <a:chOff x="0" y="0"/>
            <a:chExt cx="1422407" cy="347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2407" cy="347648"/>
            </a:xfrm>
            <a:custGeom>
              <a:avLst/>
              <a:gdLst/>
              <a:ahLst/>
              <a:cxnLst/>
              <a:rect r="r" b="b" t="t" l="l"/>
              <a:pathLst>
                <a:path h="347648" w="1422407">
                  <a:moveTo>
                    <a:pt x="143350" y="0"/>
                  </a:moveTo>
                  <a:lnTo>
                    <a:pt x="1279057" y="0"/>
                  </a:lnTo>
                  <a:cubicBezTo>
                    <a:pt x="1358227" y="0"/>
                    <a:pt x="1422407" y="64180"/>
                    <a:pt x="1422407" y="143350"/>
                  </a:cubicBezTo>
                  <a:lnTo>
                    <a:pt x="1422407" y="204297"/>
                  </a:lnTo>
                  <a:cubicBezTo>
                    <a:pt x="1422407" y="283468"/>
                    <a:pt x="1358227" y="347648"/>
                    <a:pt x="1279057" y="347648"/>
                  </a:cubicBezTo>
                  <a:lnTo>
                    <a:pt x="143350" y="347648"/>
                  </a:lnTo>
                  <a:cubicBezTo>
                    <a:pt x="105331" y="347648"/>
                    <a:pt x="68870" y="332545"/>
                    <a:pt x="41986" y="305661"/>
                  </a:cubicBezTo>
                  <a:cubicBezTo>
                    <a:pt x="15103" y="278778"/>
                    <a:pt x="0" y="242316"/>
                    <a:pt x="0" y="204297"/>
                  </a:cubicBezTo>
                  <a:lnTo>
                    <a:pt x="0" y="143350"/>
                  </a:lnTo>
                  <a:cubicBezTo>
                    <a:pt x="0" y="64180"/>
                    <a:pt x="64180" y="0"/>
                    <a:pt x="1433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422407" cy="414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Requires high customer involvement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84392" y="6119168"/>
            <a:ext cx="5400703" cy="967685"/>
            <a:chOff x="0" y="0"/>
            <a:chExt cx="1422407" cy="2548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22407" cy="254863"/>
            </a:xfrm>
            <a:custGeom>
              <a:avLst/>
              <a:gdLst/>
              <a:ahLst/>
              <a:cxnLst/>
              <a:rect r="r" b="b" t="t" l="l"/>
              <a:pathLst>
                <a:path h="254863" w="1422407">
                  <a:moveTo>
                    <a:pt x="127432" y="0"/>
                  </a:moveTo>
                  <a:lnTo>
                    <a:pt x="1294976" y="0"/>
                  </a:lnTo>
                  <a:cubicBezTo>
                    <a:pt x="1365354" y="0"/>
                    <a:pt x="1422407" y="57053"/>
                    <a:pt x="1422407" y="127432"/>
                  </a:cubicBezTo>
                  <a:lnTo>
                    <a:pt x="1422407" y="127432"/>
                  </a:lnTo>
                  <a:cubicBezTo>
                    <a:pt x="1422407" y="197810"/>
                    <a:pt x="1365354" y="254863"/>
                    <a:pt x="1294976" y="254863"/>
                  </a:cubicBezTo>
                  <a:lnTo>
                    <a:pt x="127432" y="254863"/>
                  </a:lnTo>
                  <a:cubicBezTo>
                    <a:pt x="57053" y="254863"/>
                    <a:pt x="0" y="197810"/>
                    <a:pt x="0" y="127432"/>
                  </a:cubicBezTo>
                  <a:lnTo>
                    <a:pt x="0" y="127432"/>
                  </a:lnTo>
                  <a:cubicBezTo>
                    <a:pt x="0" y="57053"/>
                    <a:pt x="57053" y="0"/>
                    <a:pt x="12743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422407" cy="321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Hard to apply in large teams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66495" y="3632911"/>
            <a:ext cx="5400703" cy="1319975"/>
            <a:chOff x="0" y="0"/>
            <a:chExt cx="1422407" cy="347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2407" cy="347648"/>
            </a:xfrm>
            <a:custGeom>
              <a:avLst/>
              <a:gdLst/>
              <a:ahLst/>
              <a:cxnLst/>
              <a:rect r="r" b="b" t="t" l="l"/>
              <a:pathLst>
                <a:path h="347648" w="1422407">
                  <a:moveTo>
                    <a:pt x="143350" y="0"/>
                  </a:moveTo>
                  <a:lnTo>
                    <a:pt x="1279057" y="0"/>
                  </a:lnTo>
                  <a:cubicBezTo>
                    <a:pt x="1358227" y="0"/>
                    <a:pt x="1422407" y="64180"/>
                    <a:pt x="1422407" y="143350"/>
                  </a:cubicBezTo>
                  <a:lnTo>
                    <a:pt x="1422407" y="204297"/>
                  </a:lnTo>
                  <a:cubicBezTo>
                    <a:pt x="1422407" y="283468"/>
                    <a:pt x="1358227" y="347648"/>
                    <a:pt x="1279057" y="347648"/>
                  </a:cubicBezTo>
                  <a:lnTo>
                    <a:pt x="143350" y="347648"/>
                  </a:lnTo>
                  <a:cubicBezTo>
                    <a:pt x="105331" y="347648"/>
                    <a:pt x="68870" y="332545"/>
                    <a:pt x="41986" y="305661"/>
                  </a:cubicBezTo>
                  <a:cubicBezTo>
                    <a:pt x="15103" y="278778"/>
                    <a:pt x="0" y="242316"/>
                    <a:pt x="0" y="204297"/>
                  </a:cubicBezTo>
                  <a:lnTo>
                    <a:pt x="0" y="143350"/>
                  </a:lnTo>
                  <a:cubicBezTo>
                    <a:pt x="0" y="64180"/>
                    <a:pt x="64180" y="0"/>
                    <a:pt x="1433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422407" cy="414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Pair programming can be expensive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58597" y="5943023"/>
            <a:ext cx="5400703" cy="1319975"/>
            <a:chOff x="0" y="0"/>
            <a:chExt cx="1422407" cy="347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22407" cy="347648"/>
            </a:xfrm>
            <a:custGeom>
              <a:avLst/>
              <a:gdLst/>
              <a:ahLst/>
              <a:cxnLst/>
              <a:rect r="r" b="b" t="t" l="l"/>
              <a:pathLst>
                <a:path h="347648" w="1422407">
                  <a:moveTo>
                    <a:pt x="143350" y="0"/>
                  </a:moveTo>
                  <a:lnTo>
                    <a:pt x="1279057" y="0"/>
                  </a:lnTo>
                  <a:cubicBezTo>
                    <a:pt x="1358227" y="0"/>
                    <a:pt x="1422407" y="64180"/>
                    <a:pt x="1422407" y="143350"/>
                  </a:cubicBezTo>
                  <a:lnTo>
                    <a:pt x="1422407" y="204297"/>
                  </a:lnTo>
                  <a:cubicBezTo>
                    <a:pt x="1422407" y="283468"/>
                    <a:pt x="1358227" y="347648"/>
                    <a:pt x="1279057" y="347648"/>
                  </a:cubicBezTo>
                  <a:lnTo>
                    <a:pt x="143350" y="347648"/>
                  </a:lnTo>
                  <a:cubicBezTo>
                    <a:pt x="105331" y="347648"/>
                    <a:pt x="68870" y="332545"/>
                    <a:pt x="41986" y="305661"/>
                  </a:cubicBezTo>
                  <a:cubicBezTo>
                    <a:pt x="15103" y="278778"/>
                    <a:pt x="0" y="242316"/>
                    <a:pt x="0" y="204297"/>
                  </a:cubicBezTo>
                  <a:lnTo>
                    <a:pt x="0" y="143350"/>
                  </a:lnTo>
                  <a:cubicBezTo>
                    <a:pt x="0" y="64180"/>
                    <a:pt x="64180" y="0"/>
                    <a:pt x="1433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422407" cy="414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Needs highly skilled developers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3328710" y="4952886"/>
            <a:ext cx="3736229" cy="11279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866495" y="4292898"/>
            <a:ext cx="918600" cy="23101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4235424" y="4372433"/>
            <a:ext cx="3150260" cy="22305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991851">
            <a:off x="15234429" y="895459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9468" y="3119746"/>
            <a:ext cx="6454907" cy="89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7"/>
              </a:lnSpc>
            </a:pPr>
            <a:r>
              <a:rPr lang="en-US" sz="672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When to use?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4964" y="3805003"/>
            <a:ext cx="9405759" cy="340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0981" indent="-435490" lvl="1">
              <a:lnSpc>
                <a:spcPts val="6777"/>
              </a:lnSpc>
              <a:buFont typeface="Arial"/>
              <a:buChar char="•"/>
            </a:pPr>
            <a:r>
              <a:rPr lang="en-US" sz="4034" spc="-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Fast-changing requirements</a:t>
            </a:r>
          </a:p>
          <a:p>
            <a:pPr algn="just" marL="870981" indent="-435490" lvl="1">
              <a:lnSpc>
                <a:spcPts val="6777"/>
              </a:lnSpc>
              <a:buFont typeface="Arial"/>
              <a:buChar char="•"/>
            </a:pPr>
            <a:r>
              <a:rPr lang="en-US" sz="4034" spc="-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t</a:t>
            </a:r>
            <a:r>
              <a:rPr lang="en-US" sz="4034" spc="-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medium teams</a:t>
            </a:r>
          </a:p>
          <a:p>
            <a:pPr algn="just" marL="870981" indent="-435490" lvl="1">
              <a:lnSpc>
                <a:spcPts val="6777"/>
              </a:lnSpc>
              <a:buFont typeface="Arial"/>
              <a:buChar char="•"/>
            </a:pPr>
            <a:r>
              <a:rPr lang="en-US" sz="4034" spc="-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technical projects</a:t>
            </a:r>
          </a:p>
          <a:p>
            <a:pPr algn="just" marL="870981" indent="-435490" lvl="1">
              <a:lnSpc>
                <a:spcPts val="6777"/>
              </a:lnSpc>
              <a:buFont typeface="Arial"/>
              <a:buChar char="•"/>
            </a:pPr>
            <a:r>
              <a:rPr lang="en-US" sz="4034" spc="-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Projects needing high-quality code quickly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203288"/>
            <a:ext cx="7358682" cy="81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65"/>
              </a:lnSpc>
            </a:pPr>
            <a:r>
              <a:rPr lang="en-US" sz="606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When not to use?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40723" y="4054292"/>
            <a:ext cx="5996203" cy="231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7182" indent="-438591" lvl="1">
              <a:lnSpc>
                <a:spcPts val="6175"/>
              </a:lnSpc>
              <a:buFont typeface="Arial"/>
              <a:buChar char="•"/>
            </a:pPr>
            <a:r>
              <a:rPr lang="en-US" sz="40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ent</a:t>
            </a:r>
            <a:r>
              <a:rPr lang="en-US" sz="40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erprise projects</a:t>
            </a:r>
          </a:p>
          <a:p>
            <a:pPr algn="just" marL="877182" indent="-438591" lvl="1">
              <a:lnSpc>
                <a:spcPts val="6175"/>
              </a:lnSpc>
              <a:buFont typeface="Arial"/>
              <a:buChar char="•"/>
            </a:pPr>
            <a:r>
              <a:rPr lang="en-US" sz="40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</a:t>
            </a:r>
            <a:r>
              <a:rPr lang="en-US" sz="40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omer unavailable</a:t>
            </a:r>
          </a:p>
          <a:p>
            <a:pPr algn="just" marL="877182" indent="-438591" lvl="1">
              <a:lnSpc>
                <a:spcPts val="6175"/>
              </a:lnSpc>
              <a:buFont typeface="Arial"/>
              <a:buChar char="•"/>
            </a:pPr>
            <a:r>
              <a:rPr lang="en-US" sz="40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is inexperienced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2607" y="3061837"/>
            <a:ext cx="11482787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b="true" sz="17965" i="true">
                <a:solidFill>
                  <a:srgbClr val="121111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47025" y="4477111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A162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13576679" y="4477111"/>
            <a:ext cx="5245100" cy="1332778"/>
            <a:chOff x="0" y="0"/>
            <a:chExt cx="1381426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A162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DAG48BObI3k</dc:identifier>
  <dcterms:modified xsi:type="dcterms:W3CDTF">2011-08-01T06:04:30Z</dcterms:modified>
  <cp:revision>1</cp:revision>
  <dc:title>XP - SDLC Model</dc:title>
</cp:coreProperties>
</file>