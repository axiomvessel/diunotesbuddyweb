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E613F-EE27-43E9-9BF2-3D59F72945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5B24E9-7D82-44AB-B4B5-948B3726D7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3347D1-61A0-4BDF-B1F8-FD6F67373B98}"/>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5" name="Footer Placeholder 4">
            <a:extLst>
              <a:ext uri="{FF2B5EF4-FFF2-40B4-BE49-F238E27FC236}">
                <a16:creationId xmlns:a16="http://schemas.microsoft.com/office/drawing/2014/main" id="{6957EDD4-68E0-48D1-AB37-532D9A1B49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80F8E3-F26B-491C-AF91-FD754A67001B}"/>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4044160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74449-AE4F-4E8C-82EB-4C3606CAEE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A1A066-C9A0-4B3C-AEE5-3A6EF0381BE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3E55C1-51C6-47EC-8DC6-1E50802299B9}"/>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5" name="Footer Placeholder 4">
            <a:extLst>
              <a:ext uri="{FF2B5EF4-FFF2-40B4-BE49-F238E27FC236}">
                <a16:creationId xmlns:a16="http://schemas.microsoft.com/office/drawing/2014/main" id="{9379F8C9-2F31-4962-B42A-0CA238BAE7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5F5BE6-CBFF-4CE5-A5A9-5BCAF5D8E837}"/>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3256151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281DC-F643-482B-8033-E4C54BA800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CCB940-E2EC-4224-958E-46227569DB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FF3B26D-0CD7-4594-9D1A-4A1D030A6A44}"/>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5" name="Footer Placeholder 4">
            <a:extLst>
              <a:ext uri="{FF2B5EF4-FFF2-40B4-BE49-F238E27FC236}">
                <a16:creationId xmlns:a16="http://schemas.microsoft.com/office/drawing/2014/main" id="{296FDA44-16EE-492D-8A78-64BF291D00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58249-DEEB-4188-BD3D-0AB51C40D1C1}"/>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515703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C68C6-6099-43B2-BA8D-1149976E5A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EBAC76-E803-4EA0-8786-D0DF6013F5A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0441A3-E4E7-45E4-A1D1-B2E7054240D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835CE5-B12B-419A-9FDD-D904BEA6AC36}"/>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6" name="Footer Placeholder 5">
            <a:extLst>
              <a:ext uri="{FF2B5EF4-FFF2-40B4-BE49-F238E27FC236}">
                <a16:creationId xmlns:a16="http://schemas.microsoft.com/office/drawing/2014/main" id="{13AA0609-3480-4B08-9A39-9716811C9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8DF3A0-6D50-48A0-99A0-3C659281B666}"/>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1910370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682E5-9214-47DA-9B90-1DDD888CF1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0083CF-013A-4C70-BE5A-C2051A8384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4DCD071-9BD6-49A9-96F5-0F21EFB12E6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B0B7E4-6183-4B5C-8A37-8A1E0144D2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7720360-56E7-488D-B132-54E1B9C1D8B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6F712B-06C5-4420-9E69-065F2C1BBFDC}"/>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8" name="Footer Placeholder 7">
            <a:extLst>
              <a:ext uri="{FF2B5EF4-FFF2-40B4-BE49-F238E27FC236}">
                <a16:creationId xmlns:a16="http://schemas.microsoft.com/office/drawing/2014/main" id="{58E5FC6F-1A3A-4E83-8A42-2DC1F783BF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A1FE0E-256F-4D4F-8908-1F698F16948E}"/>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297538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0781-2E3D-461C-AB18-8AEF911114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DF3076-7141-4644-B4EA-1C7806E364B6}"/>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4" name="Footer Placeholder 3">
            <a:extLst>
              <a:ext uri="{FF2B5EF4-FFF2-40B4-BE49-F238E27FC236}">
                <a16:creationId xmlns:a16="http://schemas.microsoft.com/office/drawing/2014/main" id="{D31B2122-5EC6-4754-B3D9-E2E2F26DA7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826592-6255-46AD-A9A1-D2B55851573F}"/>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2093858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E6F45-83B4-4688-B1D7-C5CCA0F97593}"/>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3" name="Footer Placeholder 2">
            <a:extLst>
              <a:ext uri="{FF2B5EF4-FFF2-40B4-BE49-F238E27FC236}">
                <a16:creationId xmlns:a16="http://schemas.microsoft.com/office/drawing/2014/main" id="{472FF31D-360F-4FD3-B4BA-BC77EDA05B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F5CC3C-26DB-45E2-9F31-4C5684970759}"/>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105477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BC825-7305-40EC-9717-F75A3DFFDA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C96076-F68F-4CC3-B7D2-A55E60FDA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1AE496-C4C9-4A4F-B083-63A44F241D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98EE094-52D6-4C82-B28F-72BD6AB4C9EB}"/>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6" name="Footer Placeholder 5">
            <a:extLst>
              <a:ext uri="{FF2B5EF4-FFF2-40B4-BE49-F238E27FC236}">
                <a16:creationId xmlns:a16="http://schemas.microsoft.com/office/drawing/2014/main" id="{9ED07D73-F5F2-4A72-9173-27A253526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35CF4B-D045-4169-9EEA-B1680BDCD189}"/>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1535045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4617D-A6B0-47E6-B249-1608BD96CD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65403A-85B2-4DD5-9466-2A74A72210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696180-7682-4366-A443-10B4F3941F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7089BB-CEDF-4F38-9356-A4A916764C1F}"/>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6" name="Footer Placeholder 5">
            <a:extLst>
              <a:ext uri="{FF2B5EF4-FFF2-40B4-BE49-F238E27FC236}">
                <a16:creationId xmlns:a16="http://schemas.microsoft.com/office/drawing/2014/main" id="{E1D68E04-0758-421A-98DB-C050301EE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CFD7FA-BF07-42B7-8161-B34F3A55ED9F}"/>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2649973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1BD0-BD5A-4E4F-973B-30ED3F7AA3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CDACAD-5C09-4D9D-A294-219202545E2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E5551-BD39-447C-8690-A3AFF069F013}"/>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5" name="Footer Placeholder 4">
            <a:extLst>
              <a:ext uri="{FF2B5EF4-FFF2-40B4-BE49-F238E27FC236}">
                <a16:creationId xmlns:a16="http://schemas.microsoft.com/office/drawing/2014/main" id="{DFC404DC-C218-45D2-AF34-22C10176AF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0E8D5D-6391-4F80-A982-A35A1D1EEA32}"/>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801427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D5CAE0-581E-4FEA-AE8E-64C704AADD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2E51FD-CEE0-48A5-8860-F1876629C55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BBB4AD-AA56-4BD2-A103-1ABCFE3D9EBA}"/>
              </a:ext>
            </a:extLst>
          </p:cNvPr>
          <p:cNvSpPr>
            <a:spLocks noGrp="1"/>
          </p:cNvSpPr>
          <p:nvPr>
            <p:ph type="dt" sz="half" idx="10"/>
          </p:nvPr>
        </p:nvSpPr>
        <p:spPr/>
        <p:txBody>
          <a:bodyPr/>
          <a:lstStyle/>
          <a:p>
            <a:fld id="{B8FD3675-EEF8-4BFC-AEF9-252F5FDA21B0}" type="datetimeFigureOut">
              <a:rPr lang="en-US" smtClean="0"/>
              <a:t>12/7/2025</a:t>
            </a:fld>
            <a:endParaRPr lang="en-US"/>
          </a:p>
        </p:txBody>
      </p:sp>
      <p:sp>
        <p:nvSpPr>
          <p:cNvPr id="5" name="Footer Placeholder 4">
            <a:extLst>
              <a:ext uri="{FF2B5EF4-FFF2-40B4-BE49-F238E27FC236}">
                <a16:creationId xmlns:a16="http://schemas.microsoft.com/office/drawing/2014/main" id="{A9D16FCC-3D7F-4243-A750-507E7EF0DC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FBB75A-12D2-4B2C-9F97-190859E211B0}"/>
              </a:ext>
            </a:extLst>
          </p:cNvPr>
          <p:cNvSpPr>
            <a:spLocks noGrp="1"/>
          </p:cNvSpPr>
          <p:nvPr>
            <p:ph type="sldNum" sz="quarter" idx="12"/>
          </p:nvPr>
        </p:nvSpPr>
        <p:spPr/>
        <p:txBody>
          <a:bodyPr/>
          <a:lstStyle/>
          <a:p>
            <a:fld id="{49AB4119-6FE7-4E26-A0DC-BC38A5CFCC6C}" type="slidenum">
              <a:rPr lang="en-US" smtClean="0"/>
              <a:t>‹#›</a:t>
            </a:fld>
            <a:endParaRPr lang="en-US"/>
          </a:p>
        </p:txBody>
      </p:sp>
    </p:spTree>
    <p:extLst>
      <p:ext uri="{BB962C8B-B14F-4D97-AF65-F5344CB8AC3E}">
        <p14:creationId xmlns:p14="http://schemas.microsoft.com/office/powerpoint/2010/main" val="3578172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476C39-D997-4D21-94FC-6026AECC7A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EBD009-2AFF-4949-8652-F7F6E6760E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1E6F13-3413-40E1-BAD6-5795FC5182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FD3675-EEF8-4BFC-AEF9-252F5FDA21B0}" type="datetimeFigureOut">
              <a:rPr lang="en-US" smtClean="0"/>
              <a:t>12/7/2025</a:t>
            </a:fld>
            <a:endParaRPr lang="en-US"/>
          </a:p>
        </p:txBody>
      </p:sp>
      <p:sp>
        <p:nvSpPr>
          <p:cNvPr id="5" name="Footer Placeholder 4">
            <a:extLst>
              <a:ext uri="{FF2B5EF4-FFF2-40B4-BE49-F238E27FC236}">
                <a16:creationId xmlns:a16="http://schemas.microsoft.com/office/drawing/2014/main" id="{49D6B441-7551-4E5C-93C9-CF2332E419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6343741-A840-441F-B4A3-27F18108CA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AB4119-6FE7-4E26-A0DC-BC38A5CFCC6C}" type="slidenum">
              <a:rPr lang="en-US" smtClean="0"/>
              <a:t>‹#›</a:t>
            </a:fld>
            <a:endParaRPr lang="en-US"/>
          </a:p>
        </p:txBody>
      </p:sp>
    </p:spTree>
    <p:extLst>
      <p:ext uri="{BB962C8B-B14F-4D97-AF65-F5344CB8AC3E}">
        <p14:creationId xmlns:p14="http://schemas.microsoft.com/office/powerpoint/2010/main" val="2131143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DC88DD-55CF-4DD5-9CFD-4E966AF6140A}"/>
              </a:ext>
            </a:extLst>
          </p:cNvPr>
          <p:cNvSpPr txBox="1"/>
          <p:nvPr/>
        </p:nvSpPr>
        <p:spPr>
          <a:xfrm>
            <a:off x="484909" y="471055"/>
            <a:ext cx="11402291" cy="532453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One major cause of water pollution in Bangladesh is industrial pollution. Many factories in areas like </a:t>
            </a:r>
            <a:r>
              <a:rPr lang="en-US" sz="2000" dirty="0" err="1">
                <a:latin typeface="Times New Roman" panose="02020603050405020304" pitchFamily="18" charset="0"/>
                <a:cs typeface="Times New Roman" panose="02020603050405020304" pitchFamily="18" charset="0"/>
              </a:rPr>
              <a:t>Savar</a:t>
            </a:r>
            <a:r>
              <a:rPr lang="en-US" sz="2000" dirty="0">
                <a:latin typeface="Times New Roman" panose="02020603050405020304" pitchFamily="18" charset="0"/>
                <a:cs typeface="Times New Roman" panose="02020603050405020304" pitchFamily="18" charset="0"/>
              </a:rPr>
              <a:t>, Gazipur, Narayanganj, and </a:t>
            </a:r>
            <a:r>
              <a:rPr lang="en-US" sz="2000" dirty="0" err="1">
                <a:latin typeface="Times New Roman" panose="02020603050405020304" pitchFamily="18" charset="0"/>
                <a:cs typeface="Times New Roman" panose="02020603050405020304" pitchFamily="18" charset="0"/>
              </a:rPr>
              <a:t>Chattogram</a:t>
            </a:r>
            <a:r>
              <a:rPr lang="en-US" sz="2000" dirty="0">
                <a:latin typeface="Times New Roman" panose="02020603050405020304" pitchFamily="18" charset="0"/>
                <a:cs typeface="Times New Roman" panose="02020603050405020304" pitchFamily="18" charset="0"/>
              </a:rPr>
              <a:t> release dirty water, harmful chemicals, and dyes into nearby rivers. They do this because most factories do not have proper waste treatment systems. Due to this weak waste management, the polluted water flows directly into rivers such as the </a:t>
            </a:r>
            <a:r>
              <a:rPr lang="en-US" sz="2000" dirty="0" err="1">
                <a:latin typeface="Times New Roman" panose="02020603050405020304" pitchFamily="18" charset="0"/>
                <a:cs typeface="Times New Roman" panose="02020603050405020304" pitchFamily="18" charset="0"/>
              </a:rPr>
              <a:t>Buriganga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Turag</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Shitalakshya</a:t>
            </a:r>
            <a:r>
              <a:rPr lang="en-US" sz="2000" dirty="0">
                <a:latin typeface="Times New Roman" panose="02020603050405020304" pitchFamily="18" charset="0"/>
                <a:cs typeface="Times New Roman" panose="02020603050405020304" pitchFamily="18" charset="0"/>
              </a:rPr>
              <a:t>. These toxic chemicals mix with the river water and make it unsafe for drinking, cooking, bathing, and household use.</a:t>
            </a:r>
          </a:p>
          <a:p>
            <a:r>
              <a:rPr lang="en-US" sz="2000" dirty="0">
                <a:latin typeface="Times New Roman" panose="02020603050405020304" pitchFamily="18" charset="0"/>
                <a:cs typeface="Times New Roman" panose="02020603050405020304" pitchFamily="18" charset="0"/>
              </a:rPr>
              <a:t>As a result, people who use this contaminated water suffer from many diseases. They often face skin problems, stomach infections, diarrhea, vomiting, and long-term health issues like kidney and liver damage. Many children get sick frequently because their immune systems are weak. The polluted water also destroys the natural balance of the river. Fish and many aquatic animals cannot survive since the water becomes poisonous and the oxygen level decreases. Consequently, fish populations start to fall sharply.</a:t>
            </a:r>
          </a:p>
          <a:p>
            <a:r>
              <a:rPr lang="en-US" sz="2000" dirty="0">
                <a:latin typeface="Times New Roman" panose="02020603050405020304" pitchFamily="18" charset="0"/>
                <a:cs typeface="Times New Roman" panose="02020603050405020304" pitchFamily="18" charset="0"/>
              </a:rPr>
              <a:t>When fish die or become unsafe to eat, fishermen lose their main source of income. Local markets also suffer because people cannot buy or sell fresh fish. Therefore, many families face financial trouble, and poverty increases in those areas. The pollution also affects tourism and small businesses that depend on clean rivers. Thus, industrial pollution creates serious health problems, harms the environment, and brings economic losses to the country. Hence, it is one of the most dangerous causes of water pollution in Bangladesh.</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648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CB8A96-AB74-415C-BBC1-B8DE9940049F}"/>
              </a:ext>
            </a:extLst>
          </p:cNvPr>
          <p:cNvSpPr txBox="1"/>
          <p:nvPr/>
        </p:nvSpPr>
        <p:spPr>
          <a:xfrm>
            <a:off x="720431" y="1466264"/>
            <a:ext cx="5721927" cy="584775"/>
          </a:xfrm>
          <a:prstGeom prst="rect">
            <a:avLst/>
          </a:prstGeom>
          <a:noFill/>
        </p:spPr>
        <p:txBody>
          <a:bodyPr wrap="square" rtlCol="0">
            <a:spAutoFit/>
          </a:bodyPr>
          <a:lstStyle/>
          <a:p>
            <a:pPr marL="457200" indent="-457200">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Cause</a:t>
            </a:r>
          </a:p>
        </p:txBody>
      </p:sp>
      <p:sp>
        <p:nvSpPr>
          <p:cNvPr id="5" name="TextBox 4">
            <a:extLst>
              <a:ext uri="{FF2B5EF4-FFF2-40B4-BE49-F238E27FC236}">
                <a16:creationId xmlns:a16="http://schemas.microsoft.com/office/drawing/2014/main" id="{A11B2483-9AA2-4168-A0BB-52D741794841}"/>
              </a:ext>
            </a:extLst>
          </p:cNvPr>
          <p:cNvSpPr txBox="1"/>
          <p:nvPr/>
        </p:nvSpPr>
        <p:spPr>
          <a:xfrm>
            <a:off x="1004438" y="2329856"/>
            <a:ext cx="5721927" cy="400110"/>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Discharge of Untreated Wastewater</a:t>
            </a:r>
          </a:p>
        </p:txBody>
      </p:sp>
      <p:sp>
        <p:nvSpPr>
          <p:cNvPr id="6" name="TextBox 5">
            <a:extLst>
              <a:ext uri="{FF2B5EF4-FFF2-40B4-BE49-F238E27FC236}">
                <a16:creationId xmlns:a16="http://schemas.microsoft.com/office/drawing/2014/main" id="{5C43BE48-D352-4D7E-BDAE-583C990B94D4}"/>
              </a:ext>
            </a:extLst>
          </p:cNvPr>
          <p:cNvSpPr txBox="1"/>
          <p:nvPr/>
        </p:nvSpPr>
        <p:spPr>
          <a:xfrm>
            <a:off x="1004438" y="2949151"/>
            <a:ext cx="5721927" cy="400110"/>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Presence of Toxic Chemicals and Heavy Metals</a:t>
            </a:r>
          </a:p>
        </p:txBody>
      </p:sp>
      <p:sp>
        <p:nvSpPr>
          <p:cNvPr id="7" name="TextBox 6">
            <a:extLst>
              <a:ext uri="{FF2B5EF4-FFF2-40B4-BE49-F238E27FC236}">
                <a16:creationId xmlns:a16="http://schemas.microsoft.com/office/drawing/2014/main" id="{734155F9-A404-4792-8947-5CBE1EC4A5D5}"/>
              </a:ext>
            </a:extLst>
          </p:cNvPr>
          <p:cNvSpPr txBox="1"/>
          <p:nvPr/>
        </p:nvSpPr>
        <p:spPr>
          <a:xfrm>
            <a:off x="1004438" y="3568446"/>
            <a:ext cx="5721927" cy="400110"/>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Inadequate</a:t>
            </a:r>
            <a:r>
              <a:rPr lang="en-US" dirty="0"/>
              <a:t> Effluent Treatment Plants (ETPs)</a:t>
            </a:r>
          </a:p>
        </p:txBody>
      </p:sp>
      <p:sp>
        <p:nvSpPr>
          <p:cNvPr id="8" name="TextBox 7">
            <a:extLst>
              <a:ext uri="{FF2B5EF4-FFF2-40B4-BE49-F238E27FC236}">
                <a16:creationId xmlns:a16="http://schemas.microsoft.com/office/drawing/2014/main" id="{D4213159-B307-46D6-8AB6-23C9AE2A0BDA}"/>
              </a:ext>
            </a:extLst>
          </p:cNvPr>
          <p:cNvSpPr txBox="1"/>
          <p:nvPr/>
        </p:nvSpPr>
        <p:spPr>
          <a:xfrm>
            <a:off x="1004438" y="4187741"/>
            <a:ext cx="5721927" cy="400110"/>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Weak Enforcement and Monitoring</a:t>
            </a:r>
          </a:p>
        </p:txBody>
      </p:sp>
      <p:sp>
        <p:nvSpPr>
          <p:cNvPr id="9" name="TextBox 8">
            <a:extLst>
              <a:ext uri="{FF2B5EF4-FFF2-40B4-BE49-F238E27FC236}">
                <a16:creationId xmlns:a16="http://schemas.microsoft.com/office/drawing/2014/main" id="{BBF20E59-A289-4AA0-B87A-20C7ADC97FCD}"/>
              </a:ext>
            </a:extLst>
          </p:cNvPr>
          <p:cNvSpPr txBox="1"/>
          <p:nvPr/>
        </p:nvSpPr>
        <p:spPr>
          <a:xfrm>
            <a:off x="1004438" y="4807035"/>
            <a:ext cx="5721927" cy="400110"/>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Unplanned Industrialization and Urbanization</a:t>
            </a:r>
          </a:p>
        </p:txBody>
      </p:sp>
      <p:sp>
        <p:nvSpPr>
          <p:cNvPr id="13" name="TextBox 12">
            <a:extLst>
              <a:ext uri="{FF2B5EF4-FFF2-40B4-BE49-F238E27FC236}">
                <a16:creationId xmlns:a16="http://schemas.microsoft.com/office/drawing/2014/main" id="{9C197DC2-B1A4-4F6C-A827-215FE23F8E2C}"/>
              </a:ext>
            </a:extLst>
          </p:cNvPr>
          <p:cNvSpPr txBox="1"/>
          <p:nvPr/>
        </p:nvSpPr>
        <p:spPr>
          <a:xfrm>
            <a:off x="3235036" y="622883"/>
            <a:ext cx="5721927"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INDUSTRIAL POLLUTION </a:t>
            </a:r>
          </a:p>
        </p:txBody>
      </p:sp>
    </p:spTree>
    <p:extLst>
      <p:ext uri="{BB962C8B-B14F-4D97-AF65-F5344CB8AC3E}">
        <p14:creationId xmlns:p14="http://schemas.microsoft.com/office/powerpoint/2010/main" val="3955528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7AFDB6-2342-4220-8443-259D7388DF2E}"/>
              </a:ext>
            </a:extLst>
          </p:cNvPr>
          <p:cNvSpPr txBox="1"/>
          <p:nvPr/>
        </p:nvSpPr>
        <p:spPr>
          <a:xfrm>
            <a:off x="602664" y="1260896"/>
            <a:ext cx="3463637" cy="584775"/>
          </a:xfrm>
          <a:prstGeom prst="rect">
            <a:avLst/>
          </a:prstGeom>
          <a:noFill/>
        </p:spPr>
        <p:txBody>
          <a:bodyPr wrap="square" rtlCol="0">
            <a:spAutoFit/>
          </a:bodyPr>
          <a:lstStyle/>
          <a:p>
            <a:pPr marL="457200" indent="-457200">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Effects</a:t>
            </a:r>
          </a:p>
        </p:txBody>
      </p:sp>
      <p:sp>
        <p:nvSpPr>
          <p:cNvPr id="3" name="TextBox 2">
            <a:extLst>
              <a:ext uri="{FF2B5EF4-FFF2-40B4-BE49-F238E27FC236}">
                <a16:creationId xmlns:a16="http://schemas.microsoft.com/office/drawing/2014/main" id="{C792D35E-430A-4D9F-BF93-024C40C91BE2}"/>
              </a:ext>
            </a:extLst>
          </p:cNvPr>
          <p:cNvSpPr txBox="1"/>
          <p:nvPr/>
        </p:nvSpPr>
        <p:spPr>
          <a:xfrm>
            <a:off x="924784" y="1795761"/>
            <a:ext cx="3463637" cy="461665"/>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 Human Health</a:t>
            </a:r>
          </a:p>
        </p:txBody>
      </p:sp>
      <p:sp>
        <p:nvSpPr>
          <p:cNvPr id="4" name="TextBox 3">
            <a:extLst>
              <a:ext uri="{FF2B5EF4-FFF2-40B4-BE49-F238E27FC236}">
                <a16:creationId xmlns:a16="http://schemas.microsoft.com/office/drawing/2014/main" id="{078EFED0-5D14-4A02-BA80-437DC2AA2042}"/>
              </a:ext>
            </a:extLst>
          </p:cNvPr>
          <p:cNvSpPr txBox="1"/>
          <p:nvPr/>
        </p:nvSpPr>
        <p:spPr>
          <a:xfrm>
            <a:off x="675402" y="2611212"/>
            <a:ext cx="5555675" cy="400110"/>
          </a:xfrm>
          <a:prstGeom prst="rect">
            <a:avLst/>
          </a:prstGeom>
          <a:noFill/>
        </p:spPr>
        <p:txBody>
          <a:bodyPr wrap="square" rtlCol="0">
            <a:spAutoFit/>
          </a:bodyPr>
          <a:lstStyle/>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Skin diseases and long-term illnesses</a:t>
            </a:r>
          </a:p>
        </p:txBody>
      </p:sp>
      <p:sp>
        <p:nvSpPr>
          <p:cNvPr id="5" name="TextBox 4">
            <a:extLst>
              <a:ext uri="{FF2B5EF4-FFF2-40B4-BE49-F238E27FC236}">
                <a16:creationId xmlns:a16="http://schemas.microsoft.com/office/drawing/2014/main" id="{24E3C5AB-93D1-4868-AE37-3C2676E3E1CB}"/>
              </a:ext>
            </a:extLst>
          </p:cNvPr>
          <p:cNvSpPr txBox="1"/>
          <p:nvPr/>
        </p:nvSpPr>
        <p:spPr>
          <a:xfrm>
            <a:off x="924784" y="3107267"/>
            <a:ext cx="5555675" cy="461665"/>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 the Environment and Ecosystems</a:t>
            </a:r>
          </a:p>
        </p:txBody>
      </p:sp>
      <p:sp>
        <p:nvSpPr>
          <p:cNvPr id="6" name="TextBox 5">
            <a:extLst>
              <a:ext uri="{FF2B5EF4-FFF2-40B4-BE49-F238E27FC236}">
                <a16:creationId xmlns:a16="http://schemas.microsoft.com/office/drawing/2014/main" id="{61C9C0D9-A41F-4389-BC01-AE5C89DDF7BA}"/>
              </a:ext>
            </a:extLst>
          </p:cNvPr>
          <p:cNvSpPr txBox="1"/>
          <p:nvPr/>
        </p:nvSpPr>
        <p:spPr>
          <a:xfrm>
            <a:off x="1129146" y="3518858"/>
            <a:ext cx="539287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Death of Rivers and Aquatic Life</a:t>
            </a:r>
          </a:p>
        </p:txBody>
      </p:sp>
      <p:sp>
        <p:nvSpPr>
          <p:cNvPr id="7" name="TextBox 6">
            <a:extLst>
              <a:ext uri="{FF2B5EF4-FFF2-40B4-BE49-F238E27FC236}">
                <a16:creationId xmlns:a16="http://schemas.microsoft.com/office/drawing/2014/main" id="{340B8938-44C6-47D9-A827-A1F55C41AC20}"/>
              </a:ext>
            </a:extLst>
          </p:cNvPr>
          <p:cNvSpPr txBox="1"/>
          <p:nvPr/>
        </p:nvSpPr>
        <p:spPr>
          <a:xfrm>
            <a:off x="1143001" y="3862094"/>
            <a:ext cx="608215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Contamination of Soil and Groundwater</a:t>
            </a:r>
          </a:p>
        </p:txBody>
      </p:sp>
      <p:sp>
        <p:nvSpPr>
          <p:cNvPr id="8" name="TextBox 7">
            <a:extLst>
              <a:ext uri="{FF2B5EF4-FFF2-40B4-BE49-F238E27FC236}">
                <a16:creationId xmlns:a16="http://schemas.microsoft.com/office/drawing/2014/main" id="{8C0CBAAF-8C55-45C3-9361-F965979BDE82}"/>
              </a:ext>
            </a:extLst>
          </p:cNvPr>
          <p:cNvSpPr txBox="1"/>
          <p:nvPr/>
        </p:nvSpPr>
        <p:spPr>
          <a:xfrm>
            <a:off x="1143001" y="4300676"/>
            <a:ext cx="3463637" cy="400110"/>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Loss of Biodiversity</a:t>
            </a:r>
          </a:p>
        </p:txBody>
      </p:sp>
      <p:sp>
        <p:nvSpPr>
          <p:cNvPr id="9" name="TextBox 8">
            <a:extLst>
              <a:ext uri="{FF2B5EF4-FFF2-40B4-BE49-F238E27FC236}">
                <a16:creationId xmlns:a16="http://schemas.microsoft.com/office/drawing/2014/main" id="{5133063B-457D-44D4-B96B-DC53BF2FAB91}"/>
              </a:ext>
            </a:extLst>
          </p:cNvPr>
          <p:cNvSpPr txBox="1"/>
          <p:nvPr/>
        </p:nvSpPr>
        <p:spPr>
          <a:xfrm>
            <a:off x="924784" y="4695872"/>
            <a:ext cx="5555675" cy="461665"/>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 the Economy and Livelihoods</a:t>
            </a:r>
          </a:p>
        </p:txBody>
      </p:sp>
      <p:sp>
        <p:nvSpPr>
          <p:cNvPr id="10" name="TextBox 9">
            <a:extLst>
              <a:ext uri="{FF2B5EF4-FFF2-40B4-BE49-F238E27FC236}">
                <a16:creationId xmlns:a16="http://schemas.microsoft.com/office/drawing/2014/main" id="{F69DA1D4-EB46-4D9E-AF38-7F7BB18E9E8B}"/>
              </a:ext>
            </a:extLst>
          </p:cNvPr>
          <p:cNvSpPr txBox="1"/>
          <p:nvPr/>
        </p:nvSpPr>
        <p:spPr>
          <a:xfrm>
            <a:off x="1073723" y="5146488"/>
            <a:ext cx="4869875" cy="400110"/>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Loss of agricultural productivity</a:t>
            </a:r>
          </a:p>
        </p:txBody>
      </p:sp>
      <p:sp>
        <p:nvSpPr>
          <p:cNvPr id="11" name="TextBox 10">
            <a:extLst>
              <a:ext uri="{FF2B5EF4-FFF2-40B4-BE49-F238E27FC236}">
                <a16:creationId xmlns:a16="http://schemas.microsoft.com/office/drawing/2014/main" id="{40FD7168-D356-491D-A358-655F48AEAB55}"/>
              </a:ext>
            </a:extLst>
          </p:cNvPr>
          <p:cNvSpPr txBox="1"/>
          <p:nvPr/>
        </p:nvSpPr>
        <p:spPr>
          <a:xfrm>
            <a:off x="1073723" y="5562756"/>
            <a:ext cx="3463637" cy="400110"/>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Impact on fisheries</a:t>
            </a:r>
          </a:p>
        </p:txBody>
      </p:sp>
      <p:sp>
        <p:nvSpPr>
          <p:cNvPr id="12" name="TextBox 11">
            <a:extLst>
              <a:ext uri="{FF2B5EF4-FFF2-40B4-BE49-F238E27FC236}">
                <a16:creationId xmlns:a16="http://schemas.microsoft.com/office/drawing/2014/main" id="{79CC5B89-5B43-4E0E-ADF0-BE5E3BA2235B}"/>
              </a:ext>
            </a:extLst>
          </p:cNvPr>
          <p:cNvSpPr txBox="1"/>
          <p:nvPr/>
        </p:nvSpPr>
        <p:spPr>
          <a:xfrm>
            <a:off x="1073723" y="5979025"/>
            <a:ext cx="3463637" cy="400110"/>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Increased healthcare costs</a:t>
            </a:r>
          </a:p>
        </p:txBody>
      </p:sp>
      <p:sp>
        <p:nvSpPr>
          <p:cNvPr id="15" name="TextBox 14">
            <a:extLst>
              <a:ext uri="{FF2B5EF4-FFF2-40B4-BE49-F238E27FC236}">
                <a16:creationId xmlns:a16="http://schemas.microsoft.com/office/drawing/2014/main" id="{92C871FC-02E5-47C9-9749-52A93E38A046}"/>
              </a:ext>
            </a:extLst>
          </p:cNvPr>
          <p:cNvSpPr txBox="1"/>
          <p:nvPr/>
        </p:nvSpPr>
        <p:spPr>
          <a:xfrm>
            <a:off x="2722417" y="392391"/>
            <a:ext cx="7716983"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INDUSTRIAL POLLUTION </a:t>
            </a:r>
          </a:p>
        </p:txBody>
      </p:sp>
      <p:sp>
        <p:nvSpPr>
          <p:cNvPr id="16" name="TextBox 15">
            <a:extLst>
              <a:ext uri="{FF2B5EF4-FFF2-40B4-BE49-F238E27FC236}">
                <a16:creationId xmlns:a16="http://schemas.microsoft.com/office/drawing/2014/main" id="{B6E031FC-42E5-47D8-B39C-44359F16B0A4}"/>
              </a:ext>
            </a:extLst>
          </p:cNvPr>
          <p:cNvSpPr txBox="1"/>
          <p:nvPr/>
        </p:nvSpPr>
        <p:spPr>
          <a:xfrm>
            <a:off x="675402" y="2258714"/>
            <a:ext cx="3463637" cy="400110"/>
          </a:xfrm>
          <a:prstGeom prst="rect">
            <a:avLst/>
          </a:prstGeom>
          <a:noFill/>
        </p:spPr>
        <p:txBody>
          <a:bodyPr wrap="square" rtlCol="0">
            <a:spAutoFit/>
          </a:bodyPr>
          <a:lstStyle/>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Waterborne diseases</a:t>
            </a:r>
          </a:p>
        </p:txBody>
      </p:sp>
    </p:spTree>
    <p:extLst>
      <p:ext uri="{BB962C8B-B14F-4D97-AF65-F5344CB8AC3E}">
        <p14:creationId xmlns:p14="http://schemas.microsoft.com/office/powerpoint/2010/main" val="3896052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1499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360</Words>
  <Application>Microsoft Office PowerPoint</Application>
  <PresentationFormat>Widescreen</PresentationFormat>
  <Paragraphs>23</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HASIBUL HASAN HASIB</dc:creator>
  <cp:lastModifiedBy>MD. HASIBUL HASAN HASIB</cp:lastModifiedBy>
  <cp:revision>8</cp:revision>
  <dcterms:created xsi:type="dcterms:W3CDTF">2025-12-07T11:58:08Z</dcterms:created>
  <dcterms:modified xsi:type="dcterms:W3CDTF">2025-12-07T13:07:08Z</dcterms:modified>
</cp:coreProperties>
</file>